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Ninety seconds on this slide. The framing sentence is: we need a safety guardrail in front of</a:t>
            </a:r>
          </a:p>
          <a:p>
            <a:r>
              <a:t>every request our assistant handles, and there are two ways to get one -- call a hosted</a:t>
            </a:r>
          </a:p>
          <a:p>
            <a:r>
              <a:t>frontier model, or run a small open-weights model ourselves. This deck prices that choice.</a:t>
            </a:r>
          </a:p>
          <a:p/>
          <a:p>
            <a:r>
              <a:t>Say up front what makes the comparison trustworthy, because it is the thing that makes the rest</a:t>
            </a:r>
          </a:p>
          <a:p>
            <a:r>
              <a:t>land: every configuration is scored on the SAME rows, and every one is re-tuned to the SAME</a:t>
            </a:r>
          </a:p>
          <a:p>
            <a:r>
              <a:t>false-alarm rate before we compare catch rates. Without the second step you can make any guard</a:t>
            </a:r>
          </a:p>
          <a:p>
            <a:r>
              <a:t>look good by letting it cry wolf more often.</a:t>
            </a:r>
          </a:p>
          <a:p/>
          <a:p>
            <a:r>
              <a:t>Do not promise a single recommendation yet. Slide 3 gives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of this slide: establish that this is a sourcing decision with four binding</a:t>
            </a:r>
          </a:p>
          <a:p>
            <a:r>
              <a:t>constraints, not a model-quality question. If someone in the room only cares about accuracy,</a:t>
            </a:r>
          </a:p>
          <a:p>
            <a:r>
              <a:t>this is where you widen it.</a:t>
            </a:r>
          </a:p>
          <a:p/>
          <a:p>
            <a:r>
              <a:t>The residency bullet is the one that tends to change the conversation with legal. Our mortgage</a:t>
            </a:r>
          </a:p>
          <a:p>
            <a:r>
              <a:t>prompts contain borrower detail; sending them to a third party is a GLBA question. That is not</a:t>
            </a:r>
          </a:p>
          <a:p>
            <a:r>
              <a:t>a reason to refuse hosted models, but it is a reason the decision cannot be made by the ML team</a:t>
            </a:r>
          </a:p>
          <a:p>
            <a:r>
              <a:t>alone.</a:t>
            </a:r>
          </a:p>
          <a:p/>
          <a:p>
            <a:r>
              <a:t>If asked why not just trust published guard benchmarks: because they measure general web</a:t>
            </a:r>
          </a:p>
          <a:p>
            <a:r>
              <a:t>safety, and our failure mode is regulated-domain advice where context decides the label. We</a:t>
            </a:r>
          </a:p>
          <a:p>
            <a:r>
              <a:t>have direct evidence in the technical report that guard rankings reorder when the benchmark</a:t>
            </a:r>
          </a:p>
          <a:p>
            <a:r>
              <a:t>changes -- that is the report's title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spend time on. Everything after it is evidence.</a:t>
            </a:r>
          </a:p>
          <a:p/>
          <a:p>
            <a:r>
              <a:t>The three numbers, precisely, for anyone who asks:</a:t>
            </a:r>
          </a:p>
          <a:p>
            <a:r>
              <a:t>  - catch-rate gap +0.066 at a matched 5% false-alarm rate, 95% interval</a:t>
            </a:r>
          </a:p>
          <a:p>
            <a:r>
              <a:t>    [+0.043, +0.089] -- the interval excludes zero, so this is not noise.</a:t>
            </a:r>
          </a:p>
          <a:p>
            <a:r>
              <a:t>  - 77x is median-to-median: about 1,553 ms hosted against</a:t>
            </a:r>
          </a:p>
          <a:p>
            <a:r>
              <a:t>    10-25 ms for a small guard on our own GPU.</a:t>
            </a:r>
          </a:p>
          <a:p>
            <a:r>
              <a:t>  - $0.80 per thousand prompts is billed tokens at public list prices, and it</a:t>
            </a:r>
          </a:p>
          <a:p>
            <a:r>
              <a:t>    excludes the GPU you already own on the self-hosted side. It is an estimate, not an</a:t>
            </a:r>
          </a:p>
          <a:p>
            <a:r>
              <a:t>    invoice.</a:t>
            </a:r>
          </a:p>
          <a:p/>
          <a:p>
            <a:r>
              <a:t>The recommendation is deliberately a split, not a winner. If pushed for one answer: hosted,</a:t>
            </a:r>
          </a:p>
          <a:p>
            <a:r>
              <a:t>because the accuracy difference is the largest single effect anywhere in this study. But the</a:t>
            </a:r>
          </a:p>
          <a:p>
            <a:r>
              <a:t>regulated path is exactly where we cannot take it, which is why the split is the honest answer</a:t>
            </a:r>
          </a:p>
          <a:p>
            <a:r>
              <a:t>rather than a hedge.</a:t>
            </a:r>
          </a:p>
          <a:p/>
          <a:p>
            <a:r>
              <a:t>Third bullet matters for planning. Someone will propose "just fine-tune ours" or "just use a</a:t>
            </a:r>
          </a:p>
          <a:p>
            <a:r>
              <a:t>bigger one". Both were tested. Neither worked. Slides 5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claim: hosted is better, by about ten points of catch rate, and the comparison is fair.</a:t>
            </a:r>
          </a:p>
          <a:p/>
          <a:p>
            <a:r>
              <a:t>Exact figures if challenged: gpt-5.4 (low) .896 against Qwen3-32B</a:t>
            </a:r>
          </a:p>
          <a:p>
            <a:r>
              <a:t>.830, difference +0.066 with 95% interval [+0.043, +0.089].</a:t>
            </a:r>
          </a:p>
          <a:p>
            <a:r>
              <a:t>Against the strongest model in our locked research panel it is +0.109</a:t>
            </a:r>
          </a:p>
          <a:p>
            <a:r>
              <a:t>[+0.077, +0.139]. Both intervals exclude zero. These are paired comparisons on identical</a:t>
            </a:r>
          </a:p>
          <a:p>
            <a:r>
              <a:t>rows, which removes row-difficulty as an explanation.</a:t>
            </a:r>
          </a:p>
          <a:p/>
          <a:p>
            <a:r>
              <a:t>The coarse-confidence point is worth making unprompted, because it is the one place we</a:t>
            </a:r>
          </a:p>
          <a:p>
            <a:r>
              <a:t>disadvantaged the hosted model and it strengthens rather than weakens the conclusion.</a:t>
            </a:r>
          </a:p>
          <a:p/>
          <a:p>
            <a:r>
              <a:t>If asked about the labels: external, expert-annotated, and a stronger labelling tier than</a:t>
            </a:r>
          </a:p>
          <a:p>
            <a:r>
              <a:t>anything we produced ourselves. We did not grade our own homework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changes the recommendation, so do not rush it.</a:t>
            </a:r>
          </a:p>
          <a:p/>
          <a:p>
            <a:r>
              <a:t>Slide 4 said hosted is about ten points better. True -- on prompts nobody anticipated. This</a:t>
            </a:r>
          </a:p>
          <a:p>
            <a:r>
              <a:t>slide says that on sources we can enumerate in a training manifest the ordering inverts, and a</a:t>
            </a:r>
          </a:p>
          <a:p>
            <a:r>
              <a:t>our tuned guards rank BETTER on average: the equal-source mean difference is</a:t>
            </a:r>
          </a:p>
          <a:p>
            <a:r>
              <a:t>+0.083, 95% interval [+0.013, +0.157], which excludes zero. In AP it is</a:t>
            </a:r>
          </a:p>
          <a:p>
            <a:r>
              <a:t>+0.039 [+0.015, +0.072].</a:t>
            </a:r>
          </a:p>
          <a:p/>
          <a:p>
            <a:r>
              <a:t>Be careful with single benchmarks here, and say this before anyone asks. The most eye-catching</a:t>
            </a:r>
          </a:p>
          <a:p>
            <a:r>
              <a:t>cell is a Qwen2.5-1.5B guard at .948 against .741 on</a:t>
            </a:r>
          </a:p>
          <a:p>
            <a:r>
              <a:t>prompt_injections. That cell is the largest of 12, so quoting its own interval</a:t>
            </a:r>
          </a:p>
          <a:p>
            <a:r>
              <a:t>overstates it: 3 of 12 cells clear zero on their own, and</a:t>
            </a:r>
          </a:p>
          <a:p>
            <a:r>
              <a:t>0 survive a familywise correction. The average is the number to defend, not</a:t>
            </a:r>
          </a:p>
          <a:p>
            <a:r>
              <a:t>the best cell.</a:t>
            </a:r>
          </a:p>
          <a:p/>
          <a:p>
            <a:r>
              <a:t>Represented sources here are jailbreak_classification, prompt_injections, toxicchat. Held-out sources are the ones we never</a:t>
            </a:r>
          </a:p>
          <a:p>
            <a:r>
              <a:t>trained on, and there the hosted model leads.</a:t>
            </a:r>
          </a:p>
          <a:p/>
          <a:p>
            <a:r>
              <a:t>Two honest caveats, offered before they are asked. Per-source samples are small (67 to 451</a:t>
            </a:r>
          </a:p>
          <a:p>
            <a:r>
              <a:t>rows), so read the direction rather than the exact margin. And this is retrospective analysis</a:t>
            </a:r>
          </a:p>
          <a:p>
            <a:r>
              <a:t>on a panel we inspected while building the method -- it is a strong signal, not a sealed</a:t>
            </a:r>
          </a:p>
          <a:p>
            <a:r>
              <a:t>confirmatory result.</a:t>
            </a:r>
          </a:p>
          <a:p/>
          <a:p>
            <a:r>
              <a:t>The business consequence: we do not need to beat the frontier everywhere to stop paying per</a:t>
            </a:r>
          </a:p>
          <a:p>
            <a:r>
              <a:t>prompt. We need to know which slice of traffic we can characterise, self-host that, and buy</a:t>
            </a:r>
          </a:p>
          <a:p>
            <a:r>
              <a:t>hosted capacity only for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is the sign split, not the average. If you quote only the mean change</a:t>
            </a:r>
          </a:p>
          <a:p>
            <a:r>
              <a:t>(+0.005) you will mislead the room -- it is a small number sitting on top of</a:t>
            </a:r>
          </a:p>
          <a:p>
            <a:r>
              <a:t>swings from -0.059 to +0.122.</a:t>
            </a:r>
          </a:p>
          <a:p/>
          <a:p>
            <a:r>
              <a:t>Mechanism, in plain terms: fine-tuning on a fixed set of sources specialises the model to</a:t>
            </a:r>
          </a:p>
          <a:p>
            <a:r>
              <a:t>those sources. It buys a lot of accuracy on traffic that looks like the training data and</a:t>
            </a:r>
          </a:p>
          <a:p>
            <a:r>
              <a:t>gives some back on traffic that does not. Our measurements say the trade gets worse as the</a:t>
            </a:r>
          </a:p>
          <a:p>
            <a:r>
              <a:t>starting model gets stronger -- the strongest model we tuned gained the least and lost the</a:t>
            </a:r>
          </a:p>
          <a:p>
            <a:r>
              <a:t>most.</a:t>
            </a:r>
          </a:p>
          <a:p/>
          <a:p>
            <a:r>
              <a:t>This is the central finding of the underlying research, reproduced here on external</a:t>
            </a:r>
          </a:p>
          <a:p>
            <a:r>
              <a:t>expert-annotated data rather than on our own panel, which is a harder test.</a:t>
            </a:r>
          </a:p>
          <a:p/>
          <a:p>
            <a:r>
              <a:t>If asked "did you tune it badly": five independent training runs per model, one recipe, and</a:t>
            </a:r>
          </a:p>
          <a:p>
            <a:r>
              <a:t>the same recipe that produces large gains on in-distribution traffic. The gains are real; they</a:t>
            </a:r>
          </a:p>
          <a:p>
            <a:r>
              <a:t>just do not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claim: scale is not the escape hatch either.</a:t>
            </a:r>
          </a:p>
          <a:p/>
          <a:p>
            <a:r>
              <a:t>Exact numbers: 4B to 32B is +0.062, interval [+0.039, +0.084]. The remaining gap</a:t>
            </a:r>
          </a:p>
          <a:p>
            <a:r>
              <a:t>to hosted from 32B is +0.066, interval [+0.043, +0.089]. So an eightfold</a:t>
            </a:r>
          </a:p>
          <a:p>
            <a:r>
              <a:t>parameter increase bought slightly less than what was still missing.</a:t>
            </a:r>
          </a:p>
          <a:p/>
          <a:p>
            <a:r>
              <a:t>The 8B row is worth flagging honestly: it came out below 4B, but the interval</a:t>
            </a:r>
          </a:p>
          <a:p>
            <a:r>
              <a:t>([-0.050, +0.001]) includes zero, so the correct statement is "no gain", not "worse".</a:t>
            </a:r>
          </a:p>
          <a:p>
            <a:r>
              <a:t>Do not oversell it -- but do use it to make the point that size and guard quality are not</a:t>
            </a:r>
          </a:p>
          <a:p>
            <a:r>
              <a:t>tightly coupled.</a:t>
            </a:r>
          </a:p>
          <a:p/>
          <a:p>
            <a:r>
              <a:t>The build-plan consequence is the part an executive audience should leave with. A 32B guard on</a:t>
            </a:r>
          </a:p>
          <a:p>
            <a:r>
              <a:t>every inbound request is a serving cost close to the thing we were trying to avoid. If we are</a:t>
            </a:r>
          </a:p>
          <a:p>
            <a:r>
              <a:t>paying that, the hosted option deserves another look on cost grounds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evidence slide for the rule on slide 3. One claim: the relationship is smooth and</a:t>
            </a:r>
          </a:p>
          <a:p>
            <a:r>
              <a:t>steep early, so escalation is a dial rather than an architecture decision.</a:t>
            </a:r>
          </a:p>
          <a:p/>
          <a:p>
            <a:r>
              <a:t>Mechanism, and it is why this works at all: the requests chosen for escalation are the ones</a:t>
            </a:r>
          </a:p>
          <a:p>
            <a:r>
              <a:t>nearest the in-house guard's own decision line -- exactly the cases where a second opinion can</a:t>
            </a:r>
          </a:p>
          <a:p>
            <a:r>
              <a:t>change the answer. Escalating confident rows adds cost and no accuracy.</a:t>
            </a:r>
          </a:p>
          <a:p/>
          <a:p>
            <a:r>
              <a:t>Method, if challenged. One global false-alarm budget across the whole curve, so every point is</a:t>
            </a:r>
          </a:p>
          <a:p>
            <a:r>
              <a:t>comparable and we are not buying recall by alarming more. The two guards are fused on RANK, not</a:t>
            </a:r>
          </a:p>
          <a:p>
            <a:r>
              <a:t>raw score, because a logit margin and a self-reported 0-100 risk are not on the same scale. We</a:t>
            </a:r>
          </a:p>
          <a:p>
            <a:r>
              <a:t>tried a per-band threshold first and rejected it: with a small escalated slice there are too few</a:t>
            </a:r>
          </a:p>
          <a:p>
            <a:r>
              <a:t>deferred negatives to place a stable threshold, and the curve went non-monotone for purely</a:t>
            </a:r>
          </a:p>
          <a:p>
            <a:r>
              <a:t>numerical reasons. The figure stops at 50% because past that you have outsourced the majority;</a:t>
            </a:r>
          </a:p>
          <a:p>
            <a:r>
              <a:t>the upper rule shows where full escalation lands.</a:t>
            </a:r>
          </a:p>
          <a:p/>
          <a:p>
            <a:r>
              <a:t>Cost is linear in the escalated share, so a fifth of the traffic is a fifth of the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because "just ensemble the small models" is the most common suggestion in the</a:t>
            </a:r>
          </a:p>
          <a:p>
            <a:r>
              <a:t>room, and it deserves a measured answer rather than an opinion.</a:t>
            </a:r>
          </a:p>
          <a:p/>
          <a:p>
            <a:r>
              <a:t>Row by row. Averaging the five tuning runs of a single guard is free -- the adapters already</a:t>
            </a:r>
          </a:p>
          <a:p>
            <a:r>
              <a:t>exist -- and it reliably adds about +0.026. Do that regardless; it is also how the</a:t>
            </a:r>
          </a:p>
          <a:p>
            <a:r>
              <a:t>tuned 32B recovers what fine-tuning cost it.</a:t>
            </a:r>
          </a:p>
          <a:p/>
          <a:p>
            <a:r>
              <a:t>Averaging all 18 guards equally is WORSE than just using the best one</a:t>
            </a:r>
          </a:p>
          <a:p>
            <a:r>
              <a:t>(.791 against .834). With members that differ this much in</a:t>
            </a:r>
          </a:p>
          <a:p>
            <a:r>
              <a:t>quality, equal weights dilute the strong ones. If someone proposes "ensemble everything", this</a:t>
            </a:r>
          </a:p>
          <a:p>
            <a:r>
              <a:t>is the row to show them.</a:t>
            </a:r>
          </a:p>
          <a:p/>
          <a:p>
            <a:r>
              <a:t>A fitted weighted blend does beat any single guard, reaching .850, about a quarter of</a:t>
            </a:r>
          </a:p>
          <a:p>
            <a:r>
              <a:t>the way to hosted. Two costs are easy to miss: 18 forward passes per request, and</a:t>
            </a:r>
          </a:p>
          <a:p>
            <a:r>
              <a:t>it needs LABELLED in-domain data to fit the weights -- which is usually the thing a team reaching</a:t>
            </a:r>
          </a:p>
          <a:p>
            <a:r>
              <a:t>for an ensemble does not have. We scored it 5-fold out-of-fold so it is not</a:t>
            </a:r>
          </a:p>
          <a:p>
            <a:r>
              <a:t>grading its own homework, and its fitted weights include a negative coefficient on one guard,</a:t>
            </a:r>
          </a:p>
          <a:p>
            <a:r>
              <a:t>which means it is exploiting error structure that may not survive a change of traffic.</a:t>
            </a:r>
          </a:p>
          <a:p/>
          <a:p>
            <a:r>
              <a:t>The last row is the point: escalating the uncertain fifth reaches 84% against the</a:t>
            </a:r>
          </a:p>
          <a:p>
            <a:r>
              <a:t>blend's 85% -- it does NOT beat the blend, it very nearly matches it for a</a:t>
            </a:r>
          </a:p>
          <a:p>
            <a:r>
              <a:t>sixteenth of the compute and no labelled data. If challenged on this, the honest line is that</a:t>
            </a:r>
          </a:p>
          <a:p>
            <a:r>
              <a:t>the blend is still the in-house ceiling; escalation is the cheaper route to almost the same place.</a:t>
            </a:r>
          </a:p>
          <a:p>
            <a:r>
              <a:t>An earlier version of this slide printed 87% here and claimed escalation beat the blend, which</a:t>
            </a:r>
          </a:p>
          <a:p>
            <a:r>
              <a:t>reversed the ordering. So ensembling is not the route -- unless lane 1 applies and nothing</a:t>
            </a:r>
          </a:p>
          <a:p>
            <a:r>
              <a:t>may leave, in which case it is the in-house ceiling and worth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down the table, then land on the two callouts, which are the non-obvious costs.</a:t>
            </a:r>
          </a:p>
          <a:p/>
          <a:p>
            <a:r>
              <a:t>Latency: 1,553 ms median measured under load at high concurrency, so treat it as</a:t>
            </a:r>
          </a:p>
          <a:p>
            <a:r>
              <a:t>an upper bound for a single request; the small-model figure is a batched GPU measurement. Even</a:t>
            </a:r>
          </a:p>
          <a:p>
            <a:r>
              <a:t>allowing for that, the ratio is roughly 77x.</a:t>
            </a:r>
          </a:p>
          <a:p/>
          <a:p>
            <a:r>
              <a:t>Cost: billed tokens at public list prices. It excludes the amortised GPU on the self-hosted</a:t>
            </a:r>
          </a:p>
          <a:p>
            <a:r>
              <a:t>side, which is exactly why the comparison is about where to spend rather than a like-for-like</a:t>
            </a:r>
          </a:p>
          <a:p>
            <a:r>
              <a:t>price.</a:t>
            </a:r>
          </a:p>
          <a:p/>
          <a:p>
            <a:r>
              <a:t>The refusal finding is the one to say slowly. We saw a set of prompts refused by the provider's</a:t>
            </a:r>
          </a:p>
          <a:p>
            <a:r>
              <a:t>own input filter before the model ever saw them, and the refusals were not reproducible --</a:t>
            </a:r>
          </a:p>
          <a:p>
            <a:r>
              <a:t>different runs, different outcomes, no row refused every time. For a control that has to be</a:t>
            </a:r>
          </a:p>
          <a:p>
            <a:r>
              <a:t>auditable, "sometimes declines, for reasons we cannot inspect or appeal" is a compliance</a:t>
            </a:r>
          </a:p>
          <a:p>
            <a:r>
              <a:t>property, not a technical footnote.</a:t>
            </a:r>
          </a:p>
          <a:p/>
          <a:p>
            <a:r>
              <a:t>Close on the scoping sentence. The answer is a split, and this slide is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did not exist in the plan. It fell out of the scale experiment and is probably the</a:t>
            </a:r>
          </a:p>
          <a:p>
            <a:r>
              <a:t>most commercially useful thing in the deck.</a:t>
            </a:r>
          </a:p>
          <a:p/>
          <a:p>
            <a:r>
              <a:t>The mechanism: fine-tuning specialises. It buys accuracy on the sources you trained on and</a:t>
            </a:r>
          </a:p>
          <a:p>
            <a:r>
              <a:t>withdraws it from sources you did not. A bigger base model arrives with broad competence</a:t>
            </a:r>
          </a:p>
          <a:p>
            <a:r>
              <a:t>already and does not have to trade any of it away. For a guardrail, the traffic you did not</a:t>
            </a:r>
          </a:p>
          <a:p>
            <a:r>
              <a:t>anticipate is precisely the traffic that matters, so a technique that trades away</a:t>
            </a:r>
          </a:p>
          <a:p>
            <a:r>
              <a:t>unfamiliar-traffic accuracy is badly matched to the job.</a:t>
            </a:r>
          </a:p>
          <a:p/>
          <a:p>
            <a:r>
              <a:t>Numbers are in the technical report; the honest caveat is on the slide. Comparing a 32B untuned</a:t>
            </a:r>
          </a:p>
          <a:p>
            <a:r>
              <a:t>model to a tuned 4B is a deployment-choice comparison, not a controlled one -- the 32B costs</a:t>
            </a:r>
          </a:p>
          <a:p>
            <a:r>
              <a:t>much more to serve. What we can say is that the tuning route did not close the vendor gap and</a:t>
            </a:r>
          </a:p>
          <a:p>
            <a:r>
              <a:t>made held-out accuracy worse on most models, while the size route at least moved in the right</a:t>
            </a:r>
          </a:p>
          <a:p>
            <a:r>
              <a:t>direction on both regimes.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rush this slide, and do not apologise through it. Naming the limits is what makes the</a:t>
            </a:r>
          </a:p>
          <a:p>
            <a:r>
              <a:t>recommendation on slide 3 credible.</a:t>
            </a:r>
          </a:p>
          <a:p/>
          <a:p>
            <a:r>
              <a:t>The first bullet is the most important and the most self-undermining, which is why it belongs</a:t>
            </a:r>
          </a:p>
          <a:p>
            <a:r>
              <a:t>here: the underlying research finding is that guard rankings depend on the benchmark. We are</a:t>
            </a:r>
          </a:p>
          <a:p>
            <a:r>
              <a:t>handing you a recommendation derived from one benchmark. It is external and expert-annotated,</a:t>
            </a:r>
          </a:p>
          <a:p>
            <a:r>
              <a:t>which is the best tier available to us, but a different instrument could reorder the middle of</a:t>
            </a:r>
          </a:p>
          <a:p>
            <a:r>
              <a:t>the table. It is unlikely to reverse a ten-point gap.</a:t>
            </a:r>
          </a:p>
          <a:p/>
          <a:p>
            <a:r>
              <a:t>The pinning point matters more than it sounds. A hosted model can change under a fixed</a:t>
            </a:r>
          </a:p>
          <a:p>
            <a:r>
              <a:t>deployment; that is a change-control problem for a compliance control. Our own checkpoints are</a:t>
            </a:r>
          </a:p>
          <a:p>
            <a:r>
              <a:t>pinned to a content hash and will reproduce in a year.</a:t>
            </a:r>
          </a:p>
          <a:p/>
          <a:p>
            <a:r>
              <a:t>Close on the final callout: the thing worth funding is the measuring instrument for our actual</a:t>
            </a:r>
          </a:p>
          <a:p>
            <a:r>
              <a:t>domain, not more guard comparisons on general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The first two items need no budget. The third frees capacity. The fourth is the</a:t>
            </a:r>
          </a:p>
          <a:p>
            <a:r>
              <a:t>only one that asks for money.</a:t>
            </a:r>
          </a:p>
          <a:p/>
          <a:p>
            <a:r>
              <a:t>Push for a decision on the right-hand callout before the meeting ends -- whether prompts</a:t>
            </a:r>
          </a:p>
          <a:p>
            <a:r>
              <a:t>containing borrower information may go to a third-party API. Everything about the split</a:t>
            </a:r>
          </a:p>
          <a:p>
            <a:r>
              <a:t>architecture depends on that answer, and it is not ours to make.</a:t>
            </a:r>
          </a:p>
          <a:p/>
          <a:p>
            <a:r>
              <a:t>The refusal item is the one to insist on regardless of the rest. Today, when the provider</a:t>
            </a:r>
          </a:p>
          <a:p>
            <a:r>
              <a:t>declines to evaluate a prompt, our pipeline records no verdict. That is indistinguishable from</a:t>
            </a:r>
          </a:p>
          <a:p>
            <a:r>
              <a:t>a pass unless we say otherwise, and the prompts most likely to be refused are the ones most</a:t>
            </a:r>
          </a:p>
          <a:p>
            <a:r>
              <a:t>likely to be genuinely unsafe.</a:t>
            </a:r>
          </a:p>
          <a:p/>
          <a:p>
            <a:r>
              <a:t>If asked for the whole thing in one sentence: hosted is about ten points better at catching</a:t>
            </a:r>
          </a:p>
          <a:p>
            <a:r>
              <a:t>unsafe prompts and we should use it wherever the data is allowed to travel, we should stop</a:t>
            </a:r>
          </a:p>
          <a:p>
            <a:r>
              <a:t>expecting to close that gap ourselves, and the thing worth building is a benchmark for our own</a:t>
            </a:r>
          </a:p>
          <a:p>
            <a:r>
              <a:t>domain rather than another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0" y="1188720"/>
            <a:ext cx="4480560" cy="4480560"/>
          </a:xfrm>
          <a:prstGeom prst="ellipse">
            <a:avLst/>
          </a:prstGeom>
          <a:noFill/>
          <a:ln w="15875">
            <a:solidFill>
              <a:srgbClr val="15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0" y="1783080"/>
            <a:ext cx="3291840" cy="3291840"/>
          </a:xfrm>
          <a:prstGeom prst="ellipse">
            <a:avLst/>
          </a:prstGeom>
          <a:noFill/>
          <a:ln w="15875">
            <a:solidFill>
              <a:srgbClr val="15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2377440"/>
            <a:ext cx="2103120" cy="2103120"/>
          </a:xfrm>
          <a:prstGeom prst="ellipse">
            <a:avLst/>
          </a:prstGeom>
          <a:noFill/>
          <a:ln w="12700">
            <a:solidFill>
              <a:srgbClr val="3A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04504" y="3300984"/>
            <a:ext cx="256032" cy="256032"/>
          </a:xfrm>
          <a:prstGeom prst="ellipse">
            <a:avLst/>
          </a:prstGeom>
          <a:solidFill>
            <a:srgbClr val="E0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80">
                <a:solidFill>
                  <a:srgbClr val="E0564F"/>
                </a:solidFill>
                <a:latin typeface="Calibri"/>
              </a:rPr>
              <a:t>GUARDRAIL SOURCING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7863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4000" b="1" i="0">
                <a:solidFill>
                  <a:srgbClr val="EEF2F8"/>
                </a:solidFill>
                <a:latin typeface="Cambria"/>
              </a:rPr>
              <a:t>Do we buy a hosted guardrail,</a:t>
            </a:r>
            <a:br/>
            <a:r>
              <a:rPr sz="4000" b="1" i="0">
                <a:solidFill>
                  <a:srgbClr val="EEF2F8"/>
                </a:solidFill>
                <a:latin typeface="Cambria"/>
              </a:rPr>
              <a:t>or run our own?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24528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9DAFC7"/>
                </a:solidFill>
                <a:latin typeface="Calibri"/>
              </a:rPr>
              <a:t>Measured on 2,275 expert-annotated finance, healthcare and law prompts. Twenty-four guard configurations, identical rows, identical false-alarm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04688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EF2F8"/>
                </a:solidFill>
                <a:latin typeface="Calibri"/>
              </a:rPr>
              <a:t>Reza Rahimi, PhD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79008"/>
            <a:ext cx="7040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B7F9F"/>
                </a:solidFill>
                <a:latin typeface="Calibri"/>
              </a:rPr>
              <a:t>Full method, intervals and limitations: “Benchmark Gains Do Not Guarantee Transfer: Fine-Tuning Small Language Model Safety Guards” — the technical report and research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 guardrail runs on every request, so its cost is a recurring line, not a one-off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Which means accuracy, latency, unit cost and data residency all bind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95144"/>
            <a:ext cx="513572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EEF2F8"/>
                </a:solidFill>
                <a:latin typeface="Calibri"/>
              </a:rPr>
              <a:t>Accuracy. </a:t>
            </a:r>
            <a:r>
              <a:rPr sz="1450" b="0" i="0">
                <a:solidFill>
                  <a:srgbClr val="9DAFC7"/>
                </a:solidFill>
                <a:latin typeface="Calibri"/>
              </a:rPr>
              <a:t>A missed unsafe prompt is the incident. A false alarm is a blocked customer. Both are real costs, so the guard must be judged at a fixed alarm rate.</a:t>
            </a:r>
          </a:p>
          <a:p>
            <a:pPr algn="l">
              <a:spcAft>
                <a:spcPts val="1200"/>
              </a:spcAft>
            </a:pPr>
            <a:r>
              <a:rPr sz="14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EEF2F8"/>
                </a:solidFill>
                <a:latin typeface="Calibri"/>
              </a:rPr>
              <a:t>Latency. </a:t>
            </a:r>
            <a:r>
              <a:rPr sz="1450" b="0" i="0">
                <a:solidFill>
                  <a:srgbClr val="9DAFC7"/>
                </a:solidFill>
                <a:latin typeface="Calibri"/>
              </a:rPr>
              <a:t>It sits in the request path. Whatever it adds, every user pays on every turn.</a:t>
            </a:r>
          </a:p>
          <a:p>
            <a:pPr algn="l">
              <a:spcAft>
                <a:spcPts val="1200"/>
              </a:spcAft>
            </a:pPr>
            <a:r>
              <a:rPr sz="14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EEF2F8"/>
                </a:solidFill>
                <a:latin typeface="Calibri"/>
              </a:rPr>
              <a:t>Unit cost. </a:t>
            </a:r>
            <a:r>
              <a:rPr sz="1450" b="0" i="0">
                <a:solidFill>
                  <a:srgbClr val="9DAFC7"/>
                </a:solidFill>
                <a:latin typeface="Calibri"/>
              </a:rPr>
              <a:t>Priced per prompt, it scales with traffic, not with headcount.</a:t>
            </a:r>
          </a:p>
          <a:p>
            <a:pPr algn="l">
              <a:spcAft>
                <a:spcPts val="1200"/>
              </a:spcAft>
            </a:pPr>
            <a:r>
              <a:rPr sz="14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EEF2F8"/>
                </a:solidFill>
                <a:latin typeface="Calibri"/>
              </a:rPr>
              <a:t>Residency. </a:t>
            </a:r>
            <a:r>
              <a:rPr sz="1450" b="0" i="0">
                <a:solidFill>
                  <a:srgbClr val="9DAFC7"/>
                </a:solidFill>
                <a:latin typeface="Calibri"/>
              </a:rPr>
              <a:t>In mortgage the prompt itself contains borrower information, so where it travels is a compliance question before it is an engineering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295144"/>
            <a:ext cx="5135727" cy="164592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6471" y="2441448"/>
            <a:ext cx="4660239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BFD8F5"/>
                </a:solidFill>
                <a:latin typeface="Calibri"/>
              </a:rPr>
              <a:t>WHY WE COULD NOT JUST READ THE VENDOR BENCHMARKS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Public guard leaderboards score general web-safety prompts. Our exposure is regulated-domain advice, where the same words are safe or unsafe depending on who is asking and what was promised.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4105656"/>
            <a:ext cx="5135727" cy="164592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6471" y="4251960"/>
            <a:ext cx="4660239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8FD3B6"/>
                </a:solidFill>
                <a:latin typeface="Calibri"/>
              </a:rPr>
              <a:t>SO WE MEASURED ON OUR OWN TERMS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Expert-annotated finance, healthcare and law prompts; every guard scored on identical rows; catch rates compared only at a matched 5% false-alarm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Run the small guard in-house on every request. Send out only the ones it is unsure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One rule, three lanes. The question is not in-house OR outsource — it is which requests go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76856"/>
            <a:ext cx="10637215" cy="56692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276856"/>
            <a:ext cx="155229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3582" y="2276856"/>
            <a:ext cx="33606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Which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0235" y="2276856"/>
            <a:ext cx="19777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4050" y="2276856"/>
            <a:ext cx="27223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43784"/>
            <a:ext cx="10637215" cy="566928"/>
          </a:xfrm>
          <a:prstGeom prst="rect">
            <a:avLst/>
          </a:prstGeom>
          <a:solidFill>
            <a:srgbClr val="0C1424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43784"/>
            <a:ext cx="155229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EEF2F8"/>
                </a:solidFill>
                <a:latin typeface="Calibri"/>
              </a:rPr>
              <a:t>1  Regulated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3582" y="2843784"/>
            <a:ext cx="33606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prompt contains borrower or patient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0235" y="2843784"/>
            <a:ext cx="19777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8FD3B6"/>
                </a:solidFill>
                <a:latin typeface="Calibri"/>
              </a:rPr>
              <a:t>in-house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4050" y="2843784"/>
            <a:ext cx="27223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cannot lawfully leave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10712"/>
            <a:ext cx="10637215" cy="56692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410712"/>
            <a:ext cx="155229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EEF2F8"/>
                </a:solidFill>
                <a:latin typeface="Calibri"/>
              </a:rPr>
              <a:t>2  Uncertain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3582" y="3410712"/>
            <a:ext cx="33606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in-house guard is near its decision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0235" y="3410712"/>
            <a:ext cx="19777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E0564F"/>
                </a:solidFill>
                <a:latin typeface="Calibri"/>
              </a:rPr>
              <a:t>escalate to hosted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4050" y="3410712"/>
            <a:ext cx="27223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this is where the accuracy is won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77640"/>
            <a:ext cx="10637215" cy="566928"/>
          </a:xfrm>
          <a:prstGeom prst="rect">
            <a:avLst/>
          </a:prstGeom>
          <a:solidFill>
            <a:srgbClr val="0C1424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3977640"/>
            <a:ext cx="155229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EEF2F8"/>
                </a:solidFill>
                <a:latin typeface="Calibri"/>
              </a:rPr>
              <a:t>3  Clear-cut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3582" y="3977640"/>
            <a:ext cx="33606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in-house guard is confident either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0235" y="3977640"/>
            <a:ext cx="19777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8FD3B6"/>
                </a:solidFill>
                <a:latin typeface="Calibri"/>
              </a:rPr>
              <a:t>in-house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4050" y="3977640"/>
            <a:ext cx="27223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hosted would not change the answer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727448"/>
            <a:ext cx="3362858" cy="1371600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" y="4873752"/>
            <a:ext cx="288737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0564F"/>
                </a:solidFill>
                <a:latin typeface="Cambria"/>
              </a:rPr>
              <a:t>20%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of requests escalated — lane 2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4418" y="4727448"/>
            <a:ext cx="3362858" cy="137160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2162" y="4873752"/>
            <a:ext cx="288737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8FD3B6"/>
                </a:solidFill>
                <a:latin typeface="Cambria"/>
              </a:rPr>
              <a:t>51%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of the accuracy gap to hosted, closed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1596" y="4727448"/>
            <a:ext cx="3362858" cy="137160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9340" y="4873752"/>
            <a:ext cx="288737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FD8F5"/>
                </a:solidFill>
                <a:latin typeface="Cambria"/>
              </a:rPr>
              <a:t>80%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of prompts never leave our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WHAT HOSTED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At the same false-alarm rate, the hosted model catches about half of the unsafe prompts our own guards 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Catch rate on expert-annotated finance / healthcare / law prompts, all at a 5% false-alarm budget</a:t>
            </a:r>
          </a:p>
        </p:txBody>
      </p:sp>
      <p:pic>
        <p:nvPicPr>
          <p:cNvPr id="7" name="Picture 6" descr="exec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85416"/>
            <a:ext cx="5013198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0" y="2258568"/>
            <a:ext cx="3001975" cy="17007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50224" y="2404872"/>
            <a:ext cx="2526487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BFD8F5"/>
                </a:solidFill>
                <a:latin typeface="Calibri"/>
              </a:rPr>
              <a:t>READ THIS AS COARSELY RESOLVED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The hosted model reports only a coarse 0-100 confidence, which limits how finely we can rank its answers. That bounds precision without fixing a direction — a finer score could order a tied block either way — so do not read the gap as conservative.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4123944"/>
            <a:ext cx="3001975" cy="17007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0224" y="4270248"/>
            <a:ext cx="2526487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E3C285"/>
                </a:solidFill>
                <a:latin typeface="Calibri"/>
              </a:rPr>
              <a:t>WHY 'AT THE SAME FALSE-ALARM RATE' MATTERS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Any guard can raise its catch rate by alarming more often. Holding the alarm rate fixed at 5% is what makes every bar here comparable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BUT BETTER AT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On traffic we can describe in advance, our own guard already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Same five corpora, same 5% false-alarm budget, split by whether the source was in our training manifest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135727" cy="148132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2478024"/>
            <a:ext cx="46602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FD8F5"/>
                </a:solidFill>
                <a:latin typeface="Cambria"/>
              </a:rPr>
              <a:t>+0.083 catch rate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Averaged across every source we can describe in advance, our tuned guards rank BETTER than the hosted model at the same alarm budget. 95% interval [+0.013, +0.157] -- it excludes zero.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331720"/>
            <a:ext cx="5135727" cy="148132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6471" y="2478024"/>
            <a:ext cx="46602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0564F"/>
                </a:solidFill>
                <a:latin typeface="Cambria"/>
              </a:rPr>
              <a:t>.967  vs  .917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The same comparison on a source we did NOT train on. Hosted leads, and our best guard there is an UNTUNED base -- tuning is what costs us the position.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95928"/>
            <a:ext cx="10637215" cy="109728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4142232"/>
            <a:ext cx="10161727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8FD3B6"/>
                </a:solidFill>
                <a:latin typeface="Calibri"/>
              </a:rPr>
              <a:t>THE SOURCING RULE THIS IMPLIES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The gap is not a ceiling a bigger local model would break through -- it is the price of the regime. So the question is not “can a small guard match the frontier” but “what share of our traffic can we describe in a training manifest”. Self-host that share and escalate the rest by how near the local guard sits to its own decision line -- the router we measured. Routing on UNFAMILIARITY instead is the more attractive idea and we did not test it: treat it as the next experiment, not as the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ROUTE ONE: FINE-TUNE 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Fine-tuning did not close the gap, and on unfamiliar traffic it usually made things worse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Change in catch rate after fine-tuning, across 6 models · 5 training runs each</a:t>
            </a:r>
          </a:p>
        </p:txBody>
      </p:sp>
      <p:pic>
        <p:nvPicPr>
          <p:cNvPr id="7" name="Picture 6" descr="exec_t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85416"/>
            <a:ext cx="6953290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03919" y="2258568"/>
            <a:ext cx="2910536" cy="1828800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41663" y="2404872"/>
            <a:ext cx="2435048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F08A7F"/>
                </a:solidFill>
                <a:latin typeface="Calibri"/>
              </a:rPr>
              <a:t>THE PATTERN BEHIND IT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Fine-tuning teaches a model the traffic you trained it on and costs it accuracy on traffic you did not. Read the chart downward: the blue gain shrinks and the red cost grows as the starting model gets stronger.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19" y="4251960"/>
            <a:ext cx="2910536" cy="157276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3" y="4398264"/>
            <a:ext cx="24350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E3C285"/>
                </a:solidFill>
                <a:latin typeface="Calibri"/>
              </a:rPr>
              <a:t>PLANNING CONSEQUENCE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Budgeting a tuning project to close a vendor gap is not supported here. The best tuned result anywhere (81%) still loses to hosted (90%).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ROUTE TWO: BUY A BIGGER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Eight times the parameters bought less than the gap that was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Catch rate against model size, same family, same prompt, same rows</a:t>
            </a:r>
          </a:p>
        </p:txBody>
      </p:sp>
      <p:pic>
        <p:nvPicPr>
          <p:cNvPr id="7" name="Picture 6" descr="exec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8840"/>
            <a:ext cx="5864232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8200" y="2276856"/>
            <a:ext cx="295625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8× the parameters bought +6 pts.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Going from 4B to 32B.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The gap left is +7 pts.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Slightly larger than everything that scaling bought.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4B to 8B bought nothing.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Size does not buy guard accuracy smoothly.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074920"/>
            <a:ext cx="10637215" cy="896112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5221224"/>
            <a:ext cx="101617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F08A7F"/>
                </a:solidFill>
                <a:latin typeface="Calibri"/>
              </a:rPr>
              <a:t>WHAT THIS IMPLIES FOR A BUILD PLAN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Over the range we measured, size does not close the gap — and 32B is already past the point where a guard is cheap to run on every request, which was the reason to self-host in the first place. Three points, one of them non-monotonic, identify no scaling law, so we do not extrapolate a size that would close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WHY THE RULE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You do not have to choose. Escalating the uncertain fifth buys half the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Recall against the share of requests sent out, at a fixed 5% false-alarm budget</a:t>
            </a:r>
          </a:p>
        </p:txBody>
      </p:sp>
      <p:pic>
        <p:nvPicPr>
          <p:cNvPr id="7" name="Picture 6" descr="exec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67128"/>
            <a:ext cx="5610201" cy="3108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2240280"/>
            <a:ext cx="2773375" cy="157276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78824" y="2386584"/>
            <a:ext cx="22978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BFD8F5"/>
                </a:solidFill>
                <a:latin typeface="Calibri"/>
              </a:rPr>
              <a:t>THE CURVE IS STEEP EARLY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The first requests escalated are the ones the in-house guard is least sure about, so they carry the most information. Value per escalated request falls as the share rises — which is why a fifth buys half.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3977640"/>
            <a:ext cx="2773375" cy="137160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78824" y="4123944"/>
            <a:ext cx="2297887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8FD3B6"/>
                </a:solidFill>
                <a:latin typeface="Calibri"/>
              </a:rPr>
              <a:t>IT IS A DIAL, NOT A SWITCH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Legal sets the ceiling on what may leave; budget sets the rest. Pick a point on the curve — the architecture does not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58968"/>
            <a:ext cx="10637215" cy="84124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5605272"/>
            <a:ext cx="101617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E3C285"/>
                </a:solidFill>
                <a:latin typeface="Calibri"/>
              </a:rPr>
              <a:t>WHAT THIS COSTS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At a 20% escalated share: about $0.16 per thousand requests instead of $0.80, and the 1,553 ms hosted round-trip lands on one request in five rather than on all of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IF NOTHING MAY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Combining our own guards helps a little. It does not reach the hosted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Every option below priced against our strongest single in-house guard (83%), with what each costs per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76856"/>
            <a:ext cx="10637215" cy="51206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276856"/>
            <a:ext cx="336062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1909" y="2276856"/>
            <a:ext cx="155229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Catch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0235" y="2276856"/>
            <a:ext cx="25096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Cost per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5910" y="2276856"/>
            <a:ext cx="219052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10637215" cy="512064"/>
          </a:xfrm>
          <a:prstGeom prst="rect">
            <a:avLst/>
          </a:prstGeom>
          <a:solidFill>
            <a:srgbClr val="0C1424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788920"/>
            <a:ext cx="336062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9DAFC7"/>
                </a:solidFill>
                <a:latin typeface="Calibri"/>
              </a:rPr>
              <a:t>Best single in-house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909" y="2788920"/>
            <a:ext cx="155229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83%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0235" y="2788920"/>
            <a:ext cx="25096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1 model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5910" y="2788920"/>
            <a:ext cx="219052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6B7F9F"/>
                </a:solidFill>
                <a:latin typeface="Calibri"/>
              </a:rPr>
              <a:t>the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0984"/>
            <a:ext cx="10637215" cy="51206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300984"/>
            <a:ext cx="336062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9DAFC7"/>
                </a:solidFill>
                <a:latin typeface="Calibri"/>
              </a:rPr>
              <a:t>Average the 5 tuning runs of one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909" y="3300984"/>
            <a:ext cx="155229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+0.026 on 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0235" y="3300984"/>
            <a:ext cx="25096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already paid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5910" y="3300984"/>
            <a:ext cx="219052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8FD3B6"/>
                </a:solidFill>
                <a:latin typeface="Calibri"/>
              </a:rPr>
              <a:t>worth doing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813048"/>
            <a:ext cx="10637215" cy="512064"/>
          </a:xfrm>
          <a:prstGeom prst="rect">
            <a:avLst/>
          </a:prstGeom>
          <a:solidFill>
            <a:srgbClr val="0C1424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3813048"/>
            <a:ext cx="336062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9DAFC7"/>
                </a:solidFill>
                <a:latin typeface="Calibri"/>
              </a:rPr>
              <a:t>Average all 18 guards equally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909" y="3813048"/>
            <a:ext cx="155229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79%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0235" y="3813048"/>
            <a:ext cx="25096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18 model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10" y="3813048"/>
            <a:ext cx="219052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E0564F"/>
                </a:solidFill>
                <a:latin typeface="Calibri"/>
              </a:rPr>
              <a:t>worse than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325112"/>
            <a:ext cx="10637215" cy="51206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4325112"/>
            <a:ext cx="336062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9DAFC7"/>
                </a:solidFill>
                <a:latin typeface="Calibri"/>
              </a:rPr>
              <a:t>Weighted blend of all 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909" y="4325112"/>
            <a:ext cx="155229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0235" y="4325112"/>
            <a:ext cx="25096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18 calls + labelled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5910" y="4325112"/>
            <a:ext cx="219052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BFD8F5"/>
                </a:solidFill>
                <a:latin typeface="Calibri"/>
              </a:rPr>
              <a:t>best in-house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837176"/>
            <a:ext cx="10637215" cy="512064"/>
          </a:xfrm>
          <a:prstGeom prst="rect">
            <a:avLst/>
          </a:prstGeom>
          <a:solidFill>
            <a:srgbClr val="0C1424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" y="4837176"/>
            <a:ext cx="336062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9DAFC7"/>
                </a:solidFill>
                <a:latin typeface="Calibri"/>
              </a:rPr>
              <a:t>Escalate the uncertain 20% instead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1909" y="4837176"/>
            <a:ext cx="155229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84%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0235" y="4837176"/>
            <a:ext cx="25096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1.2 model calls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5910" y="4837176"/>
            <a:ext cx="219052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BFD8F5"/>
                </a:solidFill>
                <a:latin typeface="Calibri"/>
              </a:rPr>
              <a:t>nearly matches, far cheaper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85816"/>
            <a:ext cx="10637215" cy="91440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" y="5532120"/>
            <a:ext cx="1016172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E3C285"/>
                </a:solidFill>
                <a:latin typeface="Calibri"/>
              </a:rPr>
              <a:t>THE FINDING THAT MATTERS FOR PLANNING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Escalating one request in five gets within about a point of the 18-model blend (84% vs 85%) at a fifteenth of the compute and with no labelled data to collect. Ensembling is the right answer only when nothing may leave at all; then it is the in-house ceiling, worth about a quarter of the gap.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WHAT HOSTED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The accuracy is real. So is the bill, the latency, and the loss of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Four costs, three of which do not appear on an invoice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112867" cy="42062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331720"/>
            <a:ext cx="199362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917" y="2331720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Self-hosted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6519" y="2331720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 i="0">
                <a:solidFill>
                  <a:srgbClr val="BFD8F5"/>
                </a:solidFill>
                <a:latin typeface="Calibri"/>
              </a:rPr>
              <a:t>Hosted frontier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52344"/>
            <a:ext cx="5112867" cy="420624"/>
          </a:xfrm>
          <a:prstGeom prst="rect">
            <a:avLst/>
          </a:prstGeom>
          <a:solidFill>
            <a:srgbClr val="0C1424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752344"/>
            <a:ext cx="199362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9DAFC7"/>
                </a:solidFill>
                <a:latin typeface="Calibri"/>
              </a:rPr>
              <a:t>Median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917" y="2752344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10–25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6519" y="2752344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~1,553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72968"/>
            <a:ext cx="5112867" cy="42062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172968"/>
            <a:ext cx="199362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9DAFC7"/>
                </a:solidFill>
                <a:latin typeface="Calibri"/>
              </a:rPr>
              <a:t>Cost per 1k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917" y="3172968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GPU you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6519" y="3172968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$0.80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593592"/>
            <a:ext cx="5112867" cy="420624"/>
          </a:xfrm>
          <a:prstGeom prst="rect">
            <a:avLst/>
          </a:prstGeom>
          <a:solidFill>
            <a:srgbClr val="0C1424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93592"/>
            <a:ext cx="199362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9DAFC7"/>
                </a:solidFill>
                <a:latin typeface="Calibri"/>
              </a:rPr>
              <a:t>Prompt leaves our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917" y="3593592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6519" y="3593592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014216"/>
            <a:ext cx="5112867" cy="42062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014216"/>
            <a:ext cx="199362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9DAFC7"/>
                </a:solidFill>
                <a:latin typeface="Calibri"/>
              </a:rPr>
              <a:t>We choose the alarm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917" y="4014216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exactly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6519" y="4014216"/>
            <a:ext cx="11755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9DAFC7"/>
                </a:solidFill>
                <a:latin typeface="Calibri"/>
              </a:rPr>
              <a:t>approximately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1587" y="2331720"/>
            <a:ext cx="5112867" cy="148132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9331" y="2478024"/>
            <a:ext cx="46373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F08A7F"/>
                </a:solidFill>
                <a:latin typeface="Calibri"/>
              </a:rPr>
              <a:t>THE ONE WE DID NOT EXPECT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The provider refused to evaluate a subset of prompts outright, and did so inconsistently — the same prompt was refused on some runs and not others. A guardrail that intermittently declines to answer is itself an audit finding.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1587" y="3941064"/>
            <a:ext cx="5112867" cy="137160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9331" y="4087368"/>
            <a:ext cx="4637379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BFD8F5"/>
                </a:solidFill>
                <a:latin typeface="Calibri"/>
              </a:rPr>
              <a:t>CONTROL OVER THE ALARM RATE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Our own model exposes a continuous score, so we can set the false-alarm budget precisely. The hosted model reports a coarse 0–100 value, so we can only land near a target.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404104"/>
            <a:ext cx="10637215" cy="96926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" y="5550408"/>
            <a:ext cx="1016172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8FD3B6"/>
                </a:solidFill>
                <a:latin typeface="Calibri"/>
              </a:rPr>
              <a:t>NOT A REASON TO REFUSE HOSTED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It is a reason to scope it: hosted on traffic where the prompt may leave and latency is not critical; self-hosted on the regulated, latency-sensitive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THE USEFUL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If we must self-host, a bigger untuned model beats a tuned small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Because tuning's cost lands on exactly the traffic a guardrail exists to catch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95144"/>
            <a:ext cx="5112867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EEF2F8"/>
                </a:solidFill>
                <a:latin typeface="Calibri"/>
              </a:rPr>
              <a:t>Tuning a small model. </a:t>
            </a:r>
            <a:r>
              <a:rPr sz="1450" b="0" i="0">
                <a:solidFill>
                  <a:srgbClr val="9DAFC7"/>
                </a:solidFill>
                <a:latin typeface="Calibri"/>
              </a:rPr>
              <a:t>Large gain on familiar traffic, and it gives back accuracy on unfamiliar traffic — which is where novel attacks arrive.</a:t>
            </a:r>
          </a:p>
          <a:p>
            <a:pPr algn="l">
              <a:spcAft>
                <a:spcPts val="1200"/>
              </a:spcAft>
            </a:pPr>
            <a:r>
              <a:rPr sz="14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EEF2F8"/>
                </a:solidFill>
                <a:latin typeface="Calibri"/>
              </a:rPr>
              <a:t>A bigger untuned model. </a:t>
            </a:r>
            <a:r>
              <a:rPr sz="1450" b="0" i="0">
                <a:solidFill>
                  <a:srgbClr val="9DAFC7"/>
                </a:solidFill>
                <a:latin typeface="Calibri"/>
              </a:rPr>
              <a:t>Recovers most of that same gain on familiar traffic, and holds its accuracy on unfamiliar traffic.</a:t>
            </a:r>
          </a:p>
          <a:p>
            <a:pPr algn="l">
              <a:spcAft>
                <a:spcPts val="1200"/>
              </a:spcAft>
            </a:pPr>
            <a:r>
              <a:rPr sz="14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EEF2F8"/>
                </a:solidFill>
                <a:latin typeface="Calibri"/>
              </a:rPr>
              <a:t>So for a guardrail specifically. </a:t>
            </a:r>
            <a:r>
              <a:rPr sz="1450" b="0" i="0">
                <a:solidFill>
                  <a:srgbClr val="9DAFC7"/>
                </a:solidFill>
                <a:latin typeface="Calibri"/>
              </a:rPr>
              <a:t>Prefer spending on a stronger base model over spending on a tuning programme.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1587" y="2295144"/>
            <a:ext cx="5112867" cy="155448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9331" y="2441448"/>
            <a:ext cx="4637379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8FD3B6"/>
                </a:solidFill>
                <a:latin typeface="Calibri"/>
              </a:rPr>
              <a:t>WHY THIS IS WORTH MONEY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It reverses the intuitive plan. Tuning looks like the cheap, targeted option; measured on held-out traffic it is the one that quietly costs you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1587" y="3995928"/>
            <a:ext cx="5112867" cy="155448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9331" y="4142232"/>
            <a:ext cx="4637379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E3C285"/>
                </a:solidFill>
                <a:latin typeface="Calibri"/>
              </a:rPr>
              <a:t>CONFIDENCE LEVEL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This is a comparison between different model sizes, not a controlled experiment at fixed size. Treat it as a strong steer on where to spend, not a proven law.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CONFIDENCE AND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What this does not tell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Stated plainly, so the recommendation can be trusted where it does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95144"/>
            <a:ext cx="106372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It is one benchmark.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Expert-annotated finance, healthcare and law prompt safety. It is the strongest external evidence we have, and it is still a single instrument — and our own research shows guard rankings reorder when the benchmark changes.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It is prompt-only.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We judged incoming prompts, not the assistant's replies, and not the harder mortgage-compliance question of whether a specific answer breaks a specific rule.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Vendor behaviour is a moving target.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Model versions change under you. The self-hosted side is pinned to an exact revision and reproduces indefinitely; the hosted side does not.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Prices are list, not invoices.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Cost figures are billed tokens at public rates and exclude the GPU cost on our own side.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The escalation curve is optimistically tuned.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Its decision line and its global 5% budget are both chosen on the same rows it is then scored on, so a live deployment should expect to close somewhat less than 51% of the gap at a fifth escalated.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303520"/>
            <a:ext cx="10637215" cy="987552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5449824"/>
            <a:ext cx="101617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BFD8F5"/>
                </a:solidFill>
                <a:latin typeface="Calibri"/>
              </a:rPr>
              <a:t>WHAT WOULD CHANGE THE RECOMMENDATION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A regulated-domain benchmark that scores whole answers against specific rules, with expert adjudication. That is the instrument we do not have, and building it is the highest-value next step.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Guardrail sourcing · in-house inline, escalate the uncertain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0564F"/>
                </a:solidFill>
                <a:latin typeface="Calibri"/>
              </a:rP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372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What we would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7F9F"/>
                </a:solidFill>
                <a:latin typeface="Calibri"/>
              </a:rPr>
              <a:t>Sequenced so each step is cheap and the expensive one is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95144"/>
            <a:ext cx="511286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Now · keep the in-house guard inline on everything.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It already runs, it answers in ~20 ms, and it is the only lane available for regulated traffic. No new build.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Now · add the escalation lane.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Route the least-confident band to the hosted model where the data may lawfully leave. Start at 10–20% and read the curve.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Now · treat a provider refusal as 'needs review'.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Never as 'safe'. A one-line policy change, and today it is a silent gap.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Next · stop the tuning workstream as a gap-closer.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Keep it only for rescuing weak models. Redirect the effort.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EEF2F8"/>
                </a:solidFill>
                <a:latin typeface="Calibri"/>
              </a:rPr>
              <a:t>Then · build the domain instrument. </a:t>
            </a:r>
            <a:r>
              <a:rPr sz="1350" b="0" i="0">
                <a:solidFill>
                  <a:srgbClr val="9DAFC7"/>
                </a:solidFill>
                <a:latin typeface="Calibri"/>
              </a:rPr>
              <a:t>A mortgage-compliance benchmark that scores whole answers against specific rules, with expert adjudication.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1587" y="2295144"/>
            <a:ext cx="5112867" cy="141732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9331" y="2441448"/>
            <a:ext cx="4637379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8FD3B6"/>
                </a:solidFill>
                <a:latin typeface="Calibri"/>
              </a:rPr>
              <a:t>THE CHEAPEST ITEM IS THE REFUSAL ONE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It costs a policy change, and it closes a case where an unsafe prompt currently receives no verdict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1587" y="3877056"/>
            <a:ext cx="5112867" cy="1691640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9331" y="4023360"/>
            <a:ext cx="4637379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80" b="1" i="0" spc="110">
                <a:solidFill>
                  <a:srgbClr val="F08A7F"/>
                </a:solidFill>
                <a:latin typeface="Calibri"/>
              </a:rPr>
              <a:t>THE ONE THAT NEEDS A DECISION FROM THIS ROOM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9DAFC7"/>
                </a:solidFill>
                <a:latin typeface="Calibri"/>
              </a:rPr>
              <a:t>Whether borrower-bearing prompts may leave our network at all. That single answer decides how much of our traffic can use the more accurate option, and it is a legal call rather than a technical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Guardrail sourcing: buy hosted, or run our own?</dc:title>
  <dc:subject>Executive briefing accompanying “Benchmark Gains Do Not Guarantee Transfer: Fine-Tuning Small Language Model Safety Guards”</dc:subject>
  <dc:creator>Reza Rahimi</dc:creator>
  <cp:keywords>AI safety; safety guard; LLM guardrail; small language model; fine-tuning; specialization; out-of-distribution transfer</cp:keywords>
  <dc:description>Generated from code; sources and data at https://github.com/rrahimi-uci/safety-guard-dynamics</dc:description>
  <cp:lastModifiedBy>Reza Rahimi</cp:lastModifiedBy>
  <cp:revision>1</cp:revision>
  <dcterms:created xsi:type="dcterms:W3CDTF">2013-01-27T09:14:16Z</dcterms:created>
  <dcterms:modified xsi:type="dcterms:W3CDTF">2013-01-27T09:15:58Z</dcterms:modified>
  <cp:category>Research presentation</cp:category>
</cp:coreProperties>
</file>