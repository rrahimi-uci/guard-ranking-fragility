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changes. Name that correctly if you quote it: the report's TITLE finding is that a gain on a</a:t>
            </a:r>
          </a:p>
          <a:p>
            <a:r>
              <a:t>represented benchmark does not establish transfer. The ranking reorder across benchmarks is</a:t>
            </a:r>
          </a:p>
          <a:p>
            <a:r>
              <a:t>the corollary, and it is the one that bears on a sourcing decision.</a:t>
            </a:r>
          </a:p>
          <a:p/>
          <a:p>
            <a:r>
              <a:t>Be exact about "our own terms" if anyone in legal or risk pushes on the second callout. The</a:t>
            </a:r>
          </a:p>
          <a:p>
            <a:r>
              <a:t>evaluation ran on a third-party, expert-annotated set. No company traffic, no borrower data,</a:t>
            </a:r>
          </a:p>
          <a:p>
            <a:r>
              <a:t>and no labels we produced ourselves left this building or entered the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slide. If they remember one thing, it is that the question was posed wrongly: it</a:t>
            </a:r>
          </a:p>
          <a:p>
            <a:r>
              <a:t>is not in-house versus outsource, it is which requests go out.</a:t>
            </a:r>
          </a:p>
          <a:p/>
          <a:p>
            <a:r>
              <a:t>Walk the three lanes in order. Lane 1 is a legal constraint, not a technical choice -- if the</a:t>
            </a:r>
          </a:p>
          <a:p>
            <a:r>
              <a:t>prompt carries borrower or patient data it stays in, full stop. Lane 3 is the cheap majority:</a:t>
            </a:r>
          </a:p>
          <a:p>
            <a:r>
              <a:t>when the in-house guard is confident, a second opinion changes nothing, so paying for one is</a:t>
            </a:r>
          </a:p>
          <a:p>
            <a:r>
              <a:t>waste. Lane 2 is the whole game -- the band around the in-house guard's decision line, where it</a:t>
            </a:r>
          </a:p>
          <a:p>
            <a:r>
              <a:t>is genuinely unsure, and where the hosted model's advantage actually lives.</a:t>
            </a:r>
          </a:p>
          <a:p/>
          <a:p>
            <a:r>
              <a:t>WHERE THE THREE NUMBERS COME FROM, because they are one measurement and not three, and because</a:t>
            </a:r>
          </a:p>
          <a:p>
            <a:r>
              <a:t>the obvious interval to quote is the wrong one:</a:t>
            </a:r>
          </a:p>
          <a:p>
            <a:r>
              <a:t>  - 51% = (.842 - .787) / (.896 - .787),</a:t>
            </a:r>
          </a:p>
          <a:p>
            <a:r>
              <a:t>    i.e. the SmolLM3-3B inline guard against gpt-5.4 (low) at a matched 5% budget, with the</a:t>
            </a:r>
          </a:p>
          <a:p>
            <a:r>
              <a:t>    least-confident fifth escalated. The gap being closed is +0.109 -- that pair.</a:t>
            </a:r>
          </a:p>
          <a:p>
            <a:r>
              <a:t>    Computed on the underlying scores that is 51.1%; do the same sum with the three-decimal</a:t>
            </a:r>
          </a:p>
          <a:p>
            <a:r>
              <a:t>    published values and you get 50.5%. Rounding, not a discrepancy -- same for the 64% on</a:t>
            </a:r>
          </a:p>
          <a:p>
            <a:r>
              <a:t>    slide 8.</a:t>
            </a:r>
          </a:p>
          <a:p>
            <a:r>
              <a:t>  - The +0.066 [+0.043, +0.089] figure is a DIFFERENT pair (hosted against</a:t>
            </a:r>
          </a:p>
          <a:p>
            <a:r>
              <a:t>    Qwen3-32B, our strongest open guard) and belongs on the next slide. Do not quote</a:t>
            </a:r>
          </a:p>
          <a:p>
            <a:r>
              <a:t>    it as the interval behind 51%.</a:t>
            </a:r>
          </a:p>
          <a:p>
            <a:r>
              <a:t>  - 20% and 80% are the same dial read two ways: escalate one request in five, four in five</a:t>
            </a:r>
          </a:p>
          <a:p>
            <a:r>
              <a:t>    never leave the network.</a:t>
            </a:r>
          </a:p>
          <a:p/>
          <a:p>
            <a:r>
              <a:t>Slide 8 has the curve, and it is smooth -- you can dial the escalated share to whatever your</a:t>
            </a:r>
          </a:p>
          <a:p>
            <a:r>
              <a:t>legal and budget constraints allow rather than choosing an architecture.</a:t>
            </a:r>
          </a:p>
          <a:p/>
          <a:p>
            <a:r>
              <a:t>The other figures, precisely, for anyone who asks: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 We have not amortised our own side; say so rather than improvising a number.</a:t>
            </a:r>
          </a:p>
          <a:p/>
          <a:p>
            <a:r>
              <a:t>If asked "why not escalate everything": you would get the full 90%, and you</a:t>
            </a:r>
          </a:p>
          <a:p>
            <a:r>
              <a:t>would also send every borrower prompt to a third party, pay $0.80 per thousand, and</a:t>
            </a:r>
          </a:p>
          <a:p>
            <a:r>
              <a:t>put 1,553 ms on every request. Lane 1 forbids it anyway for the traffic we care</a:t>
            </a:r>
          </a:p>
          <a:p>
            <a:r>
              <a:t>most about.</a:t>
            </a:r>
          </a:p>
          <a:p/>
          <a:p>
            <a:r>
              <a:t>If asked "why not escalate nothing": that is the 79% floor for the</a:t>
            </a:r>
          </a:p>
          <a:p>
            <a:r>
              <a:t>inline 3B guard, and it means knowingly missing about one unsafe prompt in ten that we could</a:t>
            </a:r>
          </a:p>
          <a:p>
            <a:r>
              <a:t>have caught.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Someone will propose "just fine-tune ours" or "just use a bigger one". Both were tested.</a:t>
            </a:r>
          </a:p>
          <a:p>
            <a:r>
              <a:t>Neither worked. Slides 6 and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our tuned guards rank BETTER on average: the equal-source mean difference is</a:t>
            </a:r>
          </a:p>
          <a:p>
            <a:r>
              <a:t>+0.083, 95% interval [+0.013, +0.157], which excludes zero. In AP it is</a:t>
            </a:r>
          </a:p>
          <a:p>
            <a:r>
              <a:t>+0.039 [+0.015, +0.072].</a:t>
            </a:r>
          </a:p>
          <a:p/>
          <a:p>
            <a:r>
              <a:t>Be careful with single benchmarks here, and say this before anyone asks. The most eye-catching</a:t>
            </a:r>
          </a:p>
          <a:p>
            <a:r>
              <a:t>cell is a Qwen2.5-1.5B guard at .948 against .741 on</a:t>
            </a:r>
          </a:p>
          <a:p>
            <a:r>
              <a:t>prompt_injections. That cell is the largest of 12, so quoting its own interval</a:t>
            </a:r>
          </a:p>
          <a:p>
            <a:r>
              <a:t>overstates it: 3 of 12 cells clear zero on their own, and</a:t>
            </a:r>
          </a:p>
          <a:p>
            <a:r>
              <a:t>0 survive a familywise correction. The average is the number to defend, not</a:t>
            </a:r>
          </a:p>
          <a:p>
            <a:r>
              <a:t>the best cell.</a:t>
            </a:r>
          </a:p>
          <a:p/>
          <a:p>
            <a:r>
              <a:t>And be precise about what the average is an average OVER, because it bounds the sourcing rule.</a:t>
            </a:r>
          </a:p>
          <a:p>
            <a:r>
              <a:t>The interval is conditional on these three corpora: it resamples rows within a fixed source set,</a:t>
            </a:r>
          </a:p>
          <a:p>
            <a:r>
              <a:t>because three sources we picked do not sample a population of sources. Drawing sources with</a:t>
            </a:r>
          </a:p>
          <a:p>
            <a:r>
              <a:t>replacement instead widens it to [-0.019, +0.220], which INCLUDES zero. Read that as</a:t>
            </a:r>
          </a:p>
          <a:p>
            <a:r>
              <a:t>the honest scope of the claim -- it says our tuned guards rank better on traffic that looks like</a:t>
            </a:r>
          </a:p>
          <a:p>
            <a:r>
              <a:t>these three manifests, not that they would on any manifest we might write next. It is a reason</a:t>
            </a:r>
          </a:p>
          <a:p>
            <a:r>
              <a:t>to characterise our own traffic before assuming the advantage transfers to it, not a reason to</a:t>
            </a:r>
          </a:p>
          <a:p>
            <a:r>
              <a:t>discount the split recommendation, which also rests on residency and cost.</a:t>
            </a:r>
          </a:p>
          <a:p/>
          <a:p>
            <a:r>
              <a:t>The report tabulates four defensible weightings of these twelve cells and only two of them</a:t>
            </a:r>
          </a:p>
          <a:p>
            <a:r>
              <a:t>support a positive advantage at all. Weighting sources by row count roughly halves it, to</a:t>
            </a:r>
          </a:p>
          <a:p>
            <a:r>
              <a:t>+0.049 [-0.031, +0.112], which straddles zero. And the one on the red</a:t>
            </a:r>
          </a:p>
          <a:p>
            <a:r>
              <a:t>callout is the one to keep in view: include the BASE arms alongside the tuned ones and the</a:t>
            </a:r>
          </a:p>
          <a:p>
            <a:r>
              <a:t>aggregate becomes -0.264 [-0.321, -0.179], excluding zero in the</a:t>
            </a:r>
          </a:p>
          <a:p>
            <a:r>
              <a:t>opposite direction. That is not a statistical footnote, it is a budget consequence. The</a:t>
            </a:r>
          </a:p>
          <a:p>
            <a:r>
              <a:t>represented-source advantage is a property of TUNED guards specifically -- the specialization</a:t>
            </a:r>
          </a:p>
          <a:p>
            <a:r>
              <a:t>finding from slide 6 seen from the other side -- so lane 1 is "run a small guard we have tuned</a:t>
            </a:r>
          </a:p>
          <a:p>
            <a:r>
              <a:t>on a manifest of our own traffic, and keep tuning it", which is a funded workstream with a</a:t>
            </a:r>
          </a:p>
          <a:p>
            <a:r>
              <a:t>maintenance burden. Price that before approving lane 1.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TWO MEASUREMENTS APART, because this slide carries both and the report never pools</a:t>
            </a:r>
          </a:p>
          <a:p>
            <a:r>
              <a:t>them. The CHART is macro-AP -- average ranking quality over the whole score list -- measured on</a:t>
            </a:r>
          </a:p>
          <a:p>
            <a:r>
              <a:t>our own internal 6-checkpoint panel, the same panel the research was run on.</a:t>
            </a:r>
          </a:p>
          <a:p>
            <a:r>
              <a:t>The blue callout is a different instrument: catch rate at a matched 5% false-alarm budget on</a:t>
            </a:r>
          </a:p>
          <a:p>
            <a:r>
              <a:t>the EXTERNAL expert-annotated prompts. Both say fine-tuning does not close the gap. Neither is</a:t>
            </a:r>
          </a:p>
          <a:p>
            <a:r>
              <a:t>a restatement of the other, and averaging them would be a mistake.</a:t>
            </a:r>
          </a:p>
          <a:p/>
          <a:p>
            <a:r>
              <a:t>On the external measurement the headline is the sign split, not the average. If you quote only</a:t>
            </a:r>
          </a:p>
          <a:p>
            <a:r>
              <a:t>the mean change (+0.005) you will mislead the room -- it is a small number sitting</a:t>
            </a:r>
          </a:p>
          <a:p>
            <a:r>
              <a:t>on top of swings from -0.059 to +0.122, and</a:t>
            </a:r>
          </a:p>
          <a:p>
            <a:r>
              <a:t>4 of 6 checkpoints moved the wrong way.</a:t>
            </a:r>
          </a:p>
          <a:p/>
          <a:p>
            <a:r>
              <a:t>One more number for this slide if the room asks how much worse it is where we would actually</a:t>
            </a:r>
          </a:p>
          <a:p>
            <a:r>
              <a:t>run: read only inside the 5% false-alarm budget, the held-out loss on the internal panel is</a:t>
            </a:r>
          </a:p>
          <a:p>
            <a:r>
              <a:t>about 3.0x bigger than the average metric shows. That is</a:t>
            </a:r>
          </a:p>
          <a:p>
            <a:r>
              <a:t>the internal panel again, not the external set.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The strongest model we tuned gained the least --</a:t>
            </a:r>
          </a:p>
          <a:p>
            <a:r>
              <a:t>that part is orderly, all the way down the chart.</a:t>
            </a:r>
          </a:p>
          <a:p/>
          <a:p>
            <a:r>
              <a:t>Do not go one step further and say it also lost the most, which an earlier version of this</a:t>
            </a:r>
          </a:p>
          <a:p>
            <a:r>
              <a:t>slide did. The loss is not ordered by starting strength: the 4B model gave back the most</a:t>
            </a:r>
          </a:p>
          <a:p>
            <a:r>
              <a:t>(-0.150) from a weaker starting point than either the 8B (-0.101) or the 32B (-0.117). What</a:t>
            </a:r>
          </a:p>
          <a:p>
            <a:r>
              <a:t>is orderly is where they all END UP -- every tuned model lands on roughly the same</a:t>
            </a:r>
          </a:p>
          <a:p>
            <a:r>
              <a:t>unfamiliar-traffic accuracy whatever it started from, so the cost is the distance it had to</a:t>
            </a:r>
          </a:p>
          <a:p>
            <a:r>
              <a:t>fall, not evidence that better models specialise harder. The planning consequence is the same</a:t>
            </a:r>
          </a:p>
          <a:p>
            <a:r>
              <a:t>either way: above a strong starting point, tuning buys very little and still charges close to</a:t>
            </a:r>
          </a:p>
          <a:p>
            <a:r>
              <a:t>full price.</a:t>
            </a:r>
          </a:p>
          <a:p/>
          <a:p>
            <a:r>
              <a:t>This is the central finding of the underlying research. The chart is that finding on the panel</a:t>
            </a:r>
          </a:p>
          <a:p>
            <a:r>
              <a:t>it was measured on; the blue callout is the same pattern recurring on external expert-annotated</a:t>
            </a:r>
          </a:p>
          <a:p>
            <a:r>
              <a:t>data, which is the harder test. Say which one you are quoting -- an earlier version of this</a:t>
            </a:r>
          </a:p>
          <a:p>
            <a:r>
              <a:t>slide described the chart itself as the external result, and it is not.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  <a:p/>
          <a:p>
            <a:r>
              <a:t>One rounding note, in case someone has the technical report open beside this. The chart</a:t>
            </a:r>
          </a:p>
          <a:p>
            <a:r>
              <a:t>computes "% of the gap closed" from the raw cascade curve; the report's own gap-ladder figure</a:t>
            </a:r>
          </a:p>
          <a:p>
            <a:r>
              <a:t>computes it from the committed three-decimal values (.856, .787, .896) and therefore prints</a:t>
            </a:r>
          </a:p>
          <a:p>
            <a:r>
              <a:t>+63% at the 30% point where this chart prints 64%. Same measurement, 63.3% against 63.5%, and</a:t>
            </a:r>
          </a:p>
          <a:p>
            <a:r>
              <a:t>the difference is which side of the rounding the inputs sit on. Say that rather than</a:t>
            </a:r>
          </a:p>
          <a:p>
            <a:r>
              <a:t>improvising -- the three annotated points here are internally consistent with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Two things about the top two rows, because they are easy to misread and an earlier version of</a:t>
            </a:r>
          </a:p>
          <a:p>
            <a:r>
              <a:t>this table invited exactly that. First, the 83% baseline is NOT a</a:t>
            </a:r>
          </a:p>
          <a:p>
            <a:r>
              <a:t>single forward pass: the strongest single open configuration we hold is the Qwen3-32B</a:t>
            </a:r>
          </a:p>
          <a:p>
            <a:r>
              <a:t>with its five tuned adapters averaged, so it is five model calls. Second, row 2's</a:t>
            </a:r>
          </a:p>
          <a:p>
            <a:r>
              <a:t>+0.026 is measured against a SINGLE TUNED SEED of the same checkpoint, and it is</a:t>
            </a:r>
          </a:p>
          <a:p>
            <a:r>
              <a:t>what produced row 1 -- it is not a gain to add on top of it. Concretely on the</a:t>
            </a:r>
          </a:p>
          <a:p>
            <a:r>
              <a:t>Qwen3-32B: .834 for the seed ensemble against 0.830 for its own</a:t>
            </a:r>
          </a:p>
          <a:p>
            <a:r>
              <a:t>untuned base, i.e. +0.004 over the base and about +0.026 over one of its own tuned seeds.</a:t>
            </a:r>
          </a:p>
          <a:p>
            <a:r>
              <a:t>Adding +0.026 to 83% would produce a number that beats the</a:t>
            </a:r>
          </a:p>
          <a:p>
            <a:r>
              <a:t>fitted 18-guard stack and appears nowhere in the report.</a:t>
            </a:r>
          </a:p>
          <a:p/>
          <a:p>
            <a:r>
              <a:t>"No new training" is the honest cost entry for row 2: the adapters already exist, so it costs</a:t>
            </a:r>
          </a:p>
          <a:p>
            <a:r>
              <a:t>no GPU time to CREATE. It is not free to RUN -- averaging five adapters is five forward passes</a:t>
            </a:r>
          </a:p>
          <a:p>
            <a:r>
              <a:t>per request, in a deck whose whole argument is per-request latency and cost.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84% against the</a:t>
            </a:r>
          </a:p>
          <a:p>
            <a:r>
              <a:t>blend's 85% -- it does NOT beat the blend, it very nearly matches it for a</a:t>
            </a:r>
          </a:p>
          <a:p>
            <a:r>
              <a:t>fifteenth of the compute (18 calls against 1.2) and no labelled data. If</a:t>
            </a:r>
          </a:p>
          <a:p>
            <a:r>
              <a:t>challenged on this, the honest line is that the blend is still the in-house ceiling; escalation</a:t>
            </a:r>
          </a:p>
          <a:p>
            <a:r>
              <a:t>is the cheaper route to almost the same place. An earlier version of this slide printed 87%</a:t>
            </a:r>
          </a:p>
          <a:p>
            <a:r>
              <a:t>here and claimed escalation beat the blend, which reversed the ordering. So ensembling is not</a:t>
            </a:r>
          </a:p>
          <a:p>
            <a:r>
              <a:t>the route -- unless lane 1 applies and nothing may leave, in which case it is the in-house</a:t>
            </a:r>
          </a:p>
          <a:p>
            <a:r>
              <a:t>ceiling and worth building.</a:t>
            </a:r>
          </a:p>
          <a:p/>
          <a:p>
            <a:r>
              <a:t>Be precise about what that last row was measured ON TOP OF, because the table would otherwise</a:t>
            </a:r>
          </a:p>
          <a:p>
            <a:r>
              <a:t>read as "escalation adds one point to our best in-house guard". It does not. It was measured</a:t>
            </a:r>
          </a:p>
          <a:p>
            <a:r>
              <a:t>with the SmolLM3-3B inline guard underneath it, moving .787 to</a:t>
            </a:r>
          </a:p>
          <a:p>
            <a:r>
              <a:t>.842 -- five points, not one. A cascade sitting on top of a 32B inline guard is a</a:t>
            </a:r>
          </a:p>
          <a:p>
            <a:r>
              <a:t>combination that does not exist anywhere in the report, and an engineer who plans around</a:t>
            </a:r>
          </a:p>
          <a:p>
            <a:r>
              <a:t>"83% to 84%" will build something we never measured.</a:t>
            </a:r>
          </a:p>
          <a:p/>
          <a:p>
            <a:r>
              <a:t>One in-house repair the table cannot carry, if someone asks whether there is anything else:</a:t>
            </a:r>
          </a:p>
          <a:p>
            <a:r>
              <a:t>averaging a base with its own adapter recovers +0.076 of transfer ranking for one extra pass</a:t>
            </a:r>
          </a:p>
          <a:p>
            <a:r>
              <a:t>and no retraining. That is the cheapest in-house repair in the research -- but it is measured</a:t>
            </a:r>
          </a:p>
          <a:p>
            <a:r>
              <a:t>in macro-AP on the internal panel, not as catch rate at a matched budget on these rows, so it</a:t>
            </a:r>
          </a:p>
          <a:p>
            <a:r>
              <a:t>cannot be dropped into this table without breaking the same-rows, same-budget premise that</a:t>
            </a:r>
          </a:p>
          <a:p>
            <a:r>
              <a:t>makes the table comparable at all. Offer it as a next measurement, not as a fifth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skip this slide to save time, and do not let it be discovered in Q&amp;A instead. The whole</a:t>
            </a:r>
          </a:p>
          <a:p>
            <a:r>
              <a:t>architecture is built around lane 1, lane 1 is the lane where escalation is unavailable by</a:t>
            </a:r>
          </a:p>
          <a:p>
            <a:r>
              <a:t>construction, and this is the only evidence we have about how the in-house guard behaves there.</a:t>
            </a:r>
          </a:p>
          <a:p/>
          <a:p>
            <a:r>
              <a:t>The four facts, in the order they land hardest. The G0/D1 stratum -- reads safe to a general</a:t>
            </a:r>
          </a:p>
          <a:p>
            <a:r>
              <a:t>guard, is a mortgage-policy violation -- is 502 of 994 rows, which is the point of the</a:t>
            </a:r>
          </a:p>
          <a:p>
            <a:r>
              <a:t>benchmark rather than an accident of sampling. Threshold-free ranking of those violations tops</a:t>
            </a:r>
          </a:p>
          <a:p>
            <a:r>
              <a:t>out at 0.85 against a 0.555 chance floor set by the split's own base rate (81 of 146 rows are</a:t>
            </a:r>
          </a:p>
          <a:p>
            <a:r>
              <a:t>policy-positive), so the observed band is 0.12 to 0.30 above chance, not 0.85 worth of skill.</a:t>
            </a:r>
          </a:p>
          <a:p>
            <a:r>
              <a:t>On the worked row, all four zero-shot guards rank a coded redlining-by-proxy request below the</a:t>
            </a:r>
          </a:p>
          <a:p>
            <a:r>
              <a:t>median benign mortgage inquiry in the same split, and one of them ranks it below all 65. And</a:t>
            </a:r>
          </a:p>
          <a:p>
            <a:r>
              <a:t>the fixed operating point is deliberately not tabulated, because its catch count moved by more</a:t>
            </a:r>
          </a:p>
          <a:p>
            <a:r>
              <a:t>than 50 rows across library versions of a quantile routine -- knife-edge on clustered scores.</a:t>
            </a:r>
          </a:p>
          <a:p/>
          <a:p>
            <a:r>
              <a:t>The tone to take: this is the instrument working. We built a measuring stick for the traffic we</a:t>
            </a:r>
          </a:p>
          <a:p>
            <a:r>
              <a:t>care most about, held it to the same standard as the guards, and it says the guards miss the</a:t>
            </a:r>
          </a:p>
          <a:p>
            <a:r>
              <a:t>payload. That is a reason to fund the instrument, not a reason to distrust the recommendation --</a:t>
            </a:r>
          </a:p>
          <a:p>
            <a:r>
              <a:t>there is no lawful alternative for prompts carrying borrower data, so the choice on that lane</a:t>
            </a:r>
          </a:p>
          <a:p>
            <a:r>
              <a:t>was never between a good option and a better one.</a:t>
            </a:r>
          </a:p>
          <a:p/>
          <a:p>
            <a:r>
              <a:t>Scope it honestly if a compliance function is in the room: these labels are LLM-judge against</a:t>
            </a:r>
          </a:p>
          <a:p>
            <a:r>
              <a:t>written policy cards with self-consistency checks, no subject-matter-expert adjudication, no</a:t>
            </a:r>
          </a:p>
          <a:p>
            <a:r>
              <a:t>human agreement statistic, and the public-test split is a single 146-row set. It surfaces guard</a:t>
            </a:r>
          </a:p>
          <a:p>
            <a:r>
              <a:t>behaviour. It certifies nothing, and it licenses no fair-lending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Somebody will ask "so what does OURS cost per thousand?" -- have the honest answer ready rather</a:t>
            </a:r>
          </a:p>
          <a:p>
            <a:r>
              <a:t>than improvising one. We have not amortised it. What we can quote is the physical measurement</a:t>
            </a:r>
          </a:p>
          <a:p>
            <a:r>
              <a:t>behind it: batched per-row inference at batch 16 on a single A100, 10-25 ms per call at P50, so</a:t>
            </a:r>
          </a:p>
          <a:p>
            <a:r>
              <a:t>a thousand prompts is on the order of tens of seconds of one GPU. Turning that into a unit</a:t>
            </a:r>
          </a:p>
          <a:p>
            <a:r>
              <a:t>price needs a utilisation assumption and a capital-recovery period that finance owns, not us.</a:t>
            </a:r>
          </a:p>
          <a:p>
            <a:r>
              <a:t>Offer to come back with a number rather than inventing one at the table.</a:t>
            </a:r>
          </a:p>
          <a:p/>
          <a:p>
            <a:r>
              <a:t>The refusal finding is the one to say slowly, and it is now the headline of this slide.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BOTH decisions before the meeting ends. The first is whether prompts containing</a:t>
            </a:r>
          </a:p>
          <a:p>
            <a:r>
              <a:t>borrower information may go to a third-party API; everything about the split architecture</a:t>
            </a:r>
          </a:p>
          <a:p>
            <a:r>
              <a:t>depends on that answer, and it is not ours to make. The second is who owns the escalation dial</a:t>
            </a:r>
          </a:p>
          <a:p>
            <a:r>
              <a:t>once it exists -- slide 8 shows the escalated share is a smooth tradeoff between the legal</a:t>
            </a:r>
          </a:p>
          <a:p>
            <a:r>
              <a:t>ceiling and the budget, which means it is a standing decision with a standing owner rather than</a:t>
            </a:r>
          </a:p>
          <a:p>
            <a:r>
              <a:t>an architecture we choose once and forget. If nobody owns it, it will sit at whatever we set on</a:t>
            </a:r>
          </a:p>
          <a:p>
            <a:r>
              <a:t>day one until an incident moves it.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</a:t>
            </a:r>
            <a:br/>
            <a:r>
              <a:rPr sz="4000" b="1" i="0">
                <a:solidFill>
                  <a:srgbClr val="EEF2F8"/>
                </a:solidFill>
                <a:latin typeface="Cambria"/>
              </a:rPr>
              <a:t>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Twenty-four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“Safety Benchmark Gains Do Not Guarantee Safety Transfer: A Comprehensive Study of Fine-Tuning Small Language Model Safety Guards for High-Compliance and General Safety Domains” —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EXTERNAL, EXPERT-ANNOTATED PROMPTS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Third-party expert-annotated finance, healthcare and law prompts — not our own traffic and not our own labels;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about half of the unsafe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COARSELY RESOLVED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bounds precision without fixing a direction — a finer score could order a tied block either way — so do not read the gap as conservative.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tuned guards already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+0.083 catch rate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Averaged across every source we can describe in advance, our tuned guards rank BETTER than the hosted model at the same alarm budget. 95% interval [+0.013, +0.157] -- excludes zero across these three sources; treat them as a sample of future manifests and it widens to [-0.019, +0.220].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41064"/>
            <a:ext cx="10637215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087368"/>
            <a:ext cx="10161727" cy="749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 and escalate the rest by how near the local guard sits to its own decision line -- the router we measured. Routing on UNFAMILIARITY instead is the more attractive idea and we did not test it: treat it as the next experiment, not as the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074920"/>
            <a:ext cx="10637215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5221224"/>
            <a:ext cx="101617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THE ADVANTAGE IS A PROPERTY OF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Include the untuned base arms in the same average and it reverses to -0.264 [-0.321, -0.179] — excluding zero in the OPPOSITE direction. So this is not “small guards beat hosted models”; it is “guards we have tuned on a manifest of that traffic do”. Lane 1 is therefore a standing tuning programme, not a default configuration.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ranking accuracy after fine-tuning (macro-AP), on our own internal 6-checkpoint panel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99339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on and costs it accuracy on traffic you did not. Read downward: the blue gain shrinks steadily as the base gets stronger. The red cost is less orderly — it turns from a gain into a loss and stays there, because every tuned model lands on much the same finishing accuracy.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379976"/>
            <a:ext cx="2910536" cy="19385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526280"/>
            <a:ext cx="243504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DIFFERENT MEASUREMENT, SAME VERDICT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On the external expert-annotated prompts — catch rate at a matched 5% budget, never pooled with the chart — 4 of 6 checkpoints got worse. So budgeting a tuning project to close the vendor gap is not supported: the best tuned result anywhere (81%) still loses to hosted (90%).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Over the range we measured, size does not close the gap — and 32B is already past the point where a guard is cheap to run on every request, which was the reason to self-host in the first place. Three points, one of them non-monotonic, identify no scaling law, so we do not extrapolate a size that would close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Priced against our strongest single in-house guard (83%) — which is itself a five-seed average —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49377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466993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8281" y="2276856"/>
            <a:ext cx="176503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9351" y="2276856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70632"/>
            <a:ext cx="10637215" cy="493776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70632"/>
            <a:ext cx="3466993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 — the Qwen3-32B's 5 tuned adapters, averaged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8281" y="2770632"/>
            <a:ext cx="176503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9351" y="2770632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5 model calls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70632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 below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264408"/>
            <a:ext cx="10637215" cy="49377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264408"/>
            <a:ext cx="3466993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Seed-averaging — the mechanism behind that row, not an addition to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8281" y="3264408"/>
            <a:ext cx="176503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over one tuned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9351" y="3264408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 new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264408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58184"/>
            <a:ext cx="10637215" cy="493776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758184"/>
            <a:ext cx="3466993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8281" y="3758184"/>
            <a:ext cx="176503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9351" y="3758184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758184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51960"/>
            <a:ext cx="10637215" cy="49377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251960"/>
            <a:ext cx="3466993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8281" y="4251960"/>
            <a:ext cx="176503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9351" y="4251960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251960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745736"/>
            <a:ext cx="10637215" cy="493776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745736"/>
            <a:ext cx="3466993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— from the 3B inline guard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8281" y="4745736"/>
            <a:ext cx="176503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 → 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9351" y="4745736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745736"/>
            <a:ext cx="219052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nearly matches, far cheaper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6088"/>
            <a:ext cx="10637215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422392"/>
            <a:ext cx="10161727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gets within about a point of the 18-model blend (84% vs 85%) at a fifteenth of the compute and with no labelled data to collect — measured on top of the 3B inline guard; a cascade over a larger inline guard was never measured. Ensembling is the right answer only when nothing may leave at all; then it is the in-house ceiling,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LANE WE CANNOT ESCALATE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the one lane where nothing may leave, we have the least evidence our guard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Measured on the instrument we built for exactly that traffic: 994 dual-labelled mortgage rows, scored zero-shot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95144"/>
            <a:ext cx="3362858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41448"/>
            <a:ext cx="28873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E0564F"/>
                </a:solidFill>
                <a:latin typeface="Cambria"/>
              </a:rPr>
              <a:t>502 of 994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rows that read safe to a general safety guard and still solicit a compliance violation. The largest non-benign block, by design — this is the payload.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4418" y="2295144"/>
            <a:ext cx="3362858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2162" y="2441448"/>
            <a:ext cx="28873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E0564F"/>
                </a:solidFill>
                <a:latin typeface="Cambria"/>
              </a:rPr>
              <a:t>0.85  vs  0.555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best zero-shot ranking of policy violations, against the chance floor a coin flip already scores. The whole band is 0.12–0.30 above chance.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51596" y="2295144"/>
            <a:ext cx="3362858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9340" y="2441448"/>
            <a:ext cx="28873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E0564F"/>
                </a:solidFill>
                <a:latin typeface="Cambria"/>
              </a:rPr>
              <a:t>below the median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where all four guards rank the worked violation, against the benign inquiries in its own split. One of them ranks it below every single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41064"/>
            <a:ext cx="5112867" cy="15179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087368"/>
            <a:ext cx="463737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AND WE CANNOT EVEN GIVE YOU AN OPERATING POINT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fixed 5%-false-alarm threshold on this benchmark is not reportable: its count of caught violations swung by more than 50 rows across library versions of one quantile routine. That is itself a finding about threshold transfer in this domain — but it means there is no number here to plan a deployment against.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1587" y="3941064"/>
            <a:ext cx="5112867" cy="15179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9331" y="4087368"/>
            <a:ext cx="463737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THIS DOES NOT CHANGE THE RECOMMENDATION — IT PRICES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There is no lawful alternative for borrower-bearing traffic, so lane 1 stands. What changes is what we owe it: the domain instrument on the last slide stops being a nice-to-have and becomes the direct consequence of a measurement we already have. Labels here are LLM-judge against written policy cards, not counsel-reviewed.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bill and the latency are the easy part. The control sometimes declines to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 — not amortised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 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2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22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800"/>
              </a:spcAft>
            </a:pPr>
            <a:r>
              <a:rPr sz="122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22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 — which, as slide 10 shows, is the lane where our own instrument says the guards miss the payload.</a:t>
            </a:r>
          </a:p>
          <a:p>
            <a:pPr algn="l">
              <a:spcAft>
                <a:spcPts val="800"/>
              </a:spcAft>
            </a:pPr>
            <a:r>
              <a:rPr sz="122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22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800"/>
              </a:spcAft>
            </a:pPr>
            <a:r>
              <a:rPr sz="122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22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  <a:p>
            <a:pPr algn="l">
              <a:spcAft>
                <a:spcPts val="800"/>
              </a:spcAft>
            </a:pPr>
            <a:r>
              <a:rPr sz="122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EEF2F8"/>
                </a:solidFill>
                <a:latin typeface="Calibri"/>
              </a:rPr>
              <a:t>The escalation curve is optimistically tuned. </a:t>
            </a:r>
            <a:r>
              <a:rPr sz="1220" b="0" i="0">
                <a:solidFill>
                  <a:srgbClr val="9DAFC7"/>
                </a:solidFill>
                <a:latin typeface="Calibri"/>
              </a:rPr>
              <a:t>Its decision line and its global 5% budget are both chosen on the same rows it is then scored on, so a live deployment should expect to close somewhat less than 51% of the gap at a fifth escalated.</a:t>
            </a:r>
          </a:p>
          <a:p>
            <a:pPr algn="l">
              <a:spcAft>
                <a:spcPts val="800"/>
              </a:spcAft>
            </a:pPr>
            <a:r>
              <a:rPr sz="122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EEF2F8"/>
                </a:solidFill>
                <a:latin typeface="Calibri"/>
              </a:rPr>
              <a:t>Averages hide the operating point. </a:t>
            </a:r>
            <a:r>
              <a:rPr sz="1220" b="0" i="0">
                <a:solidFill>
                  <a:srgbClr val="9DAFC7"/>
                </a:solidFill>
                <a:latin typeface="Calibri"/>
              </a:rPr>
              <a:t>Every catch rate here is already at a 5% false-alarm budget, but the underlying fine-tuning research reports an average over the whole score ranking. Re-scored inside the budget the direction is unchanged and the effect is 3.0x larger — so treat average-metric results from elsewhere as understating what you would see in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 Slide 10 is why: on the lane we cannot escalate, the instrument we have says the guards miss the payload.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483864"/>
            <a:ext cx="5112867" cy="120700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3630168"/>
            <a:ext cx="46373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DECISION ONE — A LEGAL CALL, NOT A TECHNICAL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837176"/>
            <a:ext cx="5112867" cy="120700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9331" y="4983480"/>
            <a:ext cx="46373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DECISION TWO — WHO OWNS THE DIAL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escalated share is not set once. Someone has to own moving it as the legal ceiling and the budget move, and to review it on a schedule.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Guardrail sourcing: buy hosted, or run our own?</dc:title>
  <dc:subject>Executive briefing accompanying “Benchmark Gains Do Not Guarantee Safety Transfer: A Comprehensive Study of Fine-Tuning Small Language Model Safety Guards for High-Compliance and General Safety Domains”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