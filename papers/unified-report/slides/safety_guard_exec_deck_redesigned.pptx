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Catch rate</c:v>
                </c:pt>
              </c:strCache>
            </c:strRef>
          </c:tx>
          <c:spPr>
            <a:solidFill>
              <a:srgbClr val="7CA2D6"/>
            </a:solidFill>
            <a:effectLst/>
          </c:spPr>
          <c:invertIfNegative val="0"/>
          <c:dPt>
            <c:idx val="0"/>
            <c:invertIfNegative val="0"/>
            <c:bubble3D val="0"/>
            <c:extLst>
              <c:ext xmlns:c16="http://schemas.microsoft.com/office/drawing/2014/chart" uri="{C3380CC4-5D6E-409C-BE32-E72D297353CC}">
                <c16:uniqueId val="{00000001-3ED1-1E49-9919-865A37F90C6A}"/>
              </c:ext>
            </c:extLst>
          </c:dPt>
          <c:dPt>
            <c:idx val="1"/>
            <c:invertIfNegative val="0"/>
            <c:bubble3D val="0"/>
            <c:extLst>
              <c:ext xmlns:c16="http://schemas.microsoft.com/office/drawing/2014/chart" uri="{C3380CC4-5D6E-409C-BE32-E72D297353CC}">
                <c16:uniqueId val="{00000003-3ED1-1E49-9919-865A37F90C6A}"/>
              </c:ext>
            </c:extLst>
          </c:dPt>
          <c:dPt>
            <c:idx val="2"/>
            <c:invertIfNegative val="0"/>
            <c:bubble3D val="0"/>
            <c:spPr>
              <a:solidFill>
                <a:srgbClr val="31456B"/>
              </a:solidFill>
              <a:effectLst/>
            </c:spPr>
            <c:extLst>
              <c:ext xmlns:c16="http://schemas.microsoft.com/office/drawing/2014/chart" uri="{C3380CC4-5D6E-409C-BE32-E72D297353CC}">
                <c16:uniqueId val="{00000005-3ED1-1E49-9919-865A37F90C6A}"/>
              </c:ext>
            </c:extLst>
          </c:dPt>
          <c:dPt>
            <c:idx val="3"/>
            <c:invertIfNegative val="0"/>
            <c:bubble3D val="0"/>
            <c:spPr>
              <a:solidFill>
                <a:srgbClr val="31456B"/>
              </a:solidFill>
              <a:effectLst/>
            </c:spPr>
            <c:extLst>
              <c:ext xmlns:c16="http://schemas.microsoft.com/office/drawing/2014/chart" uri="{C3380CC4-5D6E-409C-BE32-E72D297353CC}">
                <c16:uniqueId val="{00000007-3ED1-1E49-9919-865A37F90C6A}"/>
              </c:ext>
            </c:extLst>
          </c:dPt>
          <c:dPt>
            <c:idx val="4"/>
            <c:invertIfNegative val="0"/>
            <c:bubble3D val="0"/>
            <c:spPr>
              <a:solidFill>
                <a:srgbClr val="31456B"/>
              </a:solidFill>
              <a:effectLst/>
            </c:spPr>
            <c:extLst>
              <c:ext xmlns:c16="http://schemas.microsoft.com/office/drawing/2014/chart" uri="{C3380CC4-5D6E-409C-BE32-E72D297353CC}">
                <c16:uniqueId val="{00000009-3ED1-1E49-9919-865A37F90C6A}"/>
              </c:ext>
            </c:extLst>
          </c:dPt>
          <c:dPt>
            <c:idx val="5"/>
            <c:invertIfNegative val="0"/>
            <c:bubble3D val="0"/>
            <c:spPr>
              <a:solidFill>
                <a:srgbClr val="31456B"/>
              </a:solidFill>
              <a:effectLst/>
            </c:spPr>
            <c:extLst>
              <c:ext xmlns:c16="http://schemas.microsoft.com/office/drawing/2014/chart" uri="{C3380CC4-5D6E-409C-BE32-E72D297353CC}">
                <c16:uniqueId val="{0000000B-3ED1-1E49-9919-865A37F90C6A}"/>
              </c:ext>
            </c:extLst>
          </c:dPt>
          <c:dPt>
            <c:idx val="6"/>
            <c:invertIfNegative val="0"/>
            <c:bubble3D val="0"/>
            <c:extLst>
              <c:ext xmlns:c16="http://schemas.microsoft.com/office/drawing/2014/chart" uri="{C3380CC4-5D6E-409C-BE32-E72D297353CC}">
                <c16:uniqueId val="{0000000D-3ED1-1E49-9919-865A37F90C6A}"/>
              </c:ext>
            </c:extLst>
          </c:dPt>
          <c:dPt>
            <c:idx val="7"/>
            <c:invertIfNegative val="0"/>
            <c:bubble3D val="0"/>
            <c:spPr>
              <a:solidFill>
                <a:srgbClr val="31456B"/>
              </a:solidFill>
              <a:effectLst/>
            </c:spPr>
            <c:extLst>
              <c:ext xmlns:c16="http://schemas.microsoft.com/office/drawing/2014/chart" uri="{C3380CC4-5D6E-409C-BE32-E72D297353CC}">
                <c16:uniqueId val="{0000000F-3ED1-1E49-9919-865A37F90C6A}"/>
              </c:ext>
            </c:extLst>
          </c:dPt>
          <c:dPt>
            <c:idx val="8"/>
            <c:invertIfNegative val="0"/>
            <c:bubble3D val="0"/>
            <c:spPr>
              <a:solidFill>
                <a:srgbClr val="31456B"/>
              </a:solidFill>
              <a:effectLst/>
            </c:spPr>
            <c:extLst>
              <c:ext xmlns:c16="http://schemas.microsoft.com/office/drawing/2014/chart" uri="{C3380CC4-5D6E-409C-BE32-E72D297353CC}">
                <c16:uniqueId val="{00000011-3ED1-1E49-9919-865A37F90C6A}"/>
              </c:ext>
            </c:extLst>
          </c:dPt>
          <c:dPt>
            <c:idx val="9"/>
            <c:invertIfNegative val="0"/>
            <c:bubble3D val="0"/>
            <c:spPr>
              <a:solidFill>
                <a:srgbClr val="31456B"/>
              </a:solidFill>
              <a:effectLst/>
            </c:spPr>
            <c:extLst>
              <c:ext xmlns:c16="http://schemas.microsoft.com/office/drawing/2014/chart" uri="{C3380CC4-5D6E-409C-BE32-E72D297353CC}">
                <c16:uniqueId val="{00000013-3ED1-1E49-9919-865A37F90C6A}"/>
              </c:ext>
            </c:extLst>
          </c:dPt>
          <c:dPt>
            <c:idx val="10"/>
            <c:invertIfNegative val="0"/>
            <c:bubble3D val="0"/>
            <c:spPr>
              <a:solidFill>
                <a:srgbClr val="31456B"/>
              </a:solidFill>
              <a:effectLst/>
            </c:spPr>
            <c:extLst>
              <c:ext xmlns:c16="http://schemas.microsoft.com/office/drawing/2014/chart" uri="{C3380CC4-5D6E-409C-BE32-E72D297353CC}">
                <c16:uniqueId val="{00000015-3ED1-1E49-9919-865A37F90C6A}"/>
              </c:ext>
            </c:extLst>
          </c:dPt>
          <c:dPt>
            <c:idx val="11"/>
            <c:invertIfNegative val="0"/>
            <c:bubble3D val="0"/>
            <c:extLst>
              <c:ext xmlns:c16="http://schemas.microsoft.com/office/drawing/2014/chart" uri="{C3380CC4-5D6E-409C-BE32-E72D297353CC}">
                <c16:uniqueId val="{00000017-3ED1-1E49-9919-865A37F90C6A}"/>
              </c:ext>
            </c:extLst>
          </c:dPt>
          <c:dPt>
            <c:idx val="12"/>
            <c:invertIfNegative val="0"/>
            <c:bubble3D val="0"/>
            <c:spPr>
              <a:solidFill>
                <a:srgbClr val="31456B"/>
              </a:solidFill>
              <a:effectLst/>
            </c:spPr>
            <c:extLst>
              <c:ext xmlns:c16="http://schemas.microsoft.com/office/drawing/2014/chart" uri="{C3380CC4-5D6E-409C-BE32-E72D297353CC}">
                <c16:uniqueId val="{00000019-3ED1-1E49-9919-865A37F90C6A}"/>
              </c:ext>
            </c:extLst>
          </c:dPt>
          <c:dPt>
            <c:idx val="13"/>
            <c:invertIfNegative val="0"/>
            <c:bubble3D val="0"/>
            <c:extLst>
              <c:ext xmlns:c16="http://schemas.microsoft.com/office/drawing/2014/chart" uri="{C3380CC4-5D6E-409C-BE32-E72D297353CC}">
                <c16:uniqueId val="{0000001B-3ED1-1E49-9919-865A37F90C6A}"/>
              </c:ext>
            </c:extLst>
          </c:dPt>
          <c:dPt>
            <c:idx val="14"/>
            <c:invertIfNegative val="0"/>
            <c:bubble3D val="0"/>
            <c:extLst>
              <c:ext xmlns:c16="http://schemas.microsoft.com/office/drawing/2014/chart" uri="{C3380CC4-5D6E-409C-BE32-E72D297353CC}">
                <c16:uniqueId val="{0000001D-3ED1-1E49-9919-865A37F90C6A}"/>
              </c:ext>
            </c:extLst>
          </c:dPt>
          <c:dPt>
            <c:idx val="15"/>
            <c:invertIfNegative val="0"/>
            <c:bubble3D val="0"/>
            <c:spPr>
              <a:solidFill>
                <a:srgbClr val="31456B"/>
              </a:solidFill>
              <a:effectLst/>
            </c:spPr>
            <c:extLst>
              <c:ext xmlns:c16="http://schemas.microsoft.com/office/drawing/2014/chart" uri="{C3380CC4-5D6E-409C-BE32-E72D297353CC}">
                <c16:uniqueId val="{0000001F-3ED1-1E49-9919-865A37F90C6A}"/>
              </c:ext>
            </c:extLst>
          </c:dPt>
          <c:dPt>
            <c:idx val="16"/>
            <c:invertIfNegative val="0"/>
            <c:bubble3D val="0"/>
            <c:spPr>
              <a:solidFill>
                <a:srgbClr val="31456B"/>
              </a:solidFill>
              <a:effectLst/>
            </c:spPr>
            <c:extLst>
              <c:ext xmlns:c16="http://schemas.microsoft.com/office/drawing/2014/chart" uri="{C3380CC4-5D6E-409C-BE32-E72D297353CC}">
                <c16:uniqueId val="{00000021-3ED1-1E49-9919-865A37F90C6A}"/>
              </c:ext>
            </c:extLst>
          </c:dPt>
          <c:dPt>
            <c:idx val="17"/>
            <c:invertIfNegative val="0"/>
            <c:bubble3D val="0"/>
            <c:spPr>
              <a:solidFill>
                <a:srgbClr val="BFD8F5"/>
              </a:solidFill>
              <a:effectLst/>
            </c:spPr>
            <c:extLst>
              <c:ext xmlns:c16="http://schemas.microsoft.com/office/drawing/2014/chart" uri="{C3380CC4-5D6E-409C-BE32-E72D297353CC}">
                <c16:uniqueId val="{00000023-3ED1-1E49-9919-865A37F90C6A}"/>
              </c:ext>
            </c:extLst>
          </c:dPt>
          <c:dPt>
            <c:idx val="18"/>
            <c:invertIfNegative val="0"/>
            <c:bubble3D val="0"/>
            <c:spPr>
              <a:solidFill>
                <a:srgbClr val="E0564F"/>
              </a:solidFill>
              <a:effectLst/>
            </c:spPr>
            <c:extLst>
              <c:ext xmlns:c16="http://schemas.microsoft.com/office/drawing/2014/chart" uri="{C3380CC4-5D6E-409C-BE32-E72D297353CC}">
                <c16:uniqueId val="{00000025-3ED1-1E49-9919-865A37F90C6A}"/>
              </c:ext>
            </c:extLst>
          </c:dPt>
          <c:dLbls>
            <c:numFmt formatCode="0&quot;%&quot;" sourceLinked="0"/>
            <c:spPr>
              <a:noFill/>
              <a:ln>
                <a:noFill/>
              </a:ln>
              <a:effectLst/>
            </c:spPr>
            <c:txPr>
              <a:bodyPr/>
              <a:lstStyle/>
              <a:p>
                <a:pPr>
                  <a:defRPr sz="840" b="0" i="0" u="none" strike="noStrike">
                    <a:solidFill>
                      <a:srgbClr val="9DAFC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9"/>
                <c:pt idx="0">
                  <c:v>Llama-Guard-3-1B</c:v>
                </c:pt>
                <c:pt idx="1">
                  <c:v>ShieldGemma-2B</c:v>
                </c:pt>
                <c:pt idx="2">
                  <c:v>SmolLM2-1.7B</c:v>
                </c:pt>
                <c:pt idx="3">
                  <c:v>SmolLM2-1.7B tuned</c:v>
                </c:pt>
                <c:pt idx="4">
                  <c:v>Qwen2.5-1.5B tuned</c:v>
                </c:pt>
                <c:pt idx="5">
                  <c:v>Qwen2.5-1.5B</c:v>
                </c:pt>
                <c:pt idx="6">
                  <c:v>Qwen3Guard-Gen-0.6B</c:v>
                </c:pt>
                <c:pt idx="7">
                  <c:v>SmolLM3-3B tuned</c:v>
                </c:pt>
                <c:pt idx="8">
                  <c:v>Qwen3-8B</c:v>
                </c:pt>
                <c:pt idx="9">
                  <c:v>Qwen3-4B tuned</c:v>
                </c:pt>
                <c:pt idx="10">
                  <c:v>Qwen3-8B tuned</c:v>
                </c:pt>
                <c:pt idx="11">
                  <c:v>Granite-Guardian-3.1-2B</c:v>
                </c:pt>
                <c:pt idx="12">
                  <c:v>Qwen3-4B</c:v>
                </c:pt>
                <c:pt idx="13">
                  <c:v>WildGuard-7B</c:v>
                </c:pt>
                <c:pt idx="14">
                  <c:v>Qwen3Guard-Gen-4B</c:v>
                </c:pt>
                <c:pt idx="15">
                  <c:v>SmolLM3-3B</c:v>
                </c:pt>
                <c:pt idx="16">
                  <c:v>Qwen3-32B tuned</c:v>
                </c:pt>
                <c:pt idx="17">
                  <c:v>Qwen3-32B</c:v>
                </c:pt>
                <c:pt idx="18">
                  <c:v>gpt-5.4</c:v>
                </c:pt>
              </c:strCache>
            </c:strRef>
          </c:cat>
          <c:val>
            <c:numRef>
              <c:f>Sheet1!$B$2:$B$20</c:f>
              <c:numCache>
                <c:formatCode>General</c:formatCode>
                <c:ptCount val="19"/>
                <c:pt idx="0">
                  <c:v>33</c:v>
                </c:pt>
                <c:pt idx="1">
                  <c:v>46</c:v>
                </c:pt>
                <c:pt idx="2">
                  <c:v>51</c:v>
                </c:pt>
                <c:pt idx="3">
                  <c:v>63</c:v>
                </c:pt>
                <c:pt idx="4">
                  <c:v>66</c:v>
                </c:pt>
                <c:pt idx="5">
                  <c:v>67</c:v>
                </c:pt>
                <c:pt idx="6">
                  <c:v>67</c:v>
                </c:pt>
                <c:pt idx="7">
                  <c:v>73</c:v>
                </c:pt>
                <c:pt idx="8">
                  <c:v>75</c:v>
                </c:pt>
                <c:pt idx="9">
                  <c:v>75</c:v>
                </c:pt>
                <c:pt idx="10">
                  <c:v>76</c:v>
                </c:pt>
                <c:pt idx="11">
                  <c:v>77</c:v>
                </c:pt>
                <c:pt idx="12">
                  <c:v>77</c:v>
                </c:pt>
                <c:pt idx="13">
                  <c:v>77</c:v>
                </c:pt>
                <c:pt idx="14">
                  <c:v>78</c:v>
                </c:pt>
                <c:pt idx="15">
                  <c:v>79</c:v>
                </c:pt>
                <c:pt idx="16">
                  <c:v>81</c:v>
                </c:pt>
                <c:pt idx="17">
                  <c:v>83</c:v>
                </c:pt>
                <c:pt idx="18">
                  <c:v>90</c:v>
                </c:pt>
              </c:numCache>
            </c:numRef>
          </c:val>
          <c:extLst>
            <c:ext xmlns:c16="http://schemas.microsoft.com/office/drawing/2014/chart" uri="{C3380CC4-5D6E-409C-BE32-E72D297353CC}">
              <c16:uniqueId val="{00000026-3ED1-1E49-9919-865A37F90C6A}"/>
            </c:ext>
          </c:extLst>
        </c:ser>
        <c:dLbls>
          <c:showLegendKey val="0"/>
          <c:showVal val="1"/>
          <c:showCatName val="0"/>
          <c:showSerName val="0"/>
          <c:showPercent val="0"/>
          <c:showBubbleSize val="0"/>
        </c:dLbls>
        <c:gapWidth val="34"/>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40" b="0" i="0" u="none" strike="noStrike">
                <a:solidFill>
                  <a:srgbClr val="9DAFC7"/>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solidFill>
          <a:srgbClr val="0C1424"/>
        </a:solidFill>
        <a:ln>
          <a:noFill/>
        </a:ln>
        <a:effectLst/>
      </c:spPr>
    </c:plotArea>
    <c:plotVisOnly val="1"/>
    <c:dispBlanksAs val="span"/>
    <c:showDLblsOverMax val="1"/>
  </c:chart>
  <c:spPr>
    <a:solidFill>
      <a:srgbClr val="0C142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unfamiliar traffic (held out)</c:v>
                </c:pt>
              </c:strCache>
            </c:strRef>
          </c:tx>
          <c:spPr>
            <a:solidFill>
              <a:srgbClr val="E0564F"/>
            </a:solidFill>
            <a:effectLst/>
          </c:spPr>
          <c:invertIfNegative val="0"/>
          <c:dLbls>
            <c:numFmt formatCode="\+0.000;\−0.000" sourceLinked="0"/>
            <c:spPr>
              <a:noFill/>
              <a:ln>
                <a:noFill/>
              </a:ln>
              <a:effectLst/>
            </c:spPr>
            <c:txPr>
              <a:bodyPr/>
              <a:lstStyle/>
              <a:p>
                <a:pPr>
                  <a:defRPr sz="900" b="0" i="0" u="none" strike="noStrike">
                    <a:solidFill>
                      <a:srgbClr val="9DAFC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Qwen3-32B</c:v>
                </c:pt>
                <c:pt idx="1">
                  <c:v>Qwen3-8B</c:v>
                </c:pt>
                <c:pt idx="2">
                  <c:v>Qwen3-4B</c:v>
                </c:pt>
                <c:pt idx="3">
                  <c:v>SmolLM3-3B</c:v>
                </c:pt>
                <c:pt idx="4">
                  <c:v>Qwen2.5-1.5B</c:v>
                </c:pt>
                <c:pt idx="5">
                  <c:v>SmolLM2-1.7B</c:v>
                </c:pt>
              </c:strCache>
            </c:strRef>
          </c:cat>
          <c:val>
            <c:numRef>
              <c:f>Sheet1!$B$2:$B$7</c:f>
              <c:numCache>
                <c:formatCode>General</c:formatCode>
                <c:ptCount val="6"/>
                <c:pt idx="0">
                  <c:v>-0.11700000000000001</c:v>
                </c:pt>
                <c:pt idx="1">
                  <c:v>-0.10100000000000001</c:v>
                </c:pt>
                <c:pt idx="2">
                  <c:v>-0.15</c:v>
                </c:pt>
                <c:pt idx="3">
                  <c:v>-8.6999999999999994E-2</c:v>
                </c:pt>
                <c:pt idx="4">
                  <c:v>-3.9E-2</c:v>
                </c:pt>
                <c:pt idx="5">
                  <c:v>0.04</c:v>
                </c:pt>
              </c:numCache>
            </c:numRef>
          </c:val>
          <c:extLst>
            <c:ext xmlns:c16="http://schemas.microsoft.com/office/drawing/2014/chart" uri="{C3380CC4-5D6E-409C-BE32-E72D297353CC}">
              <c16:uniqueId val="{00000000-A681-A449-8A21-6CD6945D200A}"/>
            </c:ext>
          </c:extLst>
        </c:ser>
        <c:ser>
          <c:idx val="1"/>
          <c:order val="1"/>
          <c:tx>
            <c:strRef>
              <c:f>Sheet1!$C$1</c:f>
              <c:strCache>
                <c:ptCount val="1"/>
                <c:pt idx="0">
                  <c:v>familiar traffic (trained on)</c:v>
                </c:pt>
              </c:strCache>
            </c:strRef>
          </c:tx>
          <c:spPr>
            <a:solidFill>
              <a:srgbClr val="8FB3DE"/>
            </a:solidFill>
            <a:effectLst/>
          </c:spPr>
          <c:invertIfNegative val="0"/>
          <c:dLbls>
            <c:numFmt formatCode="\+0.000;\−0.000" sourceLinked="0"/>
            <c:spPr>
              <a:noFill/>
              <a:ln>
                <a:noFill/>
              </a:ln>
              <a:effectLst/>
            </c:spPr>
            <c:txPr>
              <a:bodyPr/>
              <a:lstStyle/>
              <a:p>
                <a:pPr>
                  <a:defRPr sz="900" b="0" i="0" u="none" strike="noStrike">
                    <a:solidFill>
                      <a:srgbClr val="9DAFC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Qwen3-32B</c:v>
                </c:pt>
                <c:pt idx="1">
                  <c:v>Qwen3-8B</c:v>
                </c:pt>
                <c:pt idx="2">
                  <c:v>Qwen3-4B</c:v>
                </c:pt>
                <c:pt idx="3">
                  <c:v>SmolLM3-3B</c:v>
                </c:pt>
                <c:pt idx="4">
                  <c:v>Qwen2.5-1.5B</c:v>
                </c:pt>
                <c:pt idx="5">
                  <c:v>SmolLM2-1.7B</c:v>
                </c:pt>
              </c:strCache>
            </c:strRef>
          </c:cat>
          <c:val>
            <c:numRef>
              <c:f>Sheet1!$C$2:$C$7</c:f>
              <c:numCache>
                <c:formatCode>General</c:formatCode>
                <c:ptCount val="6"/>
                <c:pt idx="0">
                  <c:v>3.6999999999999998E-2</c:v>
                </c:pt>
                <c:pt idx="1">
                  <c:v>7.5999999999999998E-2</c:v>
                </c:pt>
                <c:pt idx="2">
                  <c:v>9.8000000000000004E-2</c:v>
                </c:pt>
                <c:pt idx="3">
                  <c:v>0.313</c:v>
                </c:pt>
                <c:pt idx="4">
                  <c:v>0.35399999999999998</c:v>
                </c:pt>
                <c:pt idx="5">
                  <c:v>0.52800000000000002</c:v>
                </c:pt>
              </c:numCache>
            </c:numRef>
          </c:val>
          <c:extLst>
            <c:ext xmlns:c16="http://schemas.microsoft.com/office/drawing/2014/chart" uri="{C3380CC4-5D6E-409C-BE32-E72D297353CC}">
              <c16:uniqueId val="{00000001-A681-A449-8A21-6CD6945D200A}"/>
            </c:ext>
          </c:extLst>
        </c:ser>
        <c:dLbls>
          <c:showLegendKey val="0"/>
          <c:showVal val="1"/>
          <c:showCatName val="0"/>
          <c:showSerName val="0"/>
          <c:showPercent val="0"/>
          <c:showBubbleSize val="0"/>
        </c:dLbls>
        <c:gapWidth val="24"/>
        <c:axId val="2094734554"/>
        <c:axId val="2094734552"/>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9DAFC7"/>
                </a:solidFill>
                <a:latin typeface="Calibri"/>
              </a:defRPr>
            </a:pPr>
            <a:endParaRPr lang="en-US"/>
          </a:p>
        </c:txPr>
        <c:crossAx val="2094734552"/>
        <c:crosses val="autoZero"/>
        <c:auto val="1"/>
        <c:lblAlgn val="ctr"/>
        <c:lblOffset val="100"/>
        <c:noMultiLvlLbl val="1"/>
      </c:catAx>
      <c:valAx>
        <c:axId val="2094734552"/>
        <c:scaling>
          <c:orientation val="minMax"/>
          <c:max val="0.66"/>
          <c:min val="-0.3"/>
        </c:scaling>
        <c:delete val="1"/>
        <c:axPos val="b"/>
        <c:numFmt formatCode="General" sourceLinked="0"/>
        <c:majorTickMark val="out"/>
        <c:minorTickMark val="none"/>
        <c:tickLblPos val="low"/>
        <c:crossAx val="2094734554"/>
        <c:crosses val="autoZero"/>
        <c:crossBetween val="between"/>
      </c:valAx>
      <c:spPr>
        <a:solidFill>
          <a:srgbClr val="0C1424"/>
        </a:solidFill>
        <a:ln>
          <a:noFill/>
        </a:ln>
        <a:effectLst/>
      </c:spPr>
    </c:plotArea>
    <c:legend>
      <c:legendPos val="b"/>
      <c:overlay val="0"/>
      <c:txPr>
        <a:bodyPr/>
        <a:lstStyle/>
        <a:p>
          <a:pPr>
            <a:defRPr sz="950">
              <a:solidFill>
                <a:srgbClr val="9DAFC7"/>
              </a:solidFill>
              <a:latin typeface="Calibri"/>
              <a:cs typeface="Calibri"/>
            </a:defRPr>
          </a:pPr>
          <a:endParaRPr lang="en-US"/>
        </a:p>
      </c:txPr>
    </c:legend>
    <c:plotVisOnly val="1"/>
    <c:dispBlanksAs val="span"/>
    <c:showDLblsOverMax val="1"/>
  </c:chart>
  <c:spPr>
    <a:solidFill>
      <a:srgbClr val="0C142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hosted ceiling</c:v>
                </c:pt>
              </c:strCache>
            </c:strRef>
          </c:tx>
          <c:spPr>
            <a:ln w="28575" cap="flat">
              <a:solidFill>
                <a:srgbClr val="E0564F"/>
              </a:solidFill>
              <a:prstDash val="solid"/>
              <a:round/>
            </a:ln>
            <a:effectLst/>
          </c:spPr>
          <c:marker>
            <c:symbol val="none"/>
          </c:marker>
          <c:cat>
            <c:strRef>
              <c:f>Sheet1!$A$2:$A$27</c:f>
              <c:strCache>
                <c:ptCount val="26"/>
                <c:pt idx="0">
                  <c:v>0%</c:v>
                </c:pt>
                <c:pt idx="1">
                  <c:v> </c:v>
                </c:pt>
                <c:pt idx="2">
                  <c:v> </c:v>
                </c:pt>
                <c:pt idx="3">
                  <c:v> </c:v>
                </c:pt>
                <c:pt idx="4">
                  <c:v> </c:v>
                </c:pt>
                <c:pt idx="5">
                  <c:v>10%</c:v>
                </c:pt>
                <c:pt idx="6">
                  <c:v> </c:v>
                </c:pt>
                <c:pt idx="7">
                  <c:v> </c:v>
                </c:pt>
                <c:pt idx="8">
                  <c:v> </c:v>
                </c:pt>
                <c:pt idx="9">
                  <c:v> </c:v>
                </c:pt>
                <c:pt idx="10">
                  <c:v>20%</c:v>
                </c:pt>
                <c:pt idx="11">
                  <c:v> </c:v>
                </c:pt>
                <c:pt idx="12">
                  <c:v> </c:v>
                </c:pt>
                <c:pt idx="13">
                  <c:v> </c:v>
                </c:pt>
                <c:pt idx="14">
                  <c:v> </c:v>
                </c:pt>
                <c:pt idx="15">
                  <c:v>30%</c:v>
                </c:pt>
                <c:pt idx="16">
                  <c:v> </c:v>
                </c:pt>
                <c:pt idx="17">
                  <c:v> </c:v>
                </c:pt>
                <c:pt idx="18">
                  <c:v> </c:v>
                </c:pt>
                <c:pt idx="19">
                  <c:v> </c:v>
                </c:pt>
                <c:pt idx="20">
                  <c:v>40%</c:v>
                </c:pt>
                <c:pt idx="21">
                  <c:v> </c:v>
                </c:pt>
                <c:pt idx="22">
                  <c:v> </c:v>
                </c:pt>
                <c:pt idx="23">
                  <c:v> </c:v>
                </c:pt>
                <c:pt idx="24">
                  <c:v> </c:v>
                </c:pt>
                <c:pt idx="25">
                  <c:v>50%</c:v>
                </c:pt>
              </c:strCache>
            </c:strRef>
          </c:cat>
          <c:val>
            <c:numRef>
              <c:f>Sheet1!$B$2:$B$27</c:f>
              <c:numCache>
                <c:formatCode>General</c:formatCode>
                <c:ptCount val="26"/>
                <c:pt idx="0">
                  <c:v>90</c:v>
                </c:pt>
                <c:pt idx="1">
                  <c:v>90</c:v>
                </c:pt>
                <c:pt idx="2">
                  <c:v>90</c:v>
                </c:pt>
                <c:pt idx="3">
                  <c:v>90</c:v>
                </c:pt>
                <c:pt idx="4">
                  <c:v>90</c:v>
                </c:pt>
                <c:pt idx="5">
                  <c:v>90</c:v>
                </c:pt>
                <c:pt idx="6">
                  <c:v>90</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numCache>
            </c:numRef>
          </c:val>
          <c:smooth val="0"/>
          <c:extLst>
            <c:ext xmlns:c16="http://schemas.microsoft.com/office/drawing/2014/chart" uri="{C3380CC4-5D6E-409C-BE32-E72D297353CC}">
              <c16:uniqueId val="{00000000-560C-5F40-8097-F5C7CD7BD784}"/>
            </c:ext>
          </c:extLst>
        </c:ser>
        <c:ser>
          <c:idx val="1"/>
          <c:order val="1"/>
          <c:tx>
            <c:strRef>
              <c:f>Sheet1!$C$1</c:f>
              <c:strCache>
                <c:ptCount val="1"/>
                <c:pt idx="0">
                  <c:v>escalation curve</c:v>
                </c:pt>
              </c:strCache>
            </c:strRef>
          </c:tx>
          <c:spPr>
            <a:ln w="28575" cap="flat">
              <a:solidFill>
                <a:srgbClr val="8FB3DE"/>
              </a:solidFill>
              <a:prstDash val="solid"/>
              <a:round/>
            </a:ln>
            <a:effectLst/>
          </c:spPr>
          <c:marker>
            <c:symbol val="none"/>
          </c:marker>
          <c:cat>
            <c:strRef>
              <c:f>Sheet1!$A$2:$A$27</c:f>
              <c:strCache>
                <c:ptCount val="26"/>
                <c:pt idx="0">
                  <c:v>0%</c:v>
                </c:pt>
                <c:pt idx="1">
                  <c:v> </c:v>
                </c:pt>
                <c:pt idx="2">
                  <c:v> </c:v>
                </c:pt>
                <c:pt idx="3">
                  <c:v> </c:v>
                </c:pt>
                <c:pt idx="4">
                  <c:v> </c:v>
                </c:pt>
                <c:pt idx="5">
                  <c:v>10%</c:v>
                </c:pt>
                <c:pt idx="6">
                  <c:v> </c:v>
                </c:pt>
                <c:pt idx="7">
                  <c:v> </c:v>
                </c:pt>
                <c:pt idx="8">
                  <c:v> </c:v>
                </c:pt>
                <c:pt idx="9">
                  <c:v> </c:v>
                </c:pt>
                <c:pt idx="10">
                  <c:v>20%</c:v>
                </c:pt>
                <c:pt idx="11">
                  <c:v> </c:v>
                </c:pt>
                <c:pt idx="12">
                  <c:v> </c:v>
                </c:pt>
                <c:pt idx="13">
                  <c:v> </c:v>
                </c:pt>
                <c:pt idx="14">
                  <c:v> </c:v>
                </c:pt>
                <c:pt idx="15">
                  <c:v>30%</c:v>
                </c:pt>
                <c:pt idx="16">
                  <c:v> </c:v>
                </c:pt>
                <c:pt idx="17">
                  <c:v> </c:v>
                </c:pt>
                <c:pt idx="18">
                  <c:v> </c:v>
                </c:pt>
                <c:pt idx="19">
                  <c:v> </c:v>
                </c:pt>
                <c:pt idx="20">
                  <c:v>40%</c:v>
                </c:pt>
                <c:pt idx="21">
                  <c:v> </c:v>
                </c:pt>
                <c:pt idx="22">
                  <c:v> </c:v>
                </c:pt>
                <c:pt idx="23">
                  <c:v> </c:v>
                </c:pt>
                <c:pt idx="24">
                  <c:v> </c:v>
                </c:pt>
                <c:pt idx="25">
                  <c:v>50%</c:v>
                </c:pt>
              </c:strCache>
            </c:strRef>
          </c:cat>
          <c:val>
            <c:numRef>
              <c:f>Sheet1!$C$2:$C$27</c:f>
              <c:numCache>
                <c:formatCode>General</c:formatCode>
                <c:ptCount val="26"/>
                <c:pt idx="0">
                  <c:v>79.02</c:v>
                </c:pt>
                <c:pt idx="1">
                  <c:v>79.63</c:v>
                </c:pt>
                <c:pt idx="2">
                  <c:v>80.31</c:v>
                </c:pt>
                <c:pt idx="3">
                  <c:v>80.98</c:v>
                </c:pt>
                <c:pt idx="4">
                  <c:v>81.62</c:v>
                </c:pt>
                <c:pt idx="5">
                  <c:v>82.28</c:v>
                </c:pt>
                <c:pt idx="6">
                  <c:v>82.91</c:v>
                </c:pt>
                <c:pt idx="7">
                  <c:v>83.56</c:v>
                </c:pt>
                <c:pt idx="8">
                  <c:v>84.04</c:v>
                </c:pt>
                <c:pt idx="9">
                  <c:v>84.33</c:v>
                </c:pt>
                <c:pt idx="10">
                  <c:v>84.62</c:v>
                </c:pt>
                <c:pt idx="11">
                  <c:v>84.95</c:v>
                </c:pt>
                <c:pt idx="12">
                  <c:v>85.27</c:v>
                </c:pt>
                <c:pt idx="13">
                  <c:v>85.54</c:v>
                </c:pt>
                <c:pt idx="14">
                  <c:v>85.77</c:v>
                </c:pt>
                <c:pt idx="15">
                  <c:v>85.99</c:v>
                </c:pt>
                <c:pt idx="16">
                  <c:v>86.41</c:v>
                </c:pt>
                <c:pt idx="17">
                  <c:v>86.84</c:v>
                </c:pt>
                <c:pt idx="18">
                  <c:v>87.2</c:v>
                </c:pt>
                <c:pt idx="19">
                  <c:v>87.53</c:v>
                </c:pt>
                <c:pt idx="20">
                  <c:v>87.84</c:v>
                </c:pt>
                <c:pt idx="21">
                  <c:v>88.07</c:v>
                </c:pt>
                <c:pt idx="22">
                  <c:v>88.3</c:v>
                </c:pt>
                <c:pt idx="23">
                  <c:v>88.54</c:v>
                </c:pt>
                <c:pt idx="24">
                  <c:v>88.8</c:v>
                </c:pt>
                <c:pt idx="25">
                  <c:v>89.06</c:v>
                </c:pt>
              </c:numCache>
            </c:numRef>
          </c:val>
          <c:smooth val="0"/>
          <c:extLst>
            <c:ext xmlns:c16="http://schemas.microsoft.com/office/drawing/2014/chart" uri="{C3380CC4-5D6E-409C-BE32-E72D297353CC}">
              <c16:uniqueId val="{00000001-560C-5F40-8097-F5C7CD7BD784}"/>
            </c:ext>
          </c:extLst>
        </c:ser>
        <c:ser>
          <c:idx val="2"/>
          <c:order val="2"/>
          <c:tx>
            <c:strRef>
              <c:f>Sheet1!$D$1</c:f>
              <c:strCache>
                <c:ptCount val="1"/>
                <c:pt idx="0">
                  <c:v>in-house floor</c:v>
                </c:pt>
              </c:strCache>
            </c:strRef>
          </c:tx>
          <c:spPr>
            <a:ln w="28575" cap="flat">
              <a:solidFill>
                <a:srgbClr val="4C6D9E"/>
              </a:solidFill>
              <a:prstDash val="solid"/>
              <a:round/>
            </a:ln>
            <a:effectLst/>
          </c:spPr>
          <c:marker>
            <c:symbol val="none"/>
          </c:marker>
          <c:cat>
            <c:strRef>
              <c:f>Sheet1!$A$2:$A$27</c:f>
              <c:strCache>
                <c:ptCount val="26"/>
                <c:pt idx="0">
                  <c:v>0%</c:v>
                </c:pt>
                <c:pt idx="1">
                  <c:v> </c:v>
                </c:pt>
                <c:pt idx="2">
                  <c:v> </c:v>
                </c:pt>
                <c:pt idx="3">
                  <c:v> </c:v>
                </c:pt>
                <c:pt idx="4">
                  <c:v> </c:v>
                </c:pt>
                <c:pt idx="5">
                  <c:v>10%</c:v>
                </c:pt>
                <c:pt idx="6">
                  <c:v> </c:v>
                </c:pt>
                <c:pt idx="7">
                  <c:v> </c:v>
                </c:pt>
                <c:pt idx="8">
                  <c:v> </c:v>
                </c:pt>
                <c:pt idx="9">
                  <c:v> </c:v>
                </c:pt>
                <c:pt idx="10">
                  <c:v>20%</c:v>
                </c:pt>
                <c:pt idx="11">
                  <c:v> </c:v>
                </c:pt>
                <c:pt idx="12">
                  <c:v> </c:v>
                </c:pt>
                <c:pt idx="13">
                  <c:v> </c:v>
                </c:pt>
                <c:pt idx="14">
                  <c:v> </c:v>
                </c:pt>
                <c:pt idx="15">
                  <c:v>30%</c:v>
                </c:pt>
                <c:pt idx="16">
                  <c:v> </c:v>
                </c:pt>
                <c:pt idx="17">
                  <c:v> </c:v>
                </c:pt>
                <c:pt idx="18">
                  <c:v> </c:v>
                </c:pt>
                <c:pt idx="19">
                  <c:v> </c:v>
                </c:pt>
                <c:pt idx="20">
                  <c:v>40%</c:v>
                </c:pt>
                <c:pt idx="21">
                  <c:v> </c:v>
                </c:pt>
                <c:pt idx="22">
                  <c:v> </c:v>
                </c:pt>
                <c:pt idx="23">
                  <c:v> </c:v>
                </c:pt>
                <c:pt idx="24">
                  <c:v> </c:v>
                </c:pt>
                <c:pt idx="25">
                  <c:v>50%</c:v>
                </c:pt>
              </c:strCache>
            </c:strRef>
          </c:cat>
          <c:val>
            <c:numRef>
              <c:f>Sheet1!$D$2:$D$27</c:f>
              <c:numCache>
                <c:formatCode>General</c:formatCode>
                <c:ptCount val="26"/>
                <c:pt idx="0">
                  <c:v>79</c:v>
                </c:pt>
                <c:pt idx="1">
                  <c:v>79</c:v>
                </c:pt>
                <c:pt idx="2">
                  <c:v>79</c:v>
                </c:pt>
                <c:pt idx="3">
                  <c:v>79</c:v>
                </c:pt>
                <c:pt idx="4">
                  <c:v>79</c:v>
                </c:pt>
                <c:pt idx="5">
                  <c:v>79</c:v>
                </c:pt>
                <c:pt idx="6">
                  <c:v>79</c:v>
                </c:pt>
                <c:pt idx="7">
                  <c:v>79</c:v>
                </c:pt>
                <c:pt idx="8">
                  <c:v>79</c:v>
                </c:pt>
                <c:pt idx="9">
                  <c:v>79</c:v>
                </c:pt>
                <c:pt idx="10">
                  <c:v>79</c:v>
                </c:pt>
                <c:pt idx="11">
                  <c:v>79</c:v>
                </c:pt>
                <c:pt idx="12">
                  <c:v>79</c:v>
                </c:pt>
                <c:pt idx="13">
                  <c:v>79</c:v>
                </c:pt>
                <c:pt idx="14">
                  <c:v>79</c:v>
                </c:pt>
                <c:pt idx="15">
                  <c:v>79</c:v>
                </c:pt>
                <c:pt idx="16">
                  <c:v>79</c:v>
                </c:pt>
                <c:pt idx="17">
                  <c:v>79</c:v>
                </c:pt>
                <c:pt idx="18">
                  <c:v>79</c:v>
                </c:pt>
                <c:pt idx="19">
                  <c:v>79</c:v>
                </c:pt>
                <c:pt idx="20">
                  <c:v>79</c:v>
                </c:pt>
                <c:pt idx="21">
                  <c:v>79</c:v>
                </c:pt>
                <c:pt idx="22">
                  <c:v>79</c:v>
                </c:pt>
                <c:pt idx="23">
                  <c:v>79</c:v>
                </c:pt>
                <c:pt idx="24">
                  <c:v>79</c:v>
                </c:pt>
                <c:pt idx="25">
                  <c:v>79</c:v>
                </c:pt>
              </c:numCache>
            </c:numRef>
          </c:val>
          <c:smooth val="0"/>
          <c:extLst>
            <c:ext xmlns:c16="http://schemas.microsoft.com/office/drawing/2014/chart" uri="{C3380CC4-5D6E-409C-BE32-E72D297353CC}">
              <c16:uniqueId val="{00000002-560C-5F40-8097-F5C7CD7BD78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9DAFC7"/>
                </a:solidFill>
                <a:latin typeface="Calibri"/>
              </a:defRPr>
            </a:pPr>
            <a:endParaRPr lang="en-US"/>
          </a:p>
        </c:txPr>
        <c:crossAx val="2094734552"/>
        <c:crosses val="autoZero"/>
        <c:auto val="1"/>
        <c:lblAlgn val="ctr"/>
        <c:lblOffset val="100"/>
        <c:noMultiLvlLbl val="1"/>
      </c:catAx>
      <c:valAx>
        <c:axId val="2094734552"/>
        <c:scaling>
          <c:orientation val="minMax"/>
          <c:max val="91"/>
          <c:min val="78"/>
        </c:scaling>
        <c:delete val="0"/>
        <c:axPos val="l"/>
        <c:majorGridlines>
          <c:spPr>
            <a:ln w="9525" cap="flat">
              <a:solidFill>
                <a:srgbClr val="1C2C4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6B7F9F"/>
                </a:solidFill>
                <a:latin typeface="Calibri"/>
              </a:defRPr>
            </a:pPr>
            <a:endParaRPr lang="en-US"/>
          </a:p>
        </c:txPr>
        <c:crossAx val="2094734554"/>
        <c:crosses val="autoZero"/>
        <c:crossBetween val="between"/>
        <c:majorUnit val="3"/>
      </c:valAx>
      <c:spPr>
        <a:solidFill>
          <a:srgbClr val="0C1424"/>
        </a:solidFill>
        <a:ln>
          <a:noFill/>
        </a:ln>
        <a:effectLst/>
      </c:spPr>
    </c:plotArea>
    <c:plotVisOnly val="1"/>
    <c:dispBlanksAs val="span"/>
    <c:showDLblsOverMax val="1"/>
  </c:chart>
  <c:spPr>
    <a:solidFill>
      <a:srgbClr val="0C1424"/>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039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on this slide. The framing sentence is: we need a safety guardrail in front of
every request our assistant handles, and there are two ways to get one -- call a hosted
frontier model, or run a small open-weights model ourselves. This deck prices that choice.
Say up front what makes the comparison trustworthy, because it is the thing that makes the rest
land: every configuration is scored on the SAME rows, and every one is re-tuned to the SAME
false-alarm rate before we compare catch rates. Without the second step you can make any guard
look good by letting it cry wolf more often.
Do not promise a single recommendation yet. Slide 3 gives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establish that this is a sourcing decision with four binding
constraints, not a model-quality question. If someone in the room only cares about accuracy,
this is where you widen it.
The residency bullet is the one that tends to change the conversation with legal. Our mortgage
prompts contain borrower detail; sending them to a third party is a GLBA question. That is not
a reason to refuse hosted models, but it is a reason the decision cannot be made by the ML team
alone.
If asked why not just trust published guard benchmarks: because they measure general web
safety, and our failure mode is regulated-domain advice where context decides the label. We
have direct evidence in the technical report that guard rankings reorder when the benchmark
changes -- that is the report's title finding.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Everything after it is evidence.
The three numbers, precisely, for anyone who asks:
  - catch-rate gap +0.066 at a matched 5% false-alarm rate, 95% interval
    [+0.043, +0.089] -- the interval excludes zero, so this is not noise.
  - 77x is median-to-median: about 1,553 ms hosted against
    10-25 ms for a small guard on our own GPU.
  - $0.80 per thousand prompts is billed tokens at public list prices, and it
    excludes the GPU you already own on the self-hosted side. It is an estimate, not an
    invoice.
The recommendation is deliberately a split, not a winner. If pushed for one answer: hosted,
because the accuracy difference is the largest single effect anywhere in this study. But the
regulated path is exactly where we cannot take it, which is why the split is the honest answer
rather than a hedge.
Third bullet matters for planning. Someone will propose "just fine-tune ours" or "just use a
bigger one". Both were tested. Neither worked. Slides 5 and 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claim: hosted is better, by about ten points of catch rate, and the comparison is fair.
Exact figures if challenged: gpt-5.4 (low) .896 against Qwen3-32B
.830, difference +0.066 with 95% interval [+0.043, +0.089].
Against the strongest model in our locked research panel it is +0.109
[+0.077, +0.139]. Both intervals exclude zero. These are paired comparisons on identical
rows, which removes row-difficulty as an explanation.
The coarse-confidence point is worth making unprompted, because it is the one place we
disadvantaged the hosted model and it strengthens rather than weakens the conclusion.
If asked about the labels: external, expert-annotated, and a stronger labelling tier than
anything we produced ourselves. We did not grade our own homework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the sign split, not the average. If you quote only the mean change
(+0.005) you will mislead the room -- it is a small number sitting on top of
swings from -0.059 to +0.122.
Mechanism, in plain terms: fine-tuning on a fixed set of sources specialises the model to
those sources. It buys a lot of accuracy on traffic that looks like the training data and
gives some back on traffic that does not. Our measurements say the trade gets worse as the
starting model gets stronger -- the strongest model we tuned gained the least and lost the
most.
This is the central finding of the underlying research, reproduced here on external
expert-annotated data rather than on our own panel, which is a harder test.
If asked "did you tune it badly": five independent training runs per model, one recipe, and
the same recipe that produces large gains on in-distribution traffic. The gains are real; they
just do not transfer.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claim: scale is not the escape hatch either.
Exact numbers: 4B to 32B is +0.062, interval [+0.039, +0.084]. The remaining gap
to hosted from 32B is +0.066, interval [+0.043, +0.089]. So an eightfold
parameter increase bought slightly less than what was still missing.
The 8B row is worth flagging honestly: it came out below 4B, but the interval
([-0.050, +0.001]) includes zero, so the correct statement is "no gain", not "worse".
Do not oversell it -- but do use it to make the point that size and guard quality are not
tightly coupled.
The build-plan consequence is the part an executive audience should leave with. A 32B guard on
every inbound request is a serving cost close to the thing we were trying to avoid. If we are
paying that, the hosted option deserves another look on cost grounds alone.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slide for the rule on slide 3. One claim: the relationship is smooth and
steep early, so escalation is a dial rather than an architecture decision.
Mechanism, and it is why this works at all: the requests chosen for escalation are the ones
nearest the in-house guard's own decision line -- exactly the cases where a second opinion can
change the answer. Escalating confident rows adds cost and no accuracy.
Method, if challenged. One global false-alarm budget across the whole curve, so every point is
comparable and we are not buying recall by alarming more. The two guards are fused on RANK, not
raw score, because a logit margin and a self-reported 0-100 risk are not on the same scale. We
tried a per-band threshold first and rejected it: with a small escalated slice there are too few
deferred negatives to place a stable threshold, and the curve went non-monotone for purely
numerical reasons. The figure stops at 50% because past that you have outsourced the majority;
the upper rule shows where full escalation lands.
Cost is linear in the escalated share, so a fifth of the traffic is a fifth of the bill.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"just ensemble the small models" is the most common suggestion in the
room, and it deserves a measured answer rather than an opinion.
Row by row. Averaging the five tuning runs of a single guard is free -- the adapters already
exist -- and it reliably adds about +0.026. Do that regardless; it is also how the
tuned 32B recovers what fine-tuning cost it.
Averaging all 18 guards equally is WORSE than just using the best one
(.791 against .834). With members that differ this much in
quality, equal weights dilute the strong ones. If someone proposes "ensemble everything", this
is the row to show them.
A fitted weighted blend does beat any single guard, reaching .850, about a quarter of
the way to hosted. Two costs are easy to miss: 18 forward passes per request, and
it needs LABELLED in-domain data to fit the weights -- which is usually the thing a team reaching
for an ensemble does not have. We scored it 5-fold out-of-fold so it is not
grading its own homework, and its fitted weights include a negative coefficient on one guard,
which means it is exploiting error structure that may not survive a change of traffic.
The last row is the point: escalating the uncertain fifth reaches 87%, beating the whole blend
at a fraction of the cost. So ensembling is not the route -- unless lane 1 applies and nothing
may leave, in which case it is the in-house ceiling and worth building.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down the table, then land on the two callouts, which are the non-obvious costs.
Latency: 1,553 ms median measured under load at high concurrency, so treat it as
an upper bound for a single request; the small-model figure is a batched GPU measurement. Even
allowing for that, the ratio is roughly 77x.
Cost: billed tokens at public list prices. It excludes the amortised GPU on the self-hosted
side, which is exactly why the comparison is about where to spend rather than a like-for-like
price.
The refusal finding is the one to say slowly. We saw a set of prompts refused by the provider's
own input filter before the model ever saw them, and the refusals were not reproducible --
different runs, different outcomes, no row refused every time. For a control that has to be
auditable, "sometimes declines, for reasons we cannot inspect or appeal" is a compliance
property, not a technical footnote.
Close on the scoping sentence. The answer is a split, and this slide is why.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did not exist in the plan. It fell out of the scale experiment and is probably the
most commercially useful thing in the deck.
The mechanism: fine-tuning specialises. It buys accuracy on the sources you trained on and
withdraws it from sources you did not. A bigger base model arrives with broad competence
already and does not have to trade any of it away. For a guardrail, the traffic you did not
anticipate is precisely the traffic that matters, so a technique that trades away
unfamiliar-traffic accuracy is badly matched to the job.
Numbers are in the technical report; the honest caveat is on the slide. Comparing a 32B untuned
model to a tuned 4B is a deployment-choice comparison, not a controlled one -- the 32B costs
much more to serve. What we can say is that the tuning route did not close the vendor gap and
made held-out accuracy worse on most models, while the size route at least moved in the right
direction on both regimes.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and do not apologise through it. Naming the limits is what makes the
recommendation on slide 3 credible.
The first bullet is the most important and the most self-undermining, which is why it belongs
here: the underlying research finding is that guard rankings depend on the benchmark. We are
handing you a recommendation derived from one benchmark. It is external and expert-annotated,
which is the best tier available to us, but a different instrument could reorder the middle of
the table. It is unlikely to reverse a ten-point gap.
The pinning point matters more than it sounds. A hosted model can change under a fixed
deployment; that is a change-control problem for a compliance control. Our own checkpoints are
pinned to a content hash and will reproduce in a year.
Close on the final callout: the thing worth funding is the measuring instrument for our actual
domain, not more guard comparisons on general safety.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first two items need no budget. The third frees capacity. The fourth is the
only one that asks for money.
Push for a decision on the right-hand callout before the meeting ends -- whether prompts
containing borrower information may go to a third-party API. Everything about the split
architecture depends on that answer, and it is not ours to make.
The refusal item is the one to insist on regardless of the rest. Today, when the provider
declines to evaluate a prompt, our pipeline records no verdict. That is indistinguishable from
a pass unless we say otherwise, and the prompts most likely to be refused are the ones most
likely to be genuinely unsafe.
If asked for the whole thing in one sentence: hosted is about ten points better at catching
unsafe prompts and we should use it wherever the data is allowed to travel, we should stop
expecting to close that gap ourselves, and the thing worth building is a benchmark for our own
domain rather than another guard.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A"/>
        </a:solidFill>
        <a:effectLst/>
      </p:bgPr>
    </p:bg>
    <p:spTree>
      <p:nvGrpSpPr>
        <p:cNvPr id="1" name=""/>
        <p:cNvGrpSpPr/>
        <p:nvPr/>
      </p:nvGrpSpPr>
      <p:grpSpPr>
        <a:xfrm>
          <a:off x="0" y="0"/>
          <a:ext cx="0" cy="0"/>
          <a:chOff x="0" y="0"/>
          <a:chExt cx="0" cy="0"/>
        </a:xfrm>
      </p:grpSpPr>
      <p:sp>
        <p:nvSpPr>
          <p:cNvPr id="3" name="Shape 0"/>
          <p:cNvSpPr/>
          <p:nvPr/>
        </p:nvSpPr>
        <p:spPr>
          <a:xfrm>
            <a:off x="6492240" y="1188720"/>
            <a:ext cx="4480560" cy="4480560"/>
          </a:xfrm>
          <a:prstGeom prst="ellipse">
            <a:avLst/>
          </a:prstGeom>
          <a:ln w="15875">
            <a:solidFill>
              <a:srgbClr val="16233A"/>
            </a:solidFill>
            <a:prstDash val="solid"/>
          </a:ln>
        </p:spPr>
        <p:txBody>
          <a:bodyPr/>
          <a:lstStyle/>
          <a:p>
            <a:endParaRPr lang="en-US"/>
          </a:p>
        </p:txBody>
      </p:sp>
      <p:sp>
        <p:nvSpPr>
          <p:cNvPr id="4" name="Shape 1"/>
          <p:cNvSpPr/>
          <p:nvPr/>
        </p:nvSpPr>
        <p:spPr>
          <a:xfrm>
            <a:off x="7086600" y="1783080"/>
            <a:ext cx="3291840" cy="3291840"/>
          </a:xfrm>
          <a:prstGeom prst="ellipse">
            <a:avLst/>
          </a:prstGeom>
          <a:ln w="15875">
            <a:solidFill>
              <a:srgbClr val="16233A"/>
            </a:solidFill>
            <a:prstDash val="solid"/>
          </a:ln>
        </p:spPr>
        <p:txBody>
          <a:bodyPr/>
          <a:lstStyle/>
          <a:p>
            <a:endParaRPr lang="en-US"/>
          </a:p>
        </p:txBody>
      </p:sp>
      <p:sp>
        <p:nvSpPr>
          <p:cNvPr id="5" name="Shape 2"/>
          <p:cNvSpPr/>
          <p:nvPr/>
        </p:nvSpPr>
        <p:spPr>
          <a:xfrm>
            <a:off x="7680960" y="2377440"/>
            <a:ext cx="2103120" cy="2103120"/>
          </a:xfrm>
          <a:prstGeom prst="ellipse">
            <a:avLst/>
          </a:prstGeom>
          <a:ln w="12700">
            <a:solidFill>
              <a:srgbClr val="3A2226"/>
            </a:solidFill>
            <a:prstDash val="solid"/>
          </a:ln>
        </p:spPr>
        <p:txBody>
          <a:bodyPr/>
          <a:lstStyle/>
          <a:p>
            <a:endParaRPr lang="en-US"/>
          </a:p>
        </p:txBody>
      </p:sp>
      <p:sp>
        <p:nvSpPr>
          <p:cNvPr id="6" name="Shape 3"/>
          <p:cNvSpPr/>
          <p:nvPr/>
        </p:nvSpPr>
        <p:spPr>
          <a:xfrm>
            <a:off x="8604504" y="3300984"/>
            <a:ext cx="256032" cy="256032"/>
          </a:xfrm>
          <a:prstGeom prst="ellipse">
            <a:avLst/>
          </a:prstGeom>
          <a:solidFill>
            <a:srgbClr val="E0564F"/>
          </a:solidFill>
          <a:ln w="12700">
            <a:solidFill>
              <a:srgbClr val="333333"/>
            </a:solidFill>
            <a:prstDash val="solid"/>
          </a:ln>
        </p:spPr>
        <p:txBody>
          <a:bodyPr/>
          <a:lstStyle/>
          <a:p>
            <a:endParaRPr lang="en-US"/>
          </a:p>
        </p:txBody>
      </p:sp>
      <p:sp>
        <p:nvSpPr>
          <p:cNvPr id="7" name="Text 4"/>
          <p:cNvSpPr/>
          <p:nvPr/>
        </p:nvSpPr>
        <p:spPr>
          <a:xfrm>
            <a:off x="777240" y="1938528"/>
            <a:ext cx="7498080" cy="274320"/>
          </a:xfrm>
          <a:prstGeom prst="rect">
            <a:avLst/>
          </a:prstGeom>
          <a:noFill/>
          <a:ln/>
        </p:spPr>
        <p:txBody>
          <a:bodyPr wrap="square" lIns="0" tIns="0" rIns="0" bIns="0" rtlCol="0" anchor="ctr"/>
          <a:lstStyle/>
          <a:p>
            <a:pPr marL="0" indent="0">
              <a:buNone/>
            </a:pPr>
            <a:r>
              <a:rPr lang="en-US" sz="1100" b="1" kern="0" spc="300" dirty="0">
                <a:solidFill>
                  <a:srgbClr val="E0564F"/>
                </a:solidFill>
                <a:latin typeface="Calibri" pitchFamily="34" charset="0"/>
                <a:ea typeface="Calibri" pitchFamily="34" charset="-122"/>
                <a:cs typeface="Calibri" pitchFamily="34" charset="-120"/>
              </a:rPr>
              <a:t>GUARDRAIL SOURCING DECISION</a:t>
            </a:r>
            <a:endParaRPr lang="en-US" sz="1100" dirty="0"/>
          </a:p>
        </p:txBody>
      </p:sp>
      <p:sp>
        <p:nvSpPr>
          <p:cNvPr id="8" name="Text 5"/>
          <p:cNvSpPr/>
          <p:nvPr/>
        </p:nvSpPr>
        <p:spPr>
          <a:xfrm>
            <a:off x="777240" y="2340864"/>
            <a:ext cx="7863840" cy="1737360"/>
          </a:xfrm>
          <a:prstGeom prst="rect">
            <a:avLst/>
          </a:prstGeom>
          <a:noFill/>
          <a:ln/>
        </p:spPr>
        <p:txBody>
          <a:bodyPr wrap="square" lIns="0" tIns="0" rIns="0" bIns="0" rtlCol="0" anchor="t"/>
          <a:lstStyle/>
          <a:p>
            <a:pPr marL="0" indent="0">
              <a:lnSpc>
                <a:spcPct val="105000"/>
              </a:lnSpc>
              <a:buNone/>
            </a:pPr>
            <a:r>
              <a:rPr lang="en-US" sz="4000" b="1" dirty="0">
                <a:solidFill>
                  <a:srgbClr val="EEF2F8"/>
                </a:solidFill>
                <a:latin typeface="Cambria" pitchFamily="34" charset="0"/>
                <a:ea typeface="Cambria" pitchFamily="34" charset="-122"/>
                <a:cs typeface="Cambria" pitchFamily="34" charset="-120"/>
              </a:rPr>
              <a:t>Do we buy a hosted guardrail,</a:t>
            </a:r>
            <a:endParaRPr lang="en-US" sz="4000" dirty="0"/>
          </a:p>
          <a:p>
            <a:pPr marL="0" indent="0">
              <a:lnSpc>
                <a:spcPct val="105000"/>
              </a:lnSpc>
              <a:buNone/>
            </a:pPr>
            <a:r>
              <a:rPr lang="en-US" sz="4000" b="1" dirty="0">
                <a:solidFill>
                  <a:srgbClr val="EEF2F8"/>
                </a:solidFill>
                <a:latin typeface="Cambria" pitchFamily="34" charset="0"/>
                <a:ea typeface="Cambria" pitchFamily="34" charset="-122"/>
                <a:cs typeface="Cambria" pitchFamily="34" charset="-120"/>
              </a:rPr>
              <a:t>or run our own?</a:t>
            </a:r>
            <a:endParaRPr lang="en-US" sz="4000" dirty="0"/>
          </a:p>
        </p:txBody>
      </p:sp>
      <p:sp>
        <p:nvSpPr>
          <p:cNvPr id="9" name="Text 6"/>
          <p:cNvSpPr/>
          <p:nvPr/>
        </p:nvSpPr>
        <p:spPr>
          <a:xfrm>
            <a:off x="777240" y="4224528"/>
            <a:ext cx="7040880" cy="731520"/>
          </a:xfrm>
          <a:prstGeom prst="rect">
            <a:avLst/>
          </a:prstGeom>
          <a:noFill/>
          <a:ln/>
        </p:spPr>
        <p:txBody>
          <a:bodyPr wrap="square" lIns="0" tIns="0" rIns="0" bIns="0" rtlCol="0" anchor="t"/>
          <a:lstStyle/>
          <a:p>
            <a:pPr marL="0" indent="0">
              <a:lnSpc>
                <a:spcPct val="120000"/>
              </a:lnSpc>
              <a:buNone/>
            </a:pPr>
            <a:r>
              <a:rPr lang="en-US" sz="1350" dirty="0">
                <a:solidFill>
                  <a:srgbClr val="9DAFC7"/>
                </a:solidFill>
                <a:latin typeface="Calibri" pitchFamily="34" charset="0"/>
                <a:ea typeface="Calibri" pitchFamily="34" charset="-122"/>
                <a:cs typeface="Calibri" pitchFamily="34" charset="-120"/>
              </a:rPr>
              <a:t>Measured on 2,275 expert-annotated finance, healthcare and law prompts. Eight guard configurations, identical rows, identical false-alarm budget.</a:t>
            </a:r>
            <a:endParaRPr lang="en-US" sz="1350" dirty="0"/>
          </a:p>
        </p:txBody>
      </p:sp>
      <p:sp>
        <p:nvSpPr>
          <p:cNvPr id="10" name="Text 7"/>
          <p:cNvSpPr/>
          <p:nvPr/>
        </p:nvSpPr>
        <p:spPr>
          <a:xfrm>
            <a:off x="777240" y="5504688"/>
            <a:ext cx="7040880" cy="274320"/>
          </a:xfrm>
          <a:prstGeom prst="rect">
            <a:avLst/>
          </a:prstGeom>
          <a:noFill/>
          <a:ln/>
        </p:spPr>
        <p:txBody>
          <a:bodyPr wrap="square" lIns="0" tIns="0" rIns="0" bIns="0" rtlCol="0" anchor="ctr"/>
          <a:lstStyle/>
          <a:p>
            <a:pPr marL="0" indent="0">
              <a:buNone/>
            </a:pPr>
            <a:r>
              <a:rPr lang="en-US" sz="1250" b="1" dirty="0">
                <a:solidFill>
                  <a:srgbClr val="EEF2F8"/>
                </a:solidFill>
                <a:latin typeface="Calibri" pitchFamily="34" charset="0"/>
                <a:ea typeface="Calibri" pitchFamily="34" charset="-122"/>
                <a:cs typeface="Calibri" pitchFamily="34" charset="-120"/>
              </a:rPr>
              <a:t>Reza Rahimi, PhD</a:t>
            </a:r>
            <a:endParaRPr lang="en-US" sz="1250" dirty="0"/>
          </a:p>
        </p:txBody>
      </p:sp>
      <p:sp>
        <p:nvSpPr>
          <p:cNvPr id="11" name="Text 8"/>
          <p:cNvSpPr/>
          <p:nvPr/>
        </p:nvSpPr>
        <p:spPr>
          <a:xfrm>
            <a:off x="777240" y="5779008"/>
            <a:ext cx="7040880" cy="256032"/>
          </a:xfrm>
          <a:prstGeom prst="rect">
            <a:avLst/>
          </a:prstGeom>
          <a:noFill/>
          <a:ln/>
        </p:spPr>
        <p:txBody>
          <a:bodyPr wrap="square" lIns="0" tIns="0" rIns="0" bIns="0" rtlCol="0" anchor="ctr"/>
          <a:lstStyle/>
          <a:p>
            <a:pPr marL="0" indent="0">
              <a:buNone/>
            </a:pPr>
            <a:r>
              <a:rPr lang="en-US" sz="1050" dirty="0">
                <a:solidFill>
                  <a:srgbClr val="6B7F9F"/>
                </a:solidFill>
                <a:latin typeface="Calibri" pitchFamily="34" charset="0"/>
                <a:ea typeface="Calibri" pitchFamily="34" charset="-122"/>
                <a:cs typeface="Calibri" pitchFamily="34" charset="-120"/>
              </a:rPr>
              <a:t>Full method, intervals and limitations: the technical report and research deck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THE DECISION</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A guardrail runs on every request, so its cost is a recurring line, not a one-off</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Which means accuracy, latency, unit cost and data residency all bind at once</a:t>
            </a:r>
            <a:endParaRPr lang="en-US" sz="1250" dirty="0"/>
          </a:p>
        </p:txBody>
      </p:sp>
      <p:sp>
        <p:nvSpPr>
          <p:cNvPr id="6" name="Shape 3"/>
          <p:cNvSpPr/>
          <p:nvPr/>
        </p:nvSpPr>
        <p:spPr>
          <a:xfrm>
            <a:off x="795528" y="2286000"/>
            <a:ext cx="310896" cy="310896"/>
          </a:xfrm>
          <a:prstGeom prst="ellipse">
            <a:avLst/>
          </a:prstGeom>
          <a:solidFill>
            <a:srgbClr val="0C1424"/>
          </a:solidFill>
          <a:ln w="12700">
            <a:solidFill>
              <a:srgbClr val="E0564F"/>
            </a:solidFill>
            <a:prstDash val="solid"/>
          </a:ln>
        </p:spPr>
        <p:txBody>
          <a:bodyPr/>
          <a:lstStyle/>
          <a:p>
            <a:endParaRPr lang="en-US"/>
          </a:p>
        </p:txBody>
      </p:sp>
      <p:sp>
        <p:nvSpPr>
          <p:cNvPr id="7" name="Text 4"/>
          <p:cNvSpPr/>
          <p:nvPr/>
        </p:nvSpPr>
        <p:spPr>
          <a:xfrm>
            <a:off x="795528" y="2286000"/>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8" name="Text 5"/>
          <p:cNvSpPr/>
          <p:nvPr/>
        </p:nvSpPr>
        <p:spPr>
          <a:xfrm>
            <a:off x="1307592" y="2258568"/>
            <a:ext cx="4498848" cy="786384"/>
          </a:xfrm>
          <a:prstGeom prst="rect">
            <a:avLst/>
          </a:prstGeom>
          <a:noFill/>
          <a:ln/>
        </p:spPr>
        <p:txBody>
          <a:bodyPr wrap="square" lIns="0" tIns="0" rIns="0" bIns="0" rtlCol="0" anchor="t"/>
          <a:lstStyle/>
          <a:p>
            <a:pPr marL="0" indent="0">
              <a:lnSpc>
                <a:spcPct val="114000"/>
              </a:lnSpc>
              <a:buNone/>
            </a:pPr>
            <a:r>
              <a:rPr lang="en-US" sz="1100" b="1" dirty="0">
                <a:solidFill>
                  <a:srgbClr val="EEF2F8"/>
                </a:solidFill>
                <a:latin typeface="Calibri" pitchFamily="34" charset="0"/>
                <a:ea typeface="Calibri" pitchFamily="34" charset="-122"/>
                <a:cs typeface="Calibri" pitchFamily="34" charset="-120"/>
              </a:rPr>
              <a:t>Accuracy.</a:t>
            </a:r>
            <a:r>
              <a:rPr lang="en-US" sz="1100" dirty="0">
                <a:solidFill>
                  <a:srgbClr val="9DAFC7"/>
                </a:solidFill>
                <a:latin typeface="Calibri" pitchFamily="34" charset="0"/>
                <a:ea typeface="Calibri" pitchFamily="34" charset="-122"/>
                <a:cs typeface="Calibri" pitchFamily="34" charset="-120"/>
              </a:rPr>
              <a:t> A missed unsafe prompt is the incident. A false alarm is a blocked customer. Both are real costs, so the guard must be judged at a fixed alarm rate.</a:t>
            </a:r>
            <a:endParaRPr lang="en-US" sz="1100" dirty="0"/>
          </a:p>
        </p:txBody>
      </p:sp>
      <p:sp>
        <p:nvSpPr>
          <p:cNvPr id="9" name="Shape 6"/>
          <p:cNvSpPr/>
          <p:nvPr/>
        </p:nvSpPr>
        <p:spPr>
          <a:xfrm>
            <a:off x="795528" y="3227832"/>
            <a:ext cx="310896" cy="310896"/>
          </a:xfrm>
          <a:prstGeom prst="ellipse">
            <a:avLst/>
          </a:prstGeom>
          <a:solidFill>
            <a:srgbClr val="0C1424"/>
          </a:solidFill>
          <a:ln w="12700">
            <a:solidFill>
              <a:srgbClr val="E0564F"/>
            </a:solidFill>
            <a:prstDash val="solid"/>
          </a:ln>
        </p:spPr>
        <p:txBody>
          <a:bodyPr/>
          <a:lstStyle/>
          <a:p>
            <a:endParaRPr lang="en-US"/>
          </a:p>
        </p:txBody>
      </p:sp>
      <p:sp>
        <p:nvSpPr>
          <p:cNvPr id="10" name="Text 7"/>
          <p:cNvSpPr/>
          <p:nvPr/>
        </p:nvSpPr>
        <p:spPr>
          <a:xfrm>
            <a:off x="795528" y="3227832"/>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11" name="Text 8"/>
          <p:cNvSpPr/>
          <p:nvPr/>
        </p:nvSpPr>
        <p:spPr>
          <a:xfrm>
            <a:off x="1307592" y="3200400"/>
            <a:ext cx="4498848" cy="621792"/>
          </a:xfrm>
          <a:prstGeom prst="rect">
            <a:avLst/>
          </a:prstGeom>
          <a:noFill/>
          <a:ln/>
        </p:spPr>
        <p:txBody>
          <a:bodyPr wrap="square" lIns="0" tIns="0" rIns="0" bIns="0" rtlCol="0" anchor="t"/>
          <a:lstStyle/>
          <a:p>
            <a:pPr marL="0" indent="0">
              <a:lnSpc>
                <a:spcPct val="114000"/>
              </a:lnSpc>
              <a:buNone/>
            </a:pPr>
            <a:r>
              <a:rPr lang="en-US" sz="1100" b="1" dirty="0">
                <a:solidFill>
                  <a:srgbClr val="EEF2F8"/>
                </a:solidFill>
                <a:latin typeface="Calibri" pitchFamily="34" charset="0"/>
                <a:ea typeface="Calibri" pitchFamily="34" charset="-122"/>
                <a:cs typeface="Calibri" pitchFamily="34" charset="-120"/>
              </a:rPr>
              <a:t>Latency.</a:t>
            </a:r>
            <a:r>
              <a:rPr lang="en-US" sz="1100" dirty="0">
                <a:solidFill>
                  <a:srgbClr val="9DAFC7"/>
                </a:solidFill>
                <a:latin typeface="Calibri" pitchFamily="34" charset="0"/>
                <a:ea typeface="Calibri" pitchFamily="34" charset="-122"/>
                <a:cs typeface="Calibri" pitchFamily="34" charset="-120"/>
              </a:rPr>
              <a:t> It sits in the request path. Whatever it adds, every user pays on every turn.</a:t>
            </a:r>
            <a:endParaRPr lang="en-US" sz="1100" dirty="0"/>
          </a:p>
        </p:txBody>
      </p:sp>
      <p:sp>
        <p:nvSpPr>
          <p:cNvPr id="12" name="Shape 9"/>
          <p:cNvSpPr/>
          <p:nvPr/>
        </p:nvSpPr>
        <p:spPr>
          <a:xfrm>
            <a:off x="795528" y="4023360"/>
            <a:ext cx="310896" cy="310896"/>
          </a:xfrm>
          <a:prstGeom prst="ellipse">
            <a:avLst/>
          </a:prstGeom>
          <a:solidFill>
            <a:srgbClr val="0C1424"/>
          </a:solidFill>
          <a:ln w="12700">
            <a:solidFill>
              <a:srgbClr val="E0564F"/>
            </a:solidFill>
            <a:prstDash val="solid"/>
          </a:ln>
        </p:spPr>
        <p:txBody>
          <a:bodyPr/>
          <a:lstStyle/>
          <a:p>
            <a:endParaRPr lang="en-US"/>
          </a:p>
        </p:txBody>
      </p:sp>
      <p:sp>
        <p:nvSpPr>
          <p:cNvPr id="13" name="Text 10"/>
          <p:cNvSpPr/>
          <p:nvPr/>
        </p:nvSpPr>
        <p:spPr>
          <a:xfrm>
            <a:off x="795528" y="4023360"/>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14" name="Text 11"/>
          <p:cNvSpPr/>
          <p:nvPr/>
        </p:nvSpPr>
        <p:spPr>
          <a:xfrm>
            <a:off x="1307592" y="3995928"/>
            <a:ext cx="4498848" cy="566928"/>
          </a:xfrm>
          <a:prstGeom prst="rect">
            <a:avLst/>
          </a:prstGeom>
          <a:noFill/>
          <a:ln/>
        </p:spPr>
        <p:txBody>
          <a:bodyPr wrap="square" lIns="0" tIns="0" rIns="0" bIns="0" rtlCol="0" anchor="t"/>
          <a:lstStyle/>
          <a:p>
            <a:pPr marL="0" indent="0">
              <a:lnSpc>
                <a:spcPct val="114000"/>
              </a:lnSpc>
              <a:buNone/>
            </a:pPr>
            <a:r>
              <a:rPr lang="en-US" sz="1100" b="1" dirty="0">
                <a:solidFill>
                  <a:srgbClr val="EEF2F8"/>
                </a:solidFill>
                <a:latin typeface="Calibri" pitchFamily="34" charset="0"/>
                <a:ea typeface="Calibri" pitchFamily="34" charset="-122"/>
                <a:cs typeface="Calibri" pitchFamily="34" charset="-120"/>
              </a:rPr>
              <a:t>Unit cost.</a:t>
            </a:r>
            <a:r>
              <a:rPr lang="en-US" sz="1100" dirty="0">
                <a:solidFill>
                  <a:srgbClr val="9DAFC7"/>
                </a:solidFill>
                <a:latin typeface="Calibri" pitchFamily="34" charset="0"/>
                <a:ea typeface="Calibri" pitchFamily="34" charset="-122"/>
                <a:cs typeface="Calibri" pitchFamily="34" charset="-120"/>
              </a:rPr>
              <a:t> Priced per prompt, it scales with traffic, not with headcount.</a:t>
            </a:r>
            <a:endParaRPr lang="en-US" sz="1100" dirty="0"/>
          </a:p>
        </p:txBody>
      </p:sp>
      <p:sp>
        <p:nvSpPr>
          <p:cNvPr id="15" name="Shape 12"/>
          <p:cNvSpPr/>
          <p:nvPr/>
        </p:nvSpPr>
        <p:spPr>
          <a:xfrm>
            <a:off x="795528" y="4791456"/>
            <a:ext cx="310896" cy="310896"/>
          </a:xfrm>
          <a:prstGeom prst="ellipse">
            <a:avLst/>
          </a:prstGeom>
          <a:solidFill>
            <a:srgbClr val="0C1424"/>
          </a:solidFill>
          <a:ln w="12700">
            <a:solidFill>
              <a:srgbClr val="E0564F"/>
            </a:solidFill>
            <a:prstDash val="solid"/>
          </a:ln>
        </p:spPr>
        <p:txBody>
          <a:bodyPr/>
          <a:lstStyle/>
          <a:p>
            <a:endParaRPr lang="en-US"/>
          </a:p>
        </p:txBody>
      </p:sp>
      <p:sp>
        <p:nvSpPr>
          <p:cNvPr id="16" name="Text 13"/>
          <p:cNvSpPr/>
          <p:nvPr/>
        </p:nvSpPr>
        <p:spPr>
          <a:xfrm>
            <a:off x="795528" y="479145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04</a:t>
            </a:r>
            <a:endParaRPr lang="en-US" sz="1000" dirty="0"/>
          </a:p>
        </p:txBody>
      </p:sp>
      <p:sp>
        <p:nvSpPr>
          <p:cNvPr id="17" name="Text 14"/>
          <p:cNvSpPr/>
          <p:nvPr/>
        </p:nvSpPr>
        <p:spPr>
          <a:xfrm>
            <a:off x="1307592" y="4764024"/>
            <a:ext cx="4498848" cy="786384"/>
          </a:xfrm>
          <a:prstGeom prst="rect">
            <a:avLst/>
          </a:prstGeom>
          <a:noFill/>
          <a:ln/>
        </p:spPr>
        <p:txBody>
          <a:bodyPr wrap="square" lIns="0" tIns="0" rIns="0" bIns="0" rtlCol="0" anchor="t"/>
          <a:lstStyle/>
          <a:p>
            <a:pPr marL="0" indent="0">
              <a:lnSpc>
                <a:spcPct val="114000"/>
              </a:lnSpc>
              <a:buNone/>
            </a:pPr>
            <a:r>
              <a:rPr lang="en-US" sz="1100" b="1" dirty="0">
                <a:solidFill>
                  <a:srgbClr val="EEF2F8"/>
                </a:solidFill>
                <a:latin typeface="Calibri" pitchFamily="34" charset="0"/>
                <a:ea typeface="Calibri" pitchFamily="34" charset="-122"/>
                <a:cs typeface="Calibri" pitchFamily="34" charset="-120"/>
              </a:rPr>
              <a:t>Residency.</a:t>
            </a:r>
            <a:r>
              <a:rPr lang="en-US" sz="1100" dirty="0">
                <a:solidFill>
                  <a:srgbClr val="9DAFC7"/>
                </a:solidFill>
                <a:latin typeface="Calibri" pitchFamily="34" charset="0"/>
                <a:ea typeface="Calibri" pitchFamily="34" charset="-122"/>
                <a:cs typeface="Calibri" pitchFamily="34" charset="-120"/>
              </a:rPr>
              <a:t> In mortgage the prompt itself contains borrower information, so where it travels is a compliance question before it is an engineering one.</a:t>
            </a:r>
            <a:endParaRPr lang="en-US" sz="1100" dirty="0"/>
          </a:p>
        </p:txBody>
      </p:sp>
      <p:sp>
        <p:nvSpPr>
          <p:cNvPr id="18" name="Shape 15"/>
          <p:cNvSpPr/>
          <p:nvPr/>
        </p:nvSpPr>
        <p:spPr>
          <a:xfrm>
            <a:off x="6263640" y="2240280"/>
            <a:ext cx="5148072" cy="1691640"/>
          </a:xfrm>
          <a:prstGeom prst="roundRect">
            <a:avLst>
              <a:gd name="adj" fmla="val 297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9" name="Text 16"/>
          <p:cNvSpPr/>
          <p:nvPr/>
        </p:nvSpPr>
        <p:spPr>
          <a:xfrm>
            <a:off x="6501384" y="2386584"/>
            <a:ext cx="4672584" cy="139903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WHY WE COULD NOT JUST READ THE VENDOR BENCHMARKS</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Public guard leaderboards score general web-safety prompts. Our exposure is regulated-domain advice, where the same words are safe or unsafe depending on who is asking and what was promised.</a:t>
            </a:r>
            <a:endParaRPr lang="en-US" sz="980" dirty="0"/>
          </a:p>
        </p:txBody>
      </p:sp>
      <p:sp>
        <p:nvSpPr>
          <p:cNvPr id="20" name="Shape 17"/>
          <p:cNvSpPr/>
          <p:nvPr/>
        </p:nvSpPr>
        <p:spPr>
          <a:xfrm>
            <a:off x="6263640" y="4224528"/>
            <a:ext cx="5148072" cy="1691640"/>
          </a:xfrm>
          <a:prstGeom prst="roundRect">
            <a:avLst>
              <a:gd name="adj" fmla="val 2973"/>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1" name="Text 18"/>
          <p:cNvSpPr/>
          <p:nvPr/>
        </p:nvSpPr>
        <p:spPr>
          <a:xfrm>
            <a:off x="6501384" y="4370832"/>
            <a:ext cx="4672584" cy="1399032"/>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SO WE MEASURED ON OUR OWN TERMS</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Expert-annotated finance, healthcare and law prompts; every guard scored on identical rows; catch rates compared only at a matched 5% false-alarm budget.</a:t>
            </a:r>
            <a:endParaRPr lang="en-US" sz="980" dirty="0"/>
          </a:p>
        </p:txBody>
      </p:sp>
      <p:sp>
        <p:nvSpPr>
          <p:cNvPr id="22" name="Text 19"/>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3" name="Text 20"/>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THE ANSWER</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Run the small guard in-house on every request. Send out only the ones it is unsure about</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One rule, three lanes. The question is not in-house OR outsource — it is which requests go out</a:t>
            </a:r>
            <a:endParaRPr lang="en-US" sz="1250" dirty="0"/>
          </a:p>
        </p:txBody>
      </p:sp>
      <p:sp>
        <p:nvSpPr>
          <p:cNvPr id="6" name="Shape 3"/>
          <p:cNvSpPr/>
          <p:nvPr/>
        </p:nvSpPr>
        <p:spPr>
          <a:xfrm>
            <a:off x="777240" y="2231136"/>
            <a:ext cx="10634472" cy="420624"/>
          </a:xfrm>
          <a:prstGeom prst="roundRect">
            <a:avLst>
              <a:gd name="adj" fmla="val 10870"/>
            </a:avLst>
          </a:prstGeom>
          <a:solidFill>
            <a:srgbClr val="1E3050"/>
          </a:solidFill>
          <a:ln w="9525">
            <a:solidFill>
              <a:srgbClr val="1E3050"/>
            </a:solidFill>
            <a:prstDash val="solid"/>
          </a:ln>
        </p:spPr>
        <p:txBody>
          <a:bodyPr/>
          <a:lstStyle/>
          <a:p>
            <a:endParaRPr lang="en-US"/>
          </a:p>
        </p:txBody>
      </p:sp>
      <p:sp>
        <p:nvSpPr>
          <p:cNvPr id="7" name="Text 4"/>
          <p:cNvSpPr/>
          <p:nvPr/>
        </p:nvSpPr>
        <p:spPr>
          <a:xfrm>
            <a:off x="923544" y="2231136"/>
            <a:ext cx="1581912" cy="420624"/>
          </a:xfrm>
          <a:prstGeom prst="rect">
            <a:avLst/>
          </a:prstGeom>
          <a:noFill/>
          <a:ln/>
        </p:spPr>
        <p:txBody>
          <a:bodyPr wrap="square" lIns="0" tIns="0" rIns="0" bIns="0" rtlCol="0" anchor="ctr"/>
          <a:lstStyle/>
          <a:p>
            <a:pPr marL="0" indent="0" algn="l">
              <a:buNone/>
            </a:pPr>
            <a:r>
              <a:rPr lang="en-US" sz="980" b="1" kern="0" spc="110" dirty="0">
                <a:solidFill>
                  <a:srgbClr val="BFD8F5"/>
                </a:solidFill>
                <a:latin typeface="Calibri" pitchFamily="34" charset="0"/>
                <a:ea typeface="Calibri" pitchFamily="34" charset="-122"/>
                <a:cs typeface="Calibri" pitchFamily="34" charset="-120"/>
              </a:rPr>
              <a:t>LANE</a:t>
            </a:r>
            <a:endParaRPr lang="en-US" sz="980" dirty="0"/>
          </a:p>
        </p:txBody>
      </p:sp>
      <p:sp>
        <p:nvSpPr>
          <p:cNvPr id="8" name="Text 5"/>
          <p:cNvSpPr/>
          <p:nvPr/>
        </p:nvSpPr>
        <p:spPr>
          <a:xfrm>
            <a:off x="2798064" y="2231136"/>
            <a:ext cx="3273552" cy="420624"/>
          </a:xfrm>
          <a:prstGeom prst="rect">
            <a:avLst/>
          </a:prstGeom>
          <a:noFill/>
          <a:ln/>
        </p:spPr>
        <p:txBody>
          <a:bodyPr wrap="square" lIns="0" tIns="0" rIns="0" bIns="0" rtlCol="0" anchor="ctr"/>
          <a:lstStyle/>
          <a:p>
            <a:pPr marL="0" indent="0" algn="l">
              <a:buNone/>
            </a:pPr>
            <a:r>
              <a:rPr lang="en-US" sz="980" b="1" kern="0" spc="110" dirty="0">
                <a:solidFill>
                  <a:srgbClr val="BFD8F5"/>
                </a:solidFill>
                <a:latin typeface="Calibri" pitchFamily="34" charset="0"/>
                <a:ea typeface="Calibri" pitchFamily="34" charset="-122"/>
                <a:cs typeface="Calibri" pitchFamily="34" charset="-120"/>
              </a:rPr>
              <a:t>WHICH REQUESTS</a:t>
            </a:r>
            <a:endParaRPr lang="en-US" sz="980" dirty="0"/>
          </a:p>
        </p:txBody>
      </p:sp>
      <p:sp>
        <p:nvSpPr>
          <p:cNvPr id="9" name="Text 6"/>
          <p:cNvSpPr/>
          <p:nvPr/>
        </p:nvSpPr>
        <p:spPr>
          <a:xfrm>
            <a:off x="6364224" y="2231136"/>
            <a:ext cx="1810512" cy="420624"/>
          </a:xfrm>
          <a:prstGeom prst="rect">
            <a:avLst/>
          </a:prstGeom>
          <a:noFill/>
          <a:ln/>
        </p:spPr>
        <p:txBody>
          <a:bodyPr wrap="square" lIns="0" tIns="0" rIns="0" bIns="0" rtlCol="0" anchor="ctr"/>
          <a:lstStyle/>
          <a:p>
            <a:pPr marL="0" indent="0" algn="l">
              <a:buNone/>
            </a:pPr>
            <a:r>
              <a:rPr lang="en-US" sz="980" b="1" kern="0" spc="110" dirty="0">
                <a:solidFill>
                  <a:srgbClr val="BFD8F5"/>
                </a:solidFill>
                <a:latin typeface="Calibri" pitchFamily="34" charset="0"/>
                <a:ea typeface="Calibri" pitchFamily="34" charset="-122"/>
                <a:cs typeface="Calibri" pitchFamily="34" charset="-120"/>
              </a:rPr>
              <a:t>GUARD</a:t>
            </a:r>
            <a:endParaRPr lang="en-US" sz="980" dirty="0"/>
          </a:p>
        </p:txBody>
      </p:sp>
      <p:sp>
        <p:nvSpPr>
          <p:cNvPr id="10" name="Text 7"/>
          <p:cNvSpPr/>
          <p:nvPr/>
        </p:nvSpPr>
        <p:spPr>
          <a:xfrm>
            <a:off x="8467344" y="2231136"/>
            <a:ext cx="2798064" cy="420624"/>
          </a:xfrm>
          <a:prstGeom prst="rect">
            <a:avLst/>
          </a:prstGeom>
          <a:noFill/>
          <a:ln/>
        </p:spPr>
        <p:txBody>
          <a:bodyPr wrap="square" lIns="0" tIns="0" rIns="0" bIns="0" rtlCol="0" anchor="ctr"/>
          <a:lstStyle/>
          <a:p>
            <a:pPr marL="0" indent="0" algn="l">
              <a:buNone/>
            </a:pPr>
            <a:r>
              <a:rPr lang="en-US" sz="980" b="1" kern="0" spc="110" dirty="0">
                <a:solidFill>
                  <a:srgbClr val="BFD8F5"/>
                </a:solidFill>
                <a:latin typeface="Calibri" pitchFamily="34" charset="0"/>
                <a:ea typeface="Calibri" pitchFamily="34" charset="-122"/>
                <a:cs typeface="Calibri" pitchFamily="34" charset="-120"/>
              </a:rPr>
              <a:t>WHY</a:t>
            </a:r>
            <a:endParaRPr lang="en-US" sz="980" dirty="0"/>
          </a:p>
        </p:txBody>
      </p:sp>
      <p:sp>
        <p:nvSpPr>
          <p:cNvPr id="11" name="Shape 8"/>
          <p:cNvSpPr/>
          <p:nvPr/>
        </p:nvSpPr>
        <p:spPr>
          <a:xfrm>
            <a:off x="777240" y="3255264"/>
            <a:ext cx="10634472" cy="0"/>
          </a:xfrm>
          <a:prstGeom prst="line">
            <a:avLst/>
          </a:prstGeom>
          <a:noFill/>
          <a:ln w="9525">
            <a:solidFill>
              <a:srgbClr val="26374F"/>
            </a:solidFill>
            <a:prstDash val="solid"/>
          </a:ln>
        </p:spPr>
        <p:txBody>
          <a:bodyPr/>
          <a:lstStyle/>
          <a:p>
            <a:endParaRPr lang="en-US"/>
          </a:p>
        </p:txBody>
      </p:sp>
      <p:sp>
        <p:nvSpPr>
          <p:cNvPr id="12" name="Shape 9"/>
          <p:cNvSpPr/>
          <p:nvPr/>
        </p:nvSpPr>
        <p:spPr>
          <a:xfrm>
            <a:off x="905256" y="2852928"/>
            <a:ext cx="274320" cy="274320"/>
          </a:xfrm>
          <a:prstGeom prst="ellipse">
            <a:avLst/>
          </a:prstGeom>
          <a:solidFill>
            <a:srgbClr val="0C1424"/>
          </a:solidFill>
          <a:ln w="12700">
            <a:solidFill>
              <a:srgbClr val="E0564F"/>
            </a:solidFill>
            <a:prstDash val="solid"/>
          </a:ln>
        </p:spPr>
        <p:txBody>
          <a:bodyPr/>
          <a:lstStyle/>
          <a:p>
            <a:endParaRPr lang="en-US"/>
          </a:p>
        </p:txBody>
      </p:sp>
      <p:sp>
        <p:nvSpPr>
          <p:cNvPr id="13" name="Text 10"/>
          <p:cNvSpPr/>
          <p:nvPr/>
        </p:nvSpPr>
        <p:spPr>
          <a:xfrm>
            <a:off x="905256" y="2852928"/>
            <a:ext cx="274320" cy="274320"/>
          </a:xfrm>
          <a:prstGeom prst="rect">
            <a:avLst/>
          </a:prstGeom>
          <a:noFill/>
          <a:ln/>
        </p:spPr>
        <p:txBody>
          <a:bodyPr wrap="square" lIns="0" tIns="0" rIns="0" bIns="0" rtlCol="0" anchor="ctr"/>
          <a:lstStyle/>
          <a:p>
            <a:pPr marL="0" indent="0" algn="ctr">
              <a:buNone/>
            </a:pPr>
            <a:r>
              <a:rPr lang="en-US" sz="950" b="1" dirty="0">
                <a:solidFill>
                  <a:srgbClr val="E0564F"/>
                </a:solidFill>
                <a:latin typeface="Calibri" pitchFamily="34" charset="0"/>
                <a:ea typeface="Calibri" pitchFamily="34" charset="-122"/>
                <a:cs typeface="Calibri" pitchFamily="34" charset="-120"/>
              </a:rPr>
              <a:t>1</a:t>
            </a:r>
            <a:endParaRPr lang="en-US" sz="950" dirty="0"/>
          </a:p>
        </p:txBody>
      </p:sp>
      <p:sp>
        <p:nvSpPr>
          <p:cNvPr id="14" name="Text 11"/>
          <p:cNvSpPr/>
          <p:nvPr/>
        </p:nvSpPr>
        <p:spPr>
          <a:xfrm>
            <a:off x="1307592" y="2724912"/>
            <a:ext cx="1234440" cy="530352"/>
          </a:xfrm>
          <a:prstGeom prst="rect">
            <a:avLst/>
          </a:prstGeom>
          <a:noFill/>
          <a:ln/>
        </p:spPr>
        <p:txBody>
          <a:bodyPr wrap="square" lIns="0" tIns="0" rIns="0" bIns="0" rtlCol="0" anchor="ctr"/>
          <a:lstStyle/>
          <a:p>
            <a:pPr marL="0" indent="0">
              <a:buNone/>
            </a:pPr>
            <a:r>
              <a:rPr lang="en-US" sz="1080" b="1" dirty="0">
                <a:solidFill>
                  <a:srgbClr val="EEF2F8"/>
                </a:solidFill>
                <a:latin typeface="Calibri" pitchFamily="34" charset="0"/>
                <a:ea typeface="Calibri" pitchFamily="34" charset="-122"/>
                <a:cs typeface="Calibri" pitchFamily="34" charset="-120"/>
              </a:rPr>
              <a:t>Regulated</a:t>
            </a:r>
            <a:endParaRPr lang="en-US" sz="1080" dirty="0"/>
          </a:p>
        </p:txBody>
      </p:sp>
      <p:sp>
        <p:nvSpPr>
          <p:cNvPr id="15" name="Text 12"/>
          <p:cNvSpPr/>
          <p:nvPr/>
        </p:nvSpPr>
        <p:spPr>
          <a:xfrm>
            <a:off x="2798064" y="2724912"/>
            <a:ext cx="3273552"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prompt contains borrower or patient data</a:t>
            </a:r>
            <a:endParaRPr lang="en-US" sz="1080" dirty="0"/>
          </a:p>
        </p:txBody>
      </p:sp>
      <p:sp>
        <p:nvSpPr>
          <p:cNvPr id="16" name="Text 13"/>
          <p:cNvSpPr/>
          <p:nvPr/>
        </p:nvSpPr>
        <p:spPr>
          <a:xfrm>
            <a:off x="6364224" y="2724912"/>
            <a:ext cx="1810512" cy="530352"/>
          </a:xfrm>
          <a:prstGeom prst="rect">
            <a:avLst/>
          </a:prstGeom>
          <a:noFill/>
          <a:ln/>
        </p:spPr>
        <p:txBody>
          <a:bodyPr wrap="square" lIns="0" tIns="0" rIns="0" bIns="0" rtlCol="0" anchor="ctr"/>
          <a:lstStyle/>
          <a:p>
            <a:pPr marL="0" indent="0">
              <a:buNone/>
            </a:pPr>
            <a:r>
              <a:rPr lang="en-US" sz="1080" b="1" dirty="0">
                <a:solidFill>
                  <a:srgbClr val="BFD8F5"/>
                </a:solidFill>
                <a:latin typeface="Calibri" pitchFamily="34" charset="0"/>
                <a:ea typeface="Calibri" pitchFamily="34" charset="-122"/>
                <a:cs typeface="Calibri" pitchFamily="34" charset="-120"/>
              </a:rPr>
              <a:t>in-house only</a:t>
            </a:r>
            <a:endParaRPr lang="en-US" sz="1080" dirty="0"/>
          </a:p>
        </p:txBody>
      </p:sp>
      <p:sp>
        <p:nvSpPr>
          <p:cNvPr id="17" name="Text 14"/>
          <p:cNvSpPr/>
          <p:nvPr/>
        </p:nvSpPr>
        <p:spPr>
          <a:xfrm>
            <a:off x="8467344" y="2724912"/>
            <a:ext cx="2798064"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cannot lawfully leave</a:t>
            </a:r>
            <a:endParaRPr lang="en-US" sz="1080" dirty="0"/>
          </a:p>
        </p:txBody>
      </p:sp>
      <p:sp>
        <p:nvSpPr>
          <p:cNvPr id="18" name="Shape 15"/>
          <p:cNvSpPr/>
          <p:nvPr/>
        </p:nvSpPr>
        <p:spPr>
          <a:xfrm>
            <a:off x="777240" y="3785616"/>
            <a:ext cx="10634472" cy="0"/>
          </a:xfrm>
          <a:prstGeom prst="line">
            <a:avLst/>
          </a:prstGeom>
          <a:noFill/>
          <a:ln w="9525">
            <a:solidFill>
              <a:srgbClr val="26374F"/>
            </a:solidFill>
            <a:prstDash val="solid"/>
          </a:ln>
        </p:spPr>
        <p:txBody>
          <a:bodyPr/>
          <a:lstStyle/>
          <a:p>
            <a:endParaRPr lang="en-US"/>
          </a:p>
        </p:txBody>
      </p:sp>
      <p:sp>
        <p:nvSpPr>
          <p:cNvPr id="19" name="Shape 16"/>
          <p:cNvSpPr/>
          <p:nvPr/>
        </p:nvSpPr>
        <p:spPr>
          <a:xfrm>
            <a:off x="905256" y="3383280"/>
            <a:ext cx="274320" cy="274320"/>
          </a:xfrm>
          <a:prstGeom prst="ellipse">
            <a:avLst/>
          </a:prstGeom>
          <a:solidFill>
            <a:srgbClr val="0C1424"/>
          </a:solidFill>
          <a:ln w="12700">
            <a:solidFill>
              <a:srgbClr val="E0564F"/>
            </a:solidFill>
            <a:prstDash val="solid"/>
          </a:ln>
        </p:spPr>
        <p:txBody>
          <a:bodyPr/>
          <a:lstStyle/>
          <a:p>
            <a:endParaRPr lang="en-US"/>
          </a:p>
        </p:txBody>
      </p:sp>
      <p:sp>
        <p:nvSpPr>
          <p:cNvPr id="20" name="Text 17"/>
          <p:cNvSpPr/>
          <p:nvPr/>
        </p:nvSpPr>
        <p:spPr>
          <a:xfrm>
            <a:off x="905256" y="3383280"/>
            <a:ext cx="274320" cy="274320"/>
          </a:xfrm>
          <a:prstGeom prst="rect">
            <a:avLst/>
          </a:prstGeom>
          <a:noFill/>
          <a:ln/>
        </p:spPr>
        <p:txBody>
          <a:bodyPr wrap="square" lIns="0" tIns="0" rIns="0" bIns="0" rtlCol="0" anchor="ctr"/>
          <a:lstStyle/>
          <a:p>
            <a:pPr marL="0" indent="0" algn="ctr">
              <a:buNone/>
            </a:pPr>
            <a:r>
              <a:rPr lang="en-US" sz="950" b="1" dirty="0">
                <a:solidFill>
                  <a:srgbClr val="E0564F"/>
                </a:solidFill>
                <a:latin typeface="Calibri" pitchFamily="34" charset="0"/>
                <a:ea typeface="Calibri" pitchFamily="34" charset="-122"/>
                <a:cs typeface="Calibri" pitchFamily="34" charset="-120"/>
              </a:rPr>
              <a:t>2</a:t>
            </a:r>
            <a:endParaRPr lang="en-US" sz="950" dirty="0"/>
          </a:p>
        </p:txBody>
      </p:sp>
      <p:sp>
        <p:nvSpPr>
          <p:cNvPr id="21" name="Text 18"/>
          <p:cNvSpPr/>
          <p:nvPr/>
        </p:nvSpPr>
        <p:spPr>
          <a:xfrm>
            <a:off x="1307592" y="3255264"/>
            <a:ext cx="1234440" cy="530352"/>
          </a:xfrm>
          <a:prstGeom prst="rect">
            <a:avLst/>
          </a:prstGeom>
          <a:noFill/>
          <a:ln/>
        </p:spPr>
        <p:txBody>
          <a:bodyPr wrap="square" lIns="0" tIns="0" rIns="0" bIns="0" rtlCol="0" anchor="ctr"/>
          <a:lstStyle/>
          <a:p>
            <a:pPr marL="0" indent="0">
              <a:buNone/>
            </a:pPr>
            <a:r>
              <a:rPr lang="en-US" sz="1080" b="1" dirty="0">
                <a:solidFill>
                  <a:srgbClr val="EEF2F8"/>
                </a:solidFill>
                <a:latin typeface="Calibri" pitchFamily="34" charset="0"/>
                <a:ea typeface="Calibri" pitchFamily="34" charset="-122"/>
                <a:cs typeface="Calibri" pitchFamily="34" charset="-120"/>
              </a:rPr>
              <a:t>Uncertain</a:t>
            </a:r>
            <a:endParaRPr lang="en-US" sz="1080" dirty="0"/>
          </a:p>
        </p:txBody>
      </p:sp>
      <p:sp>
        <p:nvSpPr>
          <p:cNvPr id="22" name="Text 19"/>
          <p:cNvSpPr/>
          <p:nvPr/>
        </p:nvSpPr>
        <p:spPr>
          <a:xfrm>
            <a:off x="2798064" y="3255264"/>
            <a:ext cx="3273552"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in-house guard is near its decision line</a:t>
            </a:r>
            <a:endParaRPr lang="en-US" sz="1080" dirty="0"/>
          </a:p>
        </p:txBody>
      </p:sp>
      <p:sp>
        <p:nvSpPr>
          <p:cNvPr id="23" name="Text 20"/>
          <p:cNvSpPr/>
          <p:nvPr/>
        </p:nvSpPr>
        <p:spPr>
          <a:xfrm>
            <a:off x="6364224" y="3255264"/>
            <a:ext cx="1810512" cy="530352"/>
          </a:xfrm>
          <a:prstGeom prst="rect">
            <a:avLst/>
          </a:prstGeom>
          <a:noFill/>
          <a:ln/>
        </p:spPr>
        <p:txBody>
          <a:bodyPr wrap="square" lIns="0" tIns="0" rIns="0" bIns="0" rtlCol="0" anchor="ctr"/>
          <a:lstStyle/>
          <a:p>
            <a:pPr marL="0" indent="0">
              <a:buNone/>
            </a:pPr>
            <a:r>
              <a:rPr lang="en-US" sz="1080" b="1" dirty="0">
                <a:solidFill>
                  <a:srgbClr val="F08A7F"/>
                </a:solidFill>
                <a:latin typeface="Calibri" pitchFamily="34" charset="0"/>
                <a:ea typeface="Calibri" pitchFamily="34" charset="-122"/>
                <a:cs typeface="Calibri" pitchFamily="34" charset="-120"/>
              </a:rPr>
              <a:t>escalate to hosted</a:t>
            </a:r>
            <a:endParaRPr lang="en-US" sz="1080" dirty="0"/>
          </a:p>
        </p:txBody>
      </p:sp>
      <p:sp>
        <p:nvSpPr>
          <p:cNvPr id="24" name="Text 21"/>
          <p:cNvSpPr/>
          <p:nvPr/>
        </p:nvSpPr>
        <p:spPr>
          <a:xfrm>
            <a:off x="8467344" y="3255264"/>
            <a:ext cx="2798064"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this is where the accuracy is won</a:t>
            </a:r>
            <a:endParaRPr lang="en-US" sz="1080" dirty="0"/>
          </a:p>
        </p:txBody>
      </p:sp>
      <p:sp>
        <p:nvSpPr>
          <p:cNvPr id="25" name="Shape 22"/>
          <p:cNvSpPr/>
          <p:nvPr/>
        </p:nvSpPr>
        <p:spPr>
          <a:xfrm>
            <a:off x="777240" y="4315968"/>
            <a:ext cx="10634472" cy="0"/>
          </a:xfrm>
          <a:prstGeom prst="line">
            <a:avLst/>
          </a:prstGeom>
          <a:noFill/>
          <a:ln w="9525">
            <a:solidFill>
              <a:srgbClr val="26374F"/>
            </a:solidFill>
            <a:prstDash val="solid"/>
          </a:ln>
        </p:spPr>
        <p:txBody>
          <a:bodyPr/>
          <a:lstStyle/>
          <a:p>
            <a:endParaRPr lang="en-US"/>
          </a:p>
        </p:txBody>
      </p:sp>
      <p:sp>
        <p:nvSpPr>
          <p:cNvPr id="26" name="Shape 23"/>
          <p:cNvSpPr/>
          <p:nvPr/>
        </p:nvSpPr>
        <p:spPr>
          <a:xfrm>
            <a:off x="905256" y="3913632"/>
            <a:ext cx="274320" cy="274320"/>
          </a:xfrm>
          <a:prstGeom prst="ellipse">
            <a:avLst/>
          </a:prstGeom>
          <a:solidFill>
            <a:srgbClr val="0C1424"/>
          </a:solidFill>
          <a:ln w="12700">
            <a:solidFill>
              <a:srgbClr val="E0564F"/>
            </a:solidFill>
            <a:prstDash val="solid"/>
          </a:ln>
        </p:spPr>
        <p:txBody>
          <a:bodyPr/>
          <a:lstStyle/>
          <a:p>
            <a:endParaRPr lang="en-US"/>
          </a:p>
        </p:txBody>
      </p:sp>
      <p:sp>
        <p:nvSpPr>
          <p:cNvPr id="27" name="Text 24"/>
          <p:cNvSpPr/>
          <p:nvPr/>
        </p:nvSpPr>
        <p:spPr>
          <a:xfrm>
            <a:off x="905256" y="3913632"/>
            <a:ext cx="274320" cy="274320"/>
          </a:xfrm>
          <a:prstGeom prst="rect">
            <a:avLst/>
          </a:prstGeom>
          <a:noFill/>
          <a:ln/>
        </p:spPr>
        <p:txBody>
          <a:bodyPr wrap="square" lIns="0" tIns="0" rIns="0" bIns="0" rtlCol="0" anchor="ctr"/>
          <a:lstStyle/>
          <a:p>
            <a:pPr marL="0" indent="0" algn="ctr">
              <a:buNone/>
            </a:pPr>
            <a:r>
              <a:rPr lang="en-US" sz="950" b="1" dirty="0">
                <a:solidFill>
                  <a:srgbClr val="E0564F"/>
                </a:solidFill>
                <a:latin typeface="Calibri" pitchFamily="34" charset="0"/>
                <a:ea typeface="Calibri" pitchFamily="34" charset="-122"/>
                <a:cs typeface="Calibri" pitchFamily="34" charset="-120"/>
              </a:rPr>
              <a:t>3</a:t>
            </a:r>
            <a:endParaRPr lang="en-US" sz="950" dirty="0"/>
          </a:p>
        </p:txBody>
      </p:sp>
      <p:sp>
        <p:nvSpPr>
          <p:cNvPr id="28" name="Text 25"/>
          <p:cNvSpPr/>
          <p:nvPr/>
        </p:nvSpPr>
        <p:spPr>
          <a:xfrm>
            <a:off x="1307592" y="3785616"/>
            <a:ext cx="1234440" cy="530352"/>
          </a:xfrm>
          <a:prstGeom prst="rect">
            <a:avLst/>
          </a:prstGeom>
          <a:noFill/>
          <a:ln/>
        </p:spPr>
        <p:txBody>
          <a:bodyPr wrap="square" lIns="0" tIns="0" rIns="0" bIns="0" rtlCol="0" anchor="ctr"/>
          <a:lstStyle/>
          <a:p>
            <a:pPr marL="0" indent="0">
              <a:buNone/>
            </a:pPr>
            <a:r>
              <a:rPr lang="en-US" sz="1080" b="1" dirty="0">
                <a:solidFill>
                  <a:srgbClr val="EEF2F8"/>
                </a:solidFill>
                <a:latin typeface="Calibri" pitchFamily="34" charset="0"/>
                <a:ea typeface="Calibri" pitchFamily="34" charset="-122"/>
                <a:cs typeface="Calibri" pitchFamily="34" charset="-120"/>
              </a:rPr>
              <a:t>Clear-cut</a:t>
            </a:r>
            <a:endParaRPr lang="en-US" sz="1080" dirty="0"/>
          </a:p>
        </p:txBody>
      </p:sp>
      <p:sp>
        <p:nvSpPr>
          <p:cNvPr id="29" name="Text 26"/>
          <p:cNvSpPr/>
          <p:nvPr/>
        </p:nvSpPr>
        <p:spPr>
          <a:xfrm>
            <a:off x="2798064" y="3785616"/>
            <a:ext cx="3273552"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in-house guard is confident either way</a:t>
            </a:r>
            <a:endParaRPr lang="en-US" sz="1080" dirty="0"/>
          </a:p>
        </p:txBody>
      </p:sp>
      <p:sp>
        <p:nvSpPr>
          <p:cNvPr id="30" name="Text 27"/>
          <p:cNvSpPr/>
          <p:nvPr/>
        </p:nvSpPr>
        <p:spPr>
          <a:xfrm>
            <a:off x="6364224" y="3785616"/>
            <a:ext cx="1810512" cy="530352"/>
          </a:xfrm>
          <a:prstGeom prst="rect">
            <a:avLst/>
          </a:prstGeom>
          <a:noFill/>
          <a:ln/>
        </p:spPr>
        <p:txBody>
          <a:bodyPr wrap="square" lIns="0" tIns="0" rIns="0" bIns="0" rtlCol="0" anchor="ctr"/>
          <a:lstStyle/>
          <a:p>
            <a:pPr marL="0" indent="0">
              <a:buNone/>
            </a:pPr>
            <a:r>
              <a:rPr lang="en-US" sz="1080" b="1" dirty="0">
                <a:solidFill>
                  <a:srgbClr val="BFD8F5"/>
                </a:solidFill>
                <a:latin typeface="Calibri" pitchFamily="34" charset="0"/>
                <a:ea typeface="Calibri" pitchFamily="34" charset="-122"/>
                <a:cs typeface="Calibri" pitchFamily="34" charset="-120"/>
              </a:rPr>
              <a:t>in-house only</a:t>
            </a:r>
            <a:endParaRPr lang="en-US" sz="1080" dirty="0"/>
          </a:p>
        </p:txBody>
      </p:sp>
      <p:sp>
        <p:nvSpPr>
          <p:cNvPr id="31" name="Text 28"/>
          <p:cNvSpPr/>
          <p:nvPr/>
        </p:nvSpPr>
        <p:spPr>
          <a:xfrm>
            <a:off x="8467344" y="3785616"/>
            <a:ext cx="2798064" cy="530352"/>
          </a:xfrm>
          <a:prstGeom prst="rect">
            <a:avLst/>
          </a:prstGeom>
          <a:noFill/>
          <a:ln/>
        </p:spPr>
        <p:txBody>
          <a:bodyPr wrap="square" lIns="0" tIns="0" rIns="0" bIns="0" rtlCol="0" anchor="ctr"/>
          <a:lstStyle/>
          <a:p>
            <a:pPr marL="0" indent="0">
              <a:buNone/>
            </a:pPr>
            <a:r>
              <a:rPr lang="en-US" sz="1080" dirty="0">
                <a:solidFill>
                  <a:srgbClr val="9DAFC7"/>
                </a:solidFill>
                <a:latin typeface="Calibri" pitchFamily="34" charset="0"/>
                <a:ea typeface="Calibri" pitchFamily="34" charset="-122"/>
                <a:cs typeface="Calibri" pitchFamily="34" charset="-120"/>
              </a:rPr>
              <a:t>hosted would not change the answer</a:t>
            </a:r>
            <a:endParaRPr lang="en-US" sz="1080" dirty="0"/>
          </a:p>
        </p:txBody>
      </p:sp>
      <p:sp>
        <p:nvSpPr>
          <p:cNvPr id="32" name="Shape 29"/>
          <p:cNvSpPr/>
          <p:nvPr/>
        </p:nvSpPr>
        <p:spPr>
          <a:xfrm>
            <a:off x="777240" y="4626864"/>
            <a:ext cx="3364992" cy="1389888"/>
          </a:xfrm>
          <a:prstGeom prst="roundRect">
            <a:avLst>
              <a:gd name="adj" fmla="val 361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3" name="Text 30"/>
          <p:cNvSpPr/>
          <p:nvPr/>
        </p:nvSpPr>
        <p:spPr>
          <a:xfrm>
            <a:off x="1033272" y="4736592"/>
            <a:ext cx="2834640" cy="713232"/>
          </a:xfrm>
          <a:prstGeom prst="rect">
            <a:avLst/>
          </a:prstGeom>
          <a:noFill/>
          <a:ln/>
        </p:spPr>
        <p:txBody>
          <a:bodyPr wrap="square" lIns="0" tIns="0" rIns="0" bIns="0" rtlCol="0" anchor="ctr"/>
          <a:lstStyle/>
          <a:p>
            <a:pPr marL="0" indent="0">
              <a:buNone/>
            </a:pPr>
            <a:r>
              <a:rPr lang="en-US" sz="3800" b="1" dirty="0">
                <a:solidFill>
                  <a:srgbClr val="E0564F"/>
                </a:solidFill>
                <a:latin typeface="Cambria" pitchFamily="34" charset="0"/>
                <a:ea typeface="Cambria" pitchFamily="34" charset="-122"/>
                <a:cs typeface="Cambria" pitchFamily="34" charset="-120"/>
              </a:rPr>
              <a:t>20%</a:t>
            </a:r>
            <a:endParaRPr lang="en-US" sz="3800" dirty="0"/>
          </a:p>
        </p:txBody>
      </p:sp>
      <p:sp>
        <p:nvSpPr>
          <p:cNvPr id="34" name="Text 31"/>
          <p:cNvSpPr/>
          <p:nvPr/>
        </p:nvSpPr>
        <p:spPr>
          <a:xfrm>
            <a:off x="1033272" y="5468112"/>
            <a:ext cx="2834640" cy="420624"/>
          </a:xfrm>
          <a:prstGeom prst="rect">
            <a:avLst/>
          </a:prstGeom>
          <a:noFill/>
          <a:ln/>
        </p:spPr>
        <p:txBody>
          <a:bodyPr wrap="square" lIns="0" tIns="0" rIns="0" bIns="0" rtlCol="0" anchor="t"/>
          <a:lstStyle/>
          <a:p>
            <a:pPr marL="0" indent="0">
              <a:lnSpc>
                <a:spcPct val="112000"/>
              </a:lnSpc>
              <a:buNone/>
            </a:pPr>
            <a:r>
              <a:rPr lang="en-US" sz="1050" dirty="0">
                <a:solidFill>
                  <a:srgbClr val="9DAFC7"/>
                </a:solidFill>
                <a:latin typeface="Calibri" pitchFamily="34" charset="0"/>
                <a:ea typeface="Calibri" pitchFamily="34" charset="-122"/>
                <a:cs typeface="Calibri" pitchFamily="34" charset="-120"/>
              </a:rPr>
              <a:t>of requests escalated — lane 2 only</a:t>
            </a:r>
            <a:endParaRPr lang="en-US" sz="1050" dirty="0"/>
          </a:p>
        </p:txBody>
      </p:sp>
      <p:sp>
        <p:nvSpPr>
          <p:cNvPr id="35" name="Shape 32"/>
          <p:cNvSpPr/>
          <p:nvPr/>
        </p:nvSpPr>
        <p:spPr>
          <a:xfrm>
            <a:off x="4416552" y="4626864"/>
            <a:ext cx="3364992" cy="1389888"/>
          </a:xfrm>
          <a:prstGeom prst="roundRect">
            <a:avLst>
              <a:gd name="adj" fmla="val 361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6" name="Text 33"/>
          <p:cNvSpPr/>
          <p:nvPr/>
        </p:nvSpPr>
        <p:spPr>
          <a:xfrm>
            <a:off x="4672584" y="4736592"/>
            <a:ext cx="2834640" cy="713232"/>
          </a:xfrm>
          <a:prstGeom prst="rect">
            <a:avLst/>
          </a:prstGeom>
          <a:noFill/>
          <a:ln/>
        </p:spPr>
        <p:txBody>
          <a:bodyPr wrap="square" lIns="0" tIns="0" rIns="0" bIns="0" rtlCol="0" anchor="ctr"/>
          <a:lstStyle/>
          <a:p>
            <a:pPr marL="0" indent="0">
              <a:buNone/>
            </a:pPr>
            <a:r>
              <a:rPr lang="en-US" sz="3800" b="1" dirty="0">
                <a:solidFill>
                  <a:srgbClr val="E0564F"/>
                </a:solidFill>
                <a:latin typeface="Cambria" pitchFamily="34" charset="0"/>
                <a:ea typeface="Cambria" pitchFamily="34" charset="-122"/>
                <a:cs typeface="Cambria" pitchFamily="34" charset="-120"/>
              </a:rPr>
              <a:t>51%</a:t>
            </a:r>
            <a:endParaRPr lang="en-US" sz="3800" dirty="0"/>
          </a:p>
        </p:txBody>
      </p:sp>
      <p:sp>
        <p:nvSpPr>
          <p:cNvPr id="37" name="Text 34"/>
          <p:cNvSpPr/>
          <p:nvPr/>
        </p:nvSpPr>
        <p:spPr>
          <a:xfrm>
            <a:off x="4672584" y="5468112"/>
            <a:ext cx="2834640" cy="420624"/>
          </a:xfrm>
          <a:prstGeom prst="rect">
            <a:avLst/>
          </a:prstGeom>
          <a:noFill/>
          <a:ln/>
        </p:spPr>
        <p:txBody>
          <a:bodyPr wrap="square" lIns="0" tIns="0" rIns="0" bIns="0" rtlCol="0" anchor="t"/>
          <a:lstStyle/>
          <a:p>
            <a:pPr marL="0" indent="0">
              <a:lnSpc>
                <a:spcPct val="112000"/>
              </a:lnSpc>
              <a:buNone/>
            </a:pPr>
            <a:r>
              <a:rPr lang="en-US" sz="1050" dirty="0">
                <a:solidFill>
                  <a:srgbClr val="9DAFC7"/>
                </a:solidFill>
                <a:latin typeface="Calibri" pitchFamily="34" charset="0"/>
                <a:ea typeface="Calibri" pitchFamily="34" charset="-122"/>
                <a:cs typeface="Calibri" pitchFamily="34" charset="-120"/>
              </a:rPr>
              <a:t>of the accuracy gap to hosted, closed</a:t>
            </a:r>
            <a:endParaRPr lang="en-US" sz="1050" dirty="0"/>
          </a:p>
        </p:txBody>
      </p:sp>
      <p:sp>
        <p:nvSpPr>
          <p:cNvPr id="38" name="Shape 35"/>
          <p:cNvSpPr/>
          <p:nvPr/>
        </p:nvSpPr>
        <p:spPr>
          <a:xfrm>
            <a:off x="8055864" y="4626864"/>
            <a:ext cx="3364992" cy="1389888"/>
          </a:xfrm>
          <a:prstGeom prst="roundRect">
            <a:avLst>
              <a:gd name="adj" fmla="val 361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9" name="Text 36"/>
          <p:cNvSpPr/>
          <p:nvPr/>
        </p:nvSpPr>
        <p:spPr>
          <a:xfrm>
            <a:off x="8311896" y="4736592"/>
            <a:ext cx="2834640" cy="713232"/>
          </a:xfrm>
          <a:prstGeom prst="rect">
            <a:avLst/>
          </a:prstGeom>
          <a:noFill/>
          <a:ln/>
        </p:spPr>
        <p:txBody>
          <a:bodyPr wrap="square" lIns="0" tIns="0" rIns="0" bIns="0" rtlCol="0" anchor="ctr"/>
          <a:lstStyle/>
          <a:p>
            <a:pPr marL="0" indent="0">
              <a:buNone/>
            </a:pPr>
            <a:r>
              <a:rPr lang="en-US" sz="3800" b="1" dirty="0">
                <a:solidFill>
                  <a:srgbClr val="E0564F"/>
                </a:solidFill>
                <a:latin typeface="Cambria" pitchFamily="34" charset="0"/>
                <a:ea typeface="Cambria" pitchFamily="34" charset="-122"/>
                <a:cs typeface="Cambria" pitchFamily="34" charset="-120"/>
              </a:rPr>
              <a:t>80%</a:t>
            </a:r>
            <a:endParaRPr lang="en-US" sz="3800" dirty="0"/>
          </a:p>
        </p:txBody>
      </p:sp>
      <p:sp>
        <p:nvSpPr>
          <p:cNvPr id="40" name="Text 37"/>
          <p:cNvSpPr/>
          <p:nvPr/>
        </p:nvSpPr>
        <p:spPr>
          <a:xfrm>
            <a:off x="8311896" y="5468112"/>
            <a:ext cx="2834640" cy="420624"/>
          </a:xfrm>
          <a:prstGeom prst="rect">
            <a:avLst/>
          </a:prstGeom>
          <a:noFill/>
          <a:ln/>
        </p:spPr>
        <p:txBody>
          <a:bodyPr wrap="square" lIns="0" tIns="0" rIns="0" bIns="0" rtlCol="0" anchor="t"/>
          <a:lstStyle/>
          <a:p>
            <a:pPr marL="0" indent="0">
              <a:lnSpc>
                <a:spcPct val="112000"/>
              </a:lnSpc>
              <a:buNone/>
            </a:pPr>
            <a:r>
              <a:rPr lang="en-US" sz="1050" dirty="0">
                <a:solidFill>
                  <a:srgbClr val="9DAFC7"/>
                </a:solidFill>
                <a:latin typeface="Calibri" pitchFamily="34" charset="0"/>
                <a:ea typeface="Calibri" pitchFamily="34" charset="-122"/>
                <a:cs typeface="Calibri" pitchFamily="34" charset="-120"/>
              </a:rPr>
              <a:t>of prompts never leave our network</a:t>
            </a:r>
            <a:endParaRPr lang="en-US" sz="1050" dirty="0"/>
          </a:p>
        </p:txBody>
      </p:sp>
      <p:sp>
        <p:nvSpPr>
          <p:cNvPr id="41" name="Text 38"/>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42" name="Text 39"/>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WHAT HOSTED BUYS</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At the same false-alarm rate, the hosted model catches roughly one in ten of the prompts our own guards miss</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Catch rate on expert-annotated finance / healthcare / law prompts, all at a 5% false-alarm budget</a:t>
            </a:r>
            <a:endParaRPr lang="en-US" sz="1250" dirty="0"/>
          </a:p>
        </p:txBody>
      </p:sp>
      <p:graphicFrame>
        <p:nvGraphicFramePr>
          <p:cNvPr id="6" name="Chart 0"/>
          <p:cNvGraphicFramePr/>
          <p:nvPr/>
        </p:nvGraphicFramePr>
        <p:xfrm>
          <a:off x="777240" y="2139696"/>
          <a:ext cx="7360920" cy="3584448"/>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1417320" y="5847588"/>
            <a:ext cx="137160" cy="100584"/>
          </a:xfrm>
          <a:prstGeom prst="rect">
            <a:avLst/>
          </a:prstGeom>
          <a:solidFill>
            <a:srgbClr val="E0564F"/>
          </a:solidFill>
          <a:ln w="12700">
            <a:solidFill>
              <a:srgbClr val="333333"/>
            </a:solidFill>
            <a:prstDash val="solid"/>
          </a:ln>
        </p:spPr>
        <p:txBody>
          <a:bodyPr/>
          <a:lstStyle/>
          <a:p>
            <a:endParaRPr lang="en-US"/>
          </a:p>
        </p:txBody>
      </p:sp>
      <p:sp>
        <p:nvSpPr>
          <p:cNvPr id="8" name="Text 4"/>
          <p:cNvSpPr/>
          <p:nvPr/>
        </p:nvSpPr>
        <p:spPr>
          <a:xfrm>
            <a:off x="1636776" y="5797296"/>
            <a:ext cx="2834640" cy="201168"/>
          </a:xfrm>
          <a:prstGeom prst="rect">
            <a:avLst/>
          </a:prstGeom>
          <a:noFill/>
          <a:ln/>
        </p:spPr>
        <p:txBody>
          <a:bodyPr wrap="square" lIns="0" tIns="0" rIns="0" bIns="0" rtlCol="0" anchor="ctr"/>
          <a:lstStyle/>
          <a:p>
            <a:pPr marL="0" indent="0">
              <a:buNone/>
            </a:pPr>
            <a:r>
              <a:rPr lang="en-US" sz="860" dirty="0">
                <a:solidFill>
                  <a:srgbClr val="9DAFC7"/>
                </a:solidFill>
                <a:latin typeface="Calibri" pitchFamily="34" charset="0"/>
                <a:ea typeface="Calibri" pitchFamily="34" charset="-122"/>
                <a:cs typeface="Calibri" pitchFamily="34" charset="-120"/>
              </a:rPr>
              <a:t>hosted frontier</a:t>
            </a:r>
            <a:endParaRPr lang="en-US" sz="860" dirty="0"/>
          </a:p>
        </p:txBody>
      </p:sp>
      <p:sp>
        <p:nvSpPr>
          <p:cNvPr id="9" name="Shape 5"/>
          <p:cNvSpPr/>
          <p:nvPr/>
        </p:nvSpPr>
        <p:spPr>
          <a:xfrm>
            <a:off x="1417320" y="6062472"/>
            <a:ext cx="137160" cy="100584"/>
          </a:xfrm>
          <a:prstGeom prst="rect">
            <a:avLst/>
          </a:prstGeom>
          <a:solidFill>
            <a:srgbClr val="7CA2D6"/>
          </a:solidFill>
          <a:ln w="12700">
            <a:solidFill>
              <a:srgbClr val="333333"/>
            </a:solidFill>
            <a:prstDash val="solid"/>
          </a:ln>
        </p:spPr>
        <p:txBody>
          <a:bodyPr/>
          <a:lstStyle/>
          <a:p>
            <a:endParaRPr lang="en-US"/>
          </a:p>
        </p:txBody>
      </p:sp>
      <p:sp>
        <p:nvSpPr>
          <p:cNvPr id="10" name="Text 6"/>
          <p:cNvSpPr/>
          <p:nvPr/>
        </p:nvSpPr>
        <p:spPr>
          <a:xfrm>
            <a:off x="1636776" y="6012180"/>
            <a:ext cx="2834640" cy="201168"/>
          </a:xfrm>
          <a:prstGeom prst="rect">
            <a:avLst/>
          </a:prstGeom>
          <a:noFill/>
          <a:ln/>
        </p:spPr>
        <p:txBody>
          <a:bodyPr wrap="square" lIns="0" tIns="0" rIns="0" bIns="0" rtlCol="0" anchor="ctr"/>
          <a:lstStyle/>
          <a:p>
            <a:pPr marL="0" indent="0">
              <a:buNone/>
            </a:pPr>
            <a:r>
              <a:rPr lang="en-US" sz="860" dirty="0">
                <a:solidFill>
                  <a:srgbClr val="9DAFC7"/>
                </a:solidFill>
                <a:latin typeface="Calibri" pitchFamily="34" charset="0"/>
                <a:ea typeface="Calibri" pitchFamily="34" charset="-122"/>
                <a:cs typeface="Calibri" pitchFamily="34" charset="-120"/>
              </a:rPr>
              <a:t>released purpose-built guard</a:t>
            </a:r>
            <a:endParaRPr lang="en-US" sz="860" dirty="0"/>
          </a:p>
        </p:txBody>
      </p:sp>
      <p:sp>
        <p:nvSpPr>
          <p:cNvPr id="11" name="Shape 7"/>
          <p:cNvSpPr/>
          <p:nvPr/>
        </p:nvSpPr>
        <p:spPr>
          <a:xfrm>
            <a:off x="4663440" y="5847588"/>
            <a:ext cx="137160" cy="100584"/>
          </a:xfrm>
          <a:prstGeom prst="rect">
            <a:avLst/>
          </a:prstGeom>
          <a:solidFill>
            <a:srgbClr val="BFD8F5"/>
          </a:solidFill>
          <a:ln w="12700">
            <a:solidFill>
              <a:srgbClr val="333333"/>
            </a:solidFill>
            <a:prstDash val="solid"/>
          </a:ln>
        </p:spPr>
        <p:txBody>
          <a:bodyPr/>
          <a:lstStyle/>
          <a:p>
            <a:endParaRPr lang="en-US"/>
          </a:p>
        </p:txBody>
      </p:sp>
      <p:sp>
        <p:nvSpPr>
          <p:cNvPr id="12" name="Text 8"/>
          <p:cNvSpPr/>
          <p:nvPr/>
        </p:nvSpPr>
        <p:spPr>
          <a:xfrm>
            <a:off x="4882896" y="5797296"/>
            <a:ext cx="3108960" cy="201168"/>
          </a:xfrm>
          <a:prstGeom prst="rect">
            <a:avLst/>
          </a:prstGeom>
          <a:noFill/>
          <a:ln/>
        </p:spPr>
        <p:txBody>
          <a:bodyPr wrap="square" lIns="0" tIns="0" rIns="0" bIns="0" rtlCol="0" anchor="ctr"/>
          <a:lstStyle/>
          <a:p>
            <a:pPr marL="0" indent="0">
              <a:buNone/>
            </a:pPr>
            <a:r>
              <a:rPr lang="en-US" sz="860" dirty="0">
                <a:solidFill>
                  <a:srgbClr val="9DAFC7"/>
                </a:solidFill>
                <a:latin typeface="Calibri" pitchFamily="34" charset="0"/>
                <a:ea typeface="Calibri" pitchFamily="34" charset="-122"/>
                <a:cs typeface="Calibri" pitchFamily="34" charset="-120"/>
              </a:rPr>
              <a:t>our strongest in-house guard</a:t>
            </a:r>
            <a:endParaRPr lang="en-US" sz="860" dirty="0"/>
          </a:p>
        </p:txBody>
      </p:sp>
      <p:sp>
        <p:nvSpPr>
          <p:cNvPr id="13" name="Shape 9"/>
          <p:cNvSpPr/>
          <p:nvPr/>
        </p:nvSpPr>
        <p:spPr>
          <a:xfrm>
            <a:off x="4663440" y="6062472"/>
            <a:ext cx="137160" cy="100584"/>
          </a:xfrm>
          <a:prstGeom prst="rect">
            <a:avLst/>
          </a:prstGeom>
          <a:solidFill>
            <a:srgbClr val="31456B"/>
          </a:solidFill>
          <a:ln w="12700">
            <a:solidFill>
              <a:srgbClr val="333333"/>
            </a:solidFill>
            <a:prstDash val="solid"/>
          </a:ln>
        </p:spPr>
        <p:txBody>
          <a:bodyPr/>
          <a:lstStyle/>
          <a:p>
            <a:endParaRPr lang="en-US"/>
          </a:p>
        </p:txBody>
      </p:sp>
      <p:sp>
        <p:nvSpPr>
          <p:cNvPr id="14" name="Text 10"/>
          <p:cNvSpPr/>
          <p:nvPr/>
        </p:nvSpPr>
        <p:spPr>
          <a:xfrm>
            <a:off x="4882896" y="6012180"/>
            <a:ext cx="3108960" cy="201168"/>
          </a:xfrm>
          <a:prstGeom prst="rect">
            <a:avLst/>
          </a:prstGeom>
          <a:noFill/>
          <a:ln/>
        </p:spPr>
        <p:txBody>
          <a:bodyPr wrap="square" lIns="0" tIns="0" rIns="0" bIns="0" rtlCol="0" anchor="ctr"/>
          <a:lstStyle/>
          <a:p>
            <a:pPr marL="0" indent="0">
              <a:buNone/>
            </a:pPr>
            <a:r>
              <a:rPr lang="en-US" sz="860" dirty="0">
                <a:solidFill>
                  <a:srgbClr val="9DAFC7"/>
                </a:solidFill>
                <a:latin typeface="Calibri" pitchFamily="34" charset="0"/>
                <a:ea typeface="Calibri" pitchFamily="34" charset="-122"/>
                <a:cs typeface="Calibri" pitchFamily="34" charset="-120"/>
              </a:rPr>
              <a:t>general open-weights model (ours)</a:t>
            </a:r>
            <a:endParaRPr lang="en-US" sz="860" dirty="0"/>
          </a:p>
        </p:txBody>
      </p:sp>
      <p:sp>
        <p:nvSpPr>
          <p:cNvPr id="15" name="Shape 11"/>
          <p:cNvSpPr/>
          <p:nvPr/>
        </p:nvSpPr>
        <p:spPr>
          <a:xfrm>
            <a:off x="8366760" y="2194560"/>
            <a:ext cx="3044952" cy="1828800"/>
          </a:xfrm>
          <a:prstGeom prst="roundRect">
            <a:avLst>
              <a:gd name="adj" fmla="val 2750"/>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6" name="Text 12"/>
          <p:cNvSpPr/>
          <p:nvPr/>
        </p:nvSpPr>
        <p:spPr>
          <a:xfrm>
            <a:off x="8604504" y="2340864"/>
            <a:ext cx="2569464" cy="153619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READ THIS AS A FLOOR, NOT A CEILING</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The hosted model reports only a coarse 0-100 confidence, which limits how finely we can rank its answers. That handicaps it in this comparison, so the true gap is if anything wider.</a:t>
            </a:r>
            <a:endParaRPr lang="en-US" sz="980" dirty="0"/>
          </a:p>
        </p:txBody>
      </p:sp>
      <p:sp>
        <p:nvSpPr>
          <p:cNvPr id="17" name="Shape 13"/>
          <p:cNvSpPr/>
          <p:nvPr/>
        </p:nvSpPr>
        <p:spPr>
          <a:xfrm>
            <a:off x="8366760" y="4297680"/>
            <a:ext cx="3044952" cy="1828800"/>
          </a:xfrm>
          <a:prstGeom prst="roundRect">
            <a:avLst>
              <a:gd name="adj" fmla="val 2750"/>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8" name="Text 14"/>
          <p:cNvSpPr/>
          <p:nvPr/>
        </p:nvSpPr>
        <p:spPr>
          <a:xfrm>
            <a:off x="8604504" y="4443984"/>
            <a:ext cx="2569464" cy="1536192"/>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WHY 'AT THE SAME FALSE-ALARM RATE' MATTERS</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Any guard can raise its catch rate by alarming more often. Holding the alarm rate fixed at 5% is what makes every bar here comparable at all.</a:t>
            </a:r>
            <a:endParaRPr lang="en-US" sz="980" dirty="0"/>
          </a:p>
        </p:txBody>
      </p:sp>
      <p:sp>
        <p:nvSpPr>
          <p:cNvPr id="19" name="Text 15"/>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0" name="Text 16"/>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ROUTE ONE: FINE-TUNE OURS</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Fine-tuning did not close the gap, and on unfamiliar traffic it usually made things worse</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Change in catch rate after fine-tuning, across 6 models · 5 training runs each</a:t>
            </a:r>
            <a:endParaRPr lang="en-US" sz="1250" dirty="0"/>
          </a:p>
        </p:txBody>
      </p:sp>
      <p:graphicFrame>
        <p:nvGraphicFramePr>
          <p:cNvPr id="6" name="Chart 0"/>
          <p:cNvGraphicFramePr/>
          <p:nvPr/>
        </p:nvGraphicFramePr>
        <p:xfrm>
          <a:off x="777240" y="2157984"/>
          <a:ext cx="7360920" cy="352958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p:nvPr/>
        </p:nvSpPr>
        <p:spPr>
          <a:xfrm>
            <a:off x="777240" y="5760720"/>
            <a:ext cx="7360920" cy="237744"/>
          </a:xfrm>
          <a:prstGeom prst="rect">
            <a:avLst/>
          </a:prstGeom>
          <a:noFill/>
          <a:ln/>
        </p:spPr>
        <p:txBody>
          <a:bodyPr wrap="square" lIns="0" tIns="0" rIns="0" bIns="0" rtlCol="0" anchor="ctr"/>
          <a:lstStyle/>
          <a:p>
            <a:pPr marL="0" indent="0" algn="ctr">
              <a:buNone/>
            </a:pPr>
            <a:r>
              <a:rPr lang="en-US" sz="900" dirty="0">
                <a:solidFill>
                  <a:srgbClr val="6B7F9F"/>
                </a:solidFill>
                <a:latin typeface="Calibri" pitchFamily="34" charset="0"/>
                <a:ea typeface="Calibri" pitchFamily="34" charset="-122"/>
                <a:cs typeface="Calibri" pitchFamily="34" charset="-120"/>
              </a:rPr>
              <a:t>Change in accuracy after fine-tuning (AP points) · rows ordered weakest base (top) to strongest base (bottom)</a:t>
            </a:r>
            <a:endParaRPr lang="en-US" sz="900" dirty="0"/>
          </a:p>
        </p:txBody>
      </p:sp>
      <p:sp>
        <p:nvSpPr>
          <p:cNvPr id="8" name="Shape 4"/>
          <p:cNvSpPr/>
          <p:nvPr/>
        </p:nvSpPr>
        <p:spPr>
          <a:xfrm>
            <a:off x="8366760" y="2194560"/>
            <a:ext cx="3044952" cy="1956816"/>
          </a:xfrm>
          <a:prstGeom prst="roundRect">
            <a:avLst>
              <a:gd name="adj" fmla="val 2570"/>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9" name="Text 5"/>
          <p:cNvSpPr/>
          <p:nvPr/>
        </p:nvSpPr>
        <p:spPr>
          <a:xfrm>
            <a:off x="8604504" y="2340864"/>
            <a:ext cx="2569464" cy="1664208"/>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PATTERN BEHIND IT</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Fine-tuning teaches a model the traffic you trained it on and costs it accuracy on traffic you did not. Read the chart downward: the blue gain shrinks and the red cost grows as the starting model gets stronger.</a:t>
            </a:r>
            <a:endParaRPr lang="en-US" sz="980" dirty="0"/>
          </a:p>
        </p:txBody>
      </p:sp>
      <p:sp>
        <p:nvSpPr>
          <p:cNvPr id="10" name="Shape 6"/>
          <p:cNvSpPr/>
          <p:nvPr/>
        </p:nvSpPr>
        <p:spPr>
          <a:xfrm>
            <a:off x="8366760" y="4443984"/>
            <a:ext cx="3044952" cy="1682496"/>
          </a:xfrm>
          <a:prstGeom prst="roundRect">
            <a:avLst>
              <a:gd name="adj" fmla="val 298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Text 7"/>
          <p:cNvSpPr/>
          <p:nvPr/>
        </p:nvSpPr>
        <p:spPr>
          <a:xfrm>
            <a:off x="8604504" y="4590288"/>
            <a:ext cx="2569464" cy="1389888"/>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PLANNING CONSEQUENCE</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Budgeting a tuning project to close a vendor gap is not supported here. The best tuned result anywhere (81%) still loses to hosted (90%).</a:t>
            </a:r>
            <a:endParaRPr lang="en-US" sz="980" dirty="0"/>
          </a:p>
        </p:txBody>
      </p:sp>
      <p:sp>
        <p:nvSpPr>
          <p:cNvPr id="12" name="Text 8"/>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13" name="Text 9"/>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ROUTE TWO: BUY A BIGGER ONE</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Eight times the parameters bought less than the gap that was left</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Catch rate against model size, same family, same prompt, same rows</a:t>
            </a:r>
            <a:endParaRPr lang="en-US" sz="1250" dirty="0"/>
          </a:p>
        </p:txBody>
      </p:sp>
      <p:sp>
        <p:nvSpPr>
          <p:cNvPr id="6" name="Shape 3"/>
          <p:cNvSpPr/>
          <p:nvPr/>
        </p:nvSpPr>
        <p:spPr>
          <a:xfrm>
            <a:off x="2331720" y="2414016"/>
            <a:ext cx="5486400" cy="0"/>
          </a:xfrm>
          <a:prstGeom prst="line">
            <a:avLst/>
          </a:prstGeom>
          <a:noFill/>
          <a:ln w="12700">
            <a:solidFill>
              <a:srgbClr val="1C2C46"/>
            </a:solidFill>
            <a:prstDash val="solid"/>
          </a:ln>
        </p:spPr>
        <p:txBody>
          <a:bodyPr/>
          <a:lstStyle/>
          <a:p>
            <a:endParaRPr lang="en-US"/>
          </a:p>
        </p:txBody>
      </p:sp>
      <p:sp>
        <p:nvSpPr>
          <p:cNvPr id="7" name="Text 4"/>
          <p:cNvSpPr/>
          <p:nvPr/>
        </p:nvSpPr>
        <p:spPr>
          <a:xfrm>
            <a:off x="777240" y="2286000"/>
            <a:ext cx="1353312" cy="256032"/>
          </a:xfrm>
          <a:prstGeom prst="rect">
            <a:avLst/>
          </a:prstGeom>
          <a:noFill/>
          <a:ln/>
        </p:spPr>
        <p:txBody>
          <a:bodyPr wrap="square" lIns="0" tIns="0" rIns="0" bIns="0" rtlCol="0" anchor="ctr"/>
          <a:lstStyle/>
          <a:p>
            <a:pPr marL="0" indent="0" algn="r">
              <a:buNone/>
            </a:pPr>
            <a:r>
              <a:rPr lang="en-US" sz="1080" dirty="0">
                <a:solidFill>
                  <a:srgbClr val="9DAFC7"/>
                </a:solidFill>
                <a:latin typeface="Calibri" pitchFamily="34" charset="0"/>
                <a:ea typeface="Calibri" pitchFamily="34" charset="-122"/>
                <a:cs typeface="Calibri" pitchFamily="34" charset="-120"/>
              </a:rPr>
              <a:t>Qwen3-4B</a:t>
            </a:r>
            <a:endParaRPr lang="en-US" sz="1080" dirty="0"/>
          </a:p>
        </p:txBody>
      </p:sp>
      <p:sp>
        <p:nvSpPr>
          <p:cNvPr id="8" name="Shape 5"/>
          <p:cNvSpPr/>
          <p:nvPr/>
        </p:nvSpPr>
        <p:spPr>
          <a:xfrm>
            <a:off x="3611880" y="2322576"/>
            <a:ext cx="182880" cy="182880"/>
          </a:xfrm>
          <a:prstGeom prst="ellipse">
            <a:avLst/>
          </a:prstGeom>
          <a:solidFill>
            <a:srgbClr val="3B527A"/>
          </a:solidFill>
          <a:ln w="12700">
            <a:solidFill>
              <a:srgbClr val="333333"/>
            </a:solidFill>
            <a:prstDash val="solid"/>
          </a:ln>
        </p:spPr>
        <p:txBody>
          <a:bodyPr/>
          <a:lstStyle/>
          <a:p>
            <a:endParaRPr lang="en-US"/>
          </a:p>
        </p:txBody>
      </p:sp>
      <p:sp>
        <p:nvSpPr>
          <p:cNvPr id="9" name="Text 6"/>
          <p:cNvSpPr/>
          <p:nvPr/>
        </p:nvSpPr>
        <p:spPr>
          <a:xfrm>
            <a:off x="3849624" y="2286000"/>
            <a:ext cx="731520" cy="256032"/>
          </a:xfrm>
          <a:prstGeom prst="rect">
            <a:avLst/>
          </a:prstGeom>
          <a:noFill/>
          <a:ln/>
        </p:spPr>
        <p:txBody>
          <a:bodyPr wrap="square" lIns="0" tIns="0" rIns="0" bIns="0" rtlCol="0" anchor="ctr"/>
          <a:lstStyle/>
          <a:p>
            <a:pPr marL="0" indent="0" algn="l">
              <a:buNone/>
            </a:pPr>
            <a:r>
              <a:rPr lang="en-US" sz="1100" dirty="0">
                <a:solidFill>
                  <a:srgbClr val="6B7F9F"/>
                </a:solidFill>
                <a:latin typeface="Calibri" pitchFamily="34" charset="0"/>
                <a:ea typeface="Calibri" pitchFamily="34" charset="-122"/>
                <a:cs typeface="Calibri" pitchFamily="34" charset="-120"/>
              </a:rPr>
              <a:t>77%</a:t>
            </a:r>
            <a:endParaRPr lang="en-US" sz="1100" dirty="0"/>
          </a:p>
        </p:txBody>
      </p:sp>
      <p:sp>
        <p:nvSpPr>
          <p:cNvPr id="10" name="Shape 7"/>
          <p:cNvSpPr/>
          <p:nvPr/>
        </p:nvSpPr>
        <p:spPr>
          <a:xfrm>
            <a:off x="2331720" y="2944368"/>
            <a:ext cx="5486400" cy="0"/>
          </a:xfrm>
          <a:prstGeom prst="line">
            <a:avLst/>
          </a:prstGeom>
          <a:noFill/>
          <a:ln w="12700">
            <a:solidFill>
              <a:srgbClr val="1C2C46"/>
            </a:solidFill>
            <a:prstDash val="solid"/>
          </a:ln>
        </p:spPr>
        <p:txBody>
          <a:bodyPr/>
          <a:lstStyle/>
          <a:p>
            <a:endParaRPr lang="en-US"/>
          </a:p>
        </p:txBody>
      </p:sp>
      <p:sp>
        <p:nvSpPr>
          <p:cNvPr id="11" name="Text 8"/>
          <p:cNvSpPr/>
          <p:nvPr/>
        </p:nvSpPr>
        <p:spPr>
          <a:xfrm>
            <a:off x="777240" y="2816352"/>
            <a:ext cx="1353312" cy="256032"/>
          </a:xfrm>
          <a:prstGeom prst="rect">
            <a:avLst/>
          </a:prstGeom>
          <a:noFill/>
          <a:ln/>
        </p:spPr>
        <p:txBody>
          <a:bodyPr wrap="square" lIns="0" tIns="0" rIns="0" bIns="0" rtlCol="0" anchor="ctr"/>
          <a:lstStyle/>
          <a:p>
            <a:pPr marL="0" indent="0" algn="r">
              <a:buNone/>
            </a:pPr>
            <a:r>
              <a:rPr lang="en-US" sz="1080" dirty="0">
                <a:solidFill>
                  <a:srgbClr val="9DAFC7"/>
                </a:solidFill>
                <a:latin typeface="Calibri" pitchFamily="34" charset="0"/>
                <a:ea typeface="Calibri" pitchFamily="34" charset="-122"/>
                <a:cs typeface="Calibri" pitchFamily="34" charset="-120"/>
              </a:rPr>
              <a:t>Qwen3-8B</a:t>
            </a:r>
            <a:endParaRPr lang="en-US" sz="1080" dirty="0"/>
          </a:p>
        </p:txBody>
      </p:sp>
      <p:sp>
        <p:nvSpPr>
          <p:cNvPr id="12" name="Shape 9"/>
          <p:cNvSpPr/>
          <p:nvPr/>
        </p:nvSpPr>
        <p:spPr>
          <a:xfrm>
            <a:off x="3063240" y="2852928"/>
            <a:ext cx="182880" cy="182880"/>
          </a:xfrm>
          <a:prstGeom prst="ellipse">
            <a:avLst/>
          </a:prstGeom>
          <a:solidFill>
            <a:srgbClr val="3B527A"/>
          </a:solidFill>
          <a:ln w="12700">
            <a:solidFill>
              <a:srgbClr val="333333"/>
            </a:solidFill>
            <a:prstDash val="solid"/>
          </a:ln>
        </p:spPr>
        <p:txBody>
          <a:bodyPr/>
          <a:lstStyle/>
          <a:p>
            <a:endParaRPr lang="en-US"/>
          </a:p>
        </p:txBody>
      </p:sp>
      <p:sp>
        <p:nvSpPr>
          <p:cNvPr id="13" name="Text 10"/>
          <p:cNvSpPr/>
          <p:nvPr/>
        </p:nvSpPr>
        <p:spPr>
          <a:xfrm>
            <a:off x="3300984" y="2816352"/>
            <a:ext cx="731520" cy="256032"/>
          </a:xfrm>
          <a:prstGeom prst="rect">
            <a:avLst/>
          </a:prstGeom>
          <a:noFill/>
          <a:ln/>
        </p:spPr>
        <p:txBody>
          <a:bodyPr wrap="square" lIns="0" tIns="0" rIns="0" bIns="0" rtlCol="0" anchor="ctr"/>
          <a:lstStyle/>
          <a:p>
            <a:pPr marL="0" indent="0" algn="l">
              <a:buNone/>
            </a:pPr>
            <a:r>
              <a:rPr lang="en-US" sz="1100" dirty="0">
                <a:solidFill>
                  <a:srgbClr val="6B7F9F"/>
                </a:solidFill>
                <a:latin typeface="Calibri" pitchFamily="34" charset="0"/>
                <a:ea typeface="Calibri" pitchFamily="34" charset="-122"/>
                <a:cs typeface="Calibri" pitchFamily="34" charset="-120"/>
              </a:rPr>
              <a:t>75%</a:t>
            </a:r>
            <a:endParaRPr lang="en-US" sz="1100" dirty="0"/>
          </a:p>
        </p:txBody>
      </p:sp>
      <p:sp>
        <p:nvSpPr>
          <p:cNvPr id="14" name="Shape 11"/>
          <p:cNvSpPr/>
          <p:nvPr/>
        </p:nvSpPr>
        <p:spPr>
          <a:xfrm>
            <a:off x="2331720" y="3474720"/>
            <a:ext cx="5486400" cy="0"/>
          </a:xfrm>
          <a:prstGeom prst="line">
            <a:avLst/>
          </a:prstGeom>
          <a:noFill/>
          <a:ln w="12700">
            <a:solidFill>
              <a:srgbClr val="1C2C46"/>
            </a:solidFill>
            <a:prstDash val="solid"/>
          </a:ln>
        </p:spPr>
        <p:txBody>
          <a:bodyPr/>
          <a:lstStyle/>
          <a:p>
            <a:endParaRPr lang="en-US"/>
          </a:p>
        </p:txBody>
      </p:sp>
      <p:sp>
        <p:nvSpPr>
          <p:cNvPr id="15" name="Text 12"/>
          <p:cNvSpPr/>
          <p:nvPr/>
        </p:nvSpPr>
        <p:spPr>
          <a:xfrm>
            <a:off x="777240" y="3346704"/>
            <a:ext cx="1353312" cy="256032"/>
          </a:xfrm>
          <a:prstGeom prst="rect">
            <a:avLst/>
          </a:prstGeom>
          <a:noFill/>
          <a:ln/>
        </p:spPr>
        <p:txBody>
          <a:bodyPr wrap="square" lIns="0" tIns="0" rIns="0" bIns="0" rtlCol="0" anchor="ctr"/>
          <a:lstStyle/>
          <a:p>
            <a:pPr marL="0" indent="0" algn="r">
              <a:buNone/>
            </a:pPr>
            <a:r>
              <a:rPr lang="en-US" sz="1080" b="1" dirty="0">
                <a:solidFill>
                  <a:srgbClr val="BFD8F5"/>
                </a:solidFill>
                <a:latin typeface="Calibri" pitchFamily="34" charset="0"/>
                <a:ea typeface="Calibri" pitchFamily="34" charset="-122"/>
                <a:cs typeface="Calibri" pitchFamily="34" charset="-120"/>
              </a:rPr>
              <a:t>Qwen3-32B</a:t>
            </a:r>
            <a:endParaRPr lang="en-US" sz="1080" dirty="0"/>
          </a:p>
        </p:txBody>
      </p:sp>
      <p:sp>
        <p:nvSpPr>
          <p:cNvPr id="16" name="Shape 13"/>
          <p:cNvSpPr/>
          <p:nvPr/>
        </p:nvSpPr>
        <p:spPr>
          <a:xfrm>
            <a:off x="5257800" y="3383280"/>
            <a:ext cx="182880" cy="182880"/>
          </a:xfrm>
          <a:prstGeom prst="ellipse">
            <a:avLst/>
          </a:prstGeom>
          <a:solidFill>
            <a:srgbClr val="BFD8F5"/>
          </a:solidFill>
          <a:ln w="12700">
            <a:solidFill>
              <a:srgbClr val="333333"/>
            </a:solidFill>
            <a:prstDash val="solid"/>
          </a:ln>
        </p:spPr>
        <p:txBody>
          <a:bodyPr/>
          <a:lstStyle/>
          <a:p>
            <a:endParaRPr lang="en-US"/>
          </a:p>
        </p:txBody>
      </p:sp>
      <p:sp>
        <p:nvSpPr>
          <p:cNvPr id="17" name="Text 14"/>
          <p:cNvSpPr/>
          <p:nvPr/>
        </p:nvSpPr>
        <p:spPr>
          <a:xfrm>
            <a:off x="5495544" y="3346704"/>
            <a:ext cx="731520" cy="256032"/>
          </a:xfrm>
          <a:prstGeom prst="rect">
            <a:avLst/>
          </a:prstGeom>
          <a:noFill/>
          <a:ln/>
        </p:spPr>
        <p:txBody>
          <a:bodyPr wrap="square" lIns="0" tIns="0" rIns="0" bIns="0" rtlCol="0" anchor="ctr"/>
          <a:lstStyle/>
          <a:p>
            <a:pPr marL="0" indent="0" algn="l">
              <a:buNone/>
            </a:pPr>
            <a:r>
              <a:rPr lang="en-US" sz="1100" b="1" dirty="0">
                <a:solidFill>
                  <a:srgbClr val="BFD8F5"/>
                </a:solidFill>
                <a:latin typeface="Calibri" pitchFamily="34" charset="0"/>
                <a:ea typeface="Calibri" pitchFamily="34" charset="-122"/>
                <a:cs typeface="Calibri" pitchFamily="34" charset="-120"/>
              </a:rPr>
              <a:t>83%</a:t>
            </a:r>
            <a:endParaRPr lang="en-US" sz="1100" dirty="0"/>
          </a:p>
        </p:txBody>
      </p:sp>
      <p:sp>
        <p:nvSpPr>
          <p:cNvPr id="18" name="Shape 15"/>
          <p:cNvSpPr/>
          <p:nvPr/>
        </p:nvSpPr>
        <p:spPr>
          <a:xfrm>
            <a:off x="2331720" y="4005072"/>
            <a:ext cx="5486400" cy="0"/>
          </a:xfrm>
          <a:prstGeom prst="line">
            <a:avLst/>
          </a:prstGeom>
          <a:noFill/>
          <a:ln w="12700">
            <a:solidFill>
              <a:srgbClr val="1C2C46"/>
            </a:solidFill>
            <a:prstDash val="solid"/>
          </a:ln>
        </p:spPr>
        <p:txBody>
          <a:bodyPr/>
          <a:lstStyle/>
          <a:p>
            <a:endParaRPr lang="en-US"/>
          </a:p>
        </p:txBody>
      </p:sp>
      <p:sp>
        <p:nvSpPr>
          <p:cNvPr id="19" name="Text 16"/>
          <p:cNvSpPr/>
          <p:nvPr/>
        </p:nvSpPr>
        <p:spPr>
          <a:xfrm>
            <a:off x="777240" y="3877056"/>
            <a:ext cx="1353312" cy="256032"/>
          </a:xfrm>
          <a:prstGeom prst="rect">
            <a:avLst/>
          </a:prstGeom>
          <a:noFill/>
          <a:ln/>
        </p:spPr>
        <p:txBody>
          <a:bodyPr wrap="square" lIns="0" tIns="0" rIns="0" bIns="0" rtlCol="0" anchor="ctr"/>
          <a:lstStyle/>
          <a:p>
            <a:pPr marL="0" indent="0" algn="r">
              <a:buNone/>
            </a:pPr>
            <a:r>
              <a:rPr lang="en-US" sz="1080" b="1" dirty="0">
                <a:solidFill>
                  <a:srgbClr val="E0564F"/>
                </a:solidFill>
                <a:latin typeface="Calibri" pitchFamily="34" charset="0"/>
                <a:ea typeface="Calibri" pitchFamily="34" charset="-122"/>
                <a:cs typeface="Calibri" pitchFamily="34" charset="-120"/>
              </a:rPr>
              <a:t>hosted frontier</a:t>
            </a:r>
            <a:endParaRPr lang="en-US" sz="1080" dirty="0"/>
          </a:p>
        </p:txBody>
      </p:sp>
      <p:sp>
        <p:nvSpPr>
          <p:cNvPr id="20" name="Shape 17"/>
          <p:cNvSpPr/>
          <p:nvPr/>
        </p:nvSpPr>
        <p:spPr>
          <a:xfrm>
            <a:off x="7178040" y="3913632"/>
            <a:ext cx="182880" cy="182880"/>
          </a:xfrm>
          <a:prstGeom prst="ellipse">
            <a:avLst/>
          </a:prstGeom>
          <a:solidFill>
            <a:srgbClr val="E0564F"/>
          </a:solidFill>
          <a:ln w="12700">
            <a:solidFill>
              <a:srgbClr val="333333"/>
            </a:solidFill>
            <a:prstDash val="solid"/>
          </a:ln>
        </p:spPr>
        <p:txBody>
          <a:bodyPr/>
          <a:lstStyle/>
          <a:p>
            <a:endParaRPr lang="en-US"/>
          </a:p>
        </p:txBody>
      </p:sp>
      <p:sp>
        <p:nvSpPr>
          <p:cNvPr id="21" name="Text 18"/>
          <p:cNvSpPr/>
          <p:nvPr/>
        </p:nvSpPr>
        <p:spPr>
          <a:xfrm>
            <a:off x="7415784" y="3877056"/>
            <a:ext cx="731520" cy="256032"/>
          </a:xfrm>
          <a:prstGeom prst="rect">
            <a:avLst/>
          </a:prstGeom>
          <a:noFill/>
          <a:ln/>
        </p:spPr>
        <p:txBody>
          <a:bodyPr wrap="square" lIns="0" tIns="0" rIns="0" bIns="0" rtlCol="0" anchor="ctr"/>
          <a:lstStyle/>
          <a:p>
            <a:pPr marL="0" indent="0" algn="l">
              <a:buNone/>
            </a:pPr>
            <a:r>
              <a:rPr lang="en-US" sz="1100" b="1" dirty="0">
                <a:solidFill>
                  <a:srgbClr val="E0564F"/>
                </a:solidFill>
                <a:latin typeface="Calibri" pitchFamily="34" charset="0"/>
                <a:ea typeface="Calibri" pitchFamily="34" charset="-122"/>
                <a:cs typeface="Calibri" pitchFamily="34" charset="-120"/>
              </a:rPr>
              <a:t>90%</a:t>
            </a:r>
            <a:endParaRPr lang="en-US" sz="1100" dirty="0"/>
          </a:p>
        </p:txBody>
      </p:sp>
      <p:sp>
        <p:nvSpPr>
          <p:cNvPr id="22" name="Shape 19"/>
          <p:cNvSpPr/>
          <p:nvPr/>
        </p:nvSpPr>
        <p:spPr>
          <a:xfrm>
            <a:off x="3703320" y="4443984"/>
            <a:ext cx="1645920" cy="0"/>
          </a:xfrm>
          <a:prstGeom prst="line">
            <a:avLst/>
          </a:prstGeom>
          <a:noFill/>
          <a:ln w="15875">
            <a:solidFill>
              <a:srgbClr val="BFD8F5"/>
            </a:solidFill>
            <a:prstDash val="solid"/>
          </a:ln>
        </p:spPr>
        <p:txBody>
          <a:bodyPr/>
          <a:lstStyle/>
          <a:p>
            <a:endParaRPr lang="en-US"/>
          </a:p>
        </p:txBody>
      </p:sp>
      <p:sp>
        <p:nvSpPr>
          <p:cNvPr id="23" name="Shape 20"/>
          <p:cNvSpPr/>
          <p:nvPr/>
        </p:nvSpPr>
        <p:spPr>
          <a:xfrm>
            <a:off x="3703320" y="4379976"/>
            <a:ext cx="0" cy="128016"/>
          </a:xfrm>
          <a:prstGeom prst="line">
            <a:avLst/>
          </a:prstGeom>
          <a:noFill/>
          <a:ln w="15875">
            <a:solidFill>
              <a:srgbClr val="BFD8F5"/>
            </a:solidFill>
            <a:prstDash val="solid"/>
          </a:ln>
        </p:spPr>
        <p:txBody>
          <a:bodyPr/>
          <a:lstStyle/>
          <a:p>
            <a:endParaRPr lang="en-US"/>
          </a:p>
        </p:txBody>
      </p:sp>
      <p:sp>
        <p:nvSpPr>
          <p:cNvPr id="24" name="Shape 21"/>
          <p:cNvSpPr/>
          <p:nvPr/>
        </p:nvSpPr>
        <p:spPr>
          <a:xfrm>
            <a:off x="5349240" y="4379976"/>
            <a:ext cx="0" cy="128016"/>
          </a:xfrm>
          <a:prstGeom prst="line">
            <a:avLst/>
          </a:prstGeom>
          <a:noFill/>
          <a:ln w="15875">
            <a:solidFill>
              <a:srgbClr val="BFD8F5"/>
            </a:solidFill>
            <a:prstDash val="solid"/>
          </a:ln>
        </p:spPr>
        <p:txBody>
          <a:bodyPr/>
          <a:lstStyle/>
          <a:p>
            <a:endParaRPr lang="en-US"/>
          </a:p>
        </p:txBody>
      </p:sp>
      <p:sp>
        <p:nvSpPr>
          <p:cNvPr id="25" name="Text 22"/>
          <p:cNvSpPr/>
          <p:nvPr/>
        </p:nvSpPr>
        <p:spPr>
          <a:xfrm>
            <a:off x="3246120" y="4535424"/>
            <a:ext cx="2560320" cy="256032"/>
          </a:xfrm>
          <a:prstGeom prst="rect">
            <a:avLst/>
          </a:prstGeom>
          <a:noFill/>
          <a:ln/>
        </p:spPr>
        <p:txBody>
          <a:bodyPr wrap="square" lIns="0" tIns="0" rIns="0" bIns="0" rtlCol="0" anchor="ctr"/>
          <a:lstStyle/>
          <a:p>
            <a:pPr marL="0" indent="0" algn="ctr">
              <a:buNone/>
            </a:pPr>
            <a:r>
              <a:rPr lang="en-US" sz="1000" b="1" dirty="0">
                <a:solidFill>
                  <a:srgbClr val="BFD8F5"/>
                </a:solidFill>
                <a:latin typeface="Calibri" pitchFamily="34" charset="0"/>
                <a:ea typeface="Calibri" pitchFamily="34" charset="-122"/>
                <a:cs typeface="Calibri" pitchFamily="34" charset="-120"/>
              </a:rPr>
              <a:t>8× parameters  →  +6 pts</a:t>
            </a:r>
            <a:endParaRPr lang="en-US" sz="1000" dirty="0"/>
          </a:p>
        </p:txBody>
      </p:sp>
      <p:sp>
        <p:nvSpPr>
          <p:cNvPr id="26" name="Shape 23"/>
          <p:cNvSpPr/>
          <p:nvPr/>
        </p:nvSpPr>
        <p:spPr>
          <a:xfrm>
            <a:off x="5349240" y="4443984"/>
            <a:ext cx="1920240" cy="0"/>
          </a:xfrm>
          <a:prstGeom prst="line">
            <a:avLst/>
          </a:prstGeom>
          <a:noFill/>
          <a:ln w="15875">
            <a:solidFill>
              <a:srgbClr val="E0564F"/>
            </a:solidFill>
            <a:prstDash val="solid"/>
          </a:ln>
        </p:spPr>
        <p:txBody>
          <a:bodyPr/>
          <a:lstStyle/>
          <a:p>
            <a:endParaRPr lang="en-US"/>
          </a:p>
        </p:txBody>
      </p:sp>
      <p:sp>
        <p:nvSpPr>
          <p:cNvPr id="27" name="Shape 24"/>
          <p:cNvSpPr/>
          <p:nvPr/>
        </p:nvSpPr>
        <p:spPr>
          <a:xfrm>
            <a:off x="5349240" y="4379976"/>
            <a:ext cx="0" cy="128016"/>
          </a:xfrm>
          <a:prstGeom prst="line">
            <a:avLst/>
          </a:prstGeom>
          <a:noFill/>
          <a:ln w="15875">
            <a:solidFill>
              <a:srgbClr val="E0564F"/>
            </a:solidFill>
            <a:prstDash val="solid"/>
          </a:ln>
        </p:spPr>
        <p:txBody>
          <a:bodyPr/>
          <a:lstStyle/>
          <a:p>
            <a:endParaRPr lang="en-US"/>
          </a:p>
        </p:txBody>
      </p:sp>
      <p:sp>
        <p:nvSpPr>
          <p:cNvPr id="28" name="Shape 25"/>
          <p:cNvSpPr/>
          <p:nvPr/>
        </p:nvSpPr>
        <p:spPr>
          <a:xfrm>
            <a:off x="7269480" y="4379976"/>
            <a:ext cx="0" cy="128016"/>
          </a:xfrm>
          <a:prstGeom prst="line">
            <a:avLst/>
          </a:prstGeom>
          <a:noFill/>
          <a:ln w="15875">
            <a:solidFill>
              <a:srgbClr val="E0564F"/>
            </a:solidFill>
            <a:prstDash val="solid"/>
          </a:ln>
        </p:spPr>
        <p:txBody>
          <a:bodyPr/>
          <a:lstStyle/>
          <a:p>
            <a:endParaRPr lang="en-US"/>
          </a:p>
        </p:txBody>
      </p:sp>
      <p:sp>
        <p:nvSpPr>
          <p:cNvPr id="29" name="Text 26"/>
          <p:cNvSpPr/>
          <p:nvPr/>
        </p:nvSpPr>
        <p:spPr>
          <a:xfrm>
            <a:off x="4892040" y="4535424"/>
            <a:ext cx="2834640" cy="256032"/>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still 7 pts short</a:t>
            </a:r>
            <a:endParaRPr lang="en-US" sz="1000" dirty="0"/>
          </a:p>
        </p:txBody>
      </p:sp>
      <p:sp>
        <p:nvSpPr>
          <p:cNvPr id="30" name="Text 27"/>
          <p:cNvSpPr/>
          <p:nvPr/>
        </p:nvSpPr>
        <p:spPr>
          <a:xfrm>
            <a:off x="777240" y="4828032"/>
            <a:ext cx="7360920" cy="237744"/>
          </a:xfrm>
          <a:prstGeom prst="rect">
            <a:avLst/>
          </a:prstGeom>
          <a:noFill/>
          <a:ln/>
        </p:spPr>
        <p:txBody>
          <a:bodyPr wrap="square" lIns="0" tIns="0" rIns="0" bIns="0" rtlCol="0" anchor="ctr"/>
          <a:lstStyle/>
          <a:p>
            <a:pPr marL="0" indent="0" algn="ctr">
              <a:buNone/>
            </a:pPr>
            <a:r>
              <a:rPr lang="en-US" sz="900" dirty="0">
                <a:solidFill>
                  <a:srgbClr val="6B7F9F"/>
                </a:solidFill>
                <a:latin typeface="Calibri" pitchFamily="34" charset="0"/>
                <a:ea typeface="Calibri" pitchFamily="34" charset="-122"/>
                <a:cs typeface="Calibri" pitchFamily="34" charset="-120"/>
              </a:rPr>
              <a:t>Share of unsafe prompts caught, at a matched 5% false-alarm rate</a:t>
            </a:r>
            <a:endParaRPr lang="en-US" sz="900" dirty="0"/>
          </a:p>
        </p:txBody>
      </p:sp>
      <p:sp>
        <p:nvSpPr>
          <p:cNvPr id="31" name="Shape 28"/>
          <p:cNvSpPr/>
          <p:nvPr/>
        </p:nvSpPr>
        <p:spPr>
          <a:xfrm>
            <a:off x="8183880" y="2240280"/>
            <a:ext cx="3227832" cy="877824"/>
          </a:xfrm>
          <a:prstGeom prst="roundRect">
            <a:avLst>
              <a:gd name="adj" fmla="val 572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2" name="Shape 29"/>
          <p:cNvSpPr/>
          <p:nvPr/>
        </p:nvSpPr>
        <p:spPr>
          <a:xfrm>
            <a:off x="8403336" y="2523744"/>
            <a:ext cx="310896" cy="310896"/>
          </a:xfrm>
          <a:prstGeom prst="ellipse">
            <a:avLst/>
          </a:prstGeom>
          <a:solidFill>
            <a:srgbClr val="0C1424"/>
          </a:solidFill>
          <a:ln w="12700">
            <a:solidFill>
              <a:srgbClr val="E0564F"/>
            </a:solidFill>
            <a:prstDash val="solid"/>
          </a:ln>
        </p:spPr>
        <p:txBody>
          <a:bodyPr/>
          <a:lstStyle/>
          <a:p>
            <a:endParaRPr lang="en-US"/>
          </a:p>
        </p:txBody>
      </p:sp>
      <p:sp>
        <p:nvSpPr>
          <p:cNvPr id="33" name="Text 30"/>
          <p:cNvSpPr/>
          <p:nvPr/>
        </p:nvSpPr>
        <p:spPr>
          <a:xfrm>
            <a:off x="8403336" y="2523744"/>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34" name="Text 31"/>
          <p:cNvSpPr/>
          <p:nvPr/>
        </p:nvSpPr>
        <p:spPr>
          <a:xfrm>
            <a:off x="8915400" y="2386584"/>
            <a:ext cx="2276856" cy="585216"/>
          </a:xfrm>
          <a:prstGeom prst="rect">
            <a:avLst/>
          </a:prstGeom>
          <a:noFill/>
          <a:ln/>
        </p:spPr>
        <p:txBody>
          <a:bodyPr wrap="square" lIns="0" tIns="0" rIns="0" bIns="0" rtlCol="0" anchor="ctr"/>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8× the parameters bought +6 pts.</a:t>
            </a:r>
            <a:r>
              <a:rPr lang="en-US" sz="1020" dirty="0">
                <a:solidFill>
                  <a:srgbClr val="9DAFC7"/>
                </a:solidFill>
                <a:latin typeface="Calibri" pitchFamily="34" charset="0"/>
                <a:ea typeface="Calibri" pitchFamily="34" charset="-122"/>
                <a:cs typeface="Calibri" pitchFamily="34" charset="-120"/>
              </a:rPr>
              <a:t> Going from 4B to 32B.</a:t>
            </a:r>
            <a:endParaRPr lang="en-US" sz="1020" dirty="0"/>
          </a:p>
        </p:txBody>
      </p:sp>
      <p:sp>
        <p:nvSpPr>
          <p:cNvPr id="35" name="Shape 32"/>
          <p:cNvSpPr/>
          <p:nvPr/>
        </p:nvSpPr>
        <p:spPr>
          <a:xfrm>
            <a:off x="8183880" y="3410712"/>
            <a:ext cx="3227832" cy="877824"/>
          </a:xfrm>
          <a:prstGeom prst="roundRect">
            <a:avLst>
              <a:gd name="adj" fmla="val 572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6" name="Shape 33"/>
          <p:cNvSpPr/>
          <p:nvPr/>
        </p:nvSpPr>
        <p:spPr>
          <a:xfrm>
            <a:off x="8403336" y="3694176"/>
            <a:ext cx="310896" cy="310896"/>
          </a:xfrm>
          <a:prstGeom prst="ellipse">
            <a:avLst/>
          </a:prstGeom>
          <a:solidFill>
            <a:srgbClr val="0C1424"/>
          </a:solidFill>
          <a:ln w="12700">
            <a:solidFill>
              <a:srgbClr val="E0564F"/>
            </a:solidFill>
            <a:prstDash val="solid"/>
          </a:ln>
        </p:spPr>
        <p:txBody>
          <a:bodyPr/>
          <a:lstStyle/>
          <a:p>
            <a:endParaRPr lang="en-US"/>
          </a:p>
        </p:txBody>
      </p:sp>
      <p:sp>
        <p:nvSpPr>
          <p:cNvPr id="37" name="Text 34"/>
          <p:cNvSpPr/>
          <p:nvPr/>
        </p:nvSpPr>
        <p:spPr>
          <a:xfrm>
            <a:off x="8403336" y="369417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38" name="Text 35"/>
          <p:cNvSpPr/>
          <p:nvPr/>
        </p:nvSpPr>
        <p:spPr>
          <a:xfrm>
            <a:off x="8915400" y="3557016"/>
            <a:ext cx="2276856" cy="585216"/>
          </a:xfrm>
          <a:prstGeom prst="rect">
            <a:avLst/>
          </a:prstGeom>
          <a:noFill/>
          <a:ln/>
        </p:spPr>
        <p:txBody>
          <a:bodyPr wrap="square" lIns="0" tIns="0" rIns="0" bIns="0" rtlCol="0" anchor="ctr"/>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The gap left is +7 pts.</a:t>
            </a:r>
            <a:r>
              <a:rPr lang="en-US" sz="1020" dirty="0">
                <a:solidFill>
                  <a:srgbClr val="9DAFC7"/>
                </a:solidFill>
                <a:latin typeface="Calibri" pitchFamily="34" charset="0"/>
                <a:ea typeface="Calibri" pitchFamily="34" charset="-122"/>
                <a:cs typeface="Calibri" pitchFamily="34" charset="-120"/>
              </a:rPr>
              <a:t> Slightly larger than everything that scaling bought.</a:t>
            </a:r>
            <a:endParaRPr lang="en-US" sz="1020" dirty="0"/>
          </a:p>
        </p:txBody>
      </p:sp>
      <p:sp>
        <p:nvSpPr>
          <p:cNvPr id="39" name="Shape 36"/>
          <p:cNvSpPr/>
          <p:nvPr/>
        </p:nvSpPr>
        <p:spPr>
          <a:xfrm>
            <a:off x="8183880" y="4581144"/>
            <a:ext cx="3227832" cy="877824"/>
          </a:xfrm>
          <a:prstGeom prst="roundRect">
            <a:avLst>
              <a:gd name="adj" fmla="val 572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40" name="Shape 37"/>
          <p:cNvSpPr/>
          <p:nvPr/>
        </p:nvSpPr>
        <p:spPr>
          <a:xfrm>
            <a:off x="8403336" y="4864608"/>
            <a:ext cx="310896" cy="310896"/>
          </a:xfrm>
          <a:prstGeom prst="ellipse">
            <a:avLst/>
          </a:prstGeom>
          <a:solidFill>
            <a:srgbClr val="0C1424"/>
          </a:solidFill>
          <a:ln w="12700">
            <a:solidFill>
              <a:srgbClr val="E0564F"/>
            </a:solidFill>
            <a:prstDash val="solid"/>
          </a:ln>
        </p:spPr>
        <p:txBody>
          <a:bodyPr/>
          <a:lstStyle/>
          <a:p>
            <a:endParaRPr lang="en-US"/>
          </a:p>
        </p:txBody>
      </p:sp>
      <p:sp>
        <p:nvSpPr>
          <p:cNvPr id="41" name="Text 38"/>
          <p:cNvSpPr/>
          <p:nvPr/>
        </p:nvSpPr>
        <p:spPr>
          <a:xfrm>
            <a:off x="8403336" y="486460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42" name="Text 39"/>
          <p:cNvSpPr/>
          <p:nvPr/>
        </p:nvSpPr>
        <p:spPr>
          <a:xfrm>
            <a:off x="8915400" y="4727448"/>
            <a:ext cx="2276856" cy="585216"/>
          </a:xfrm>
          <a:prstGeom prst="rect">
            <a:avLst/>
          </a:prstGeom>
          <a:noFill/>
          <a:ln/>
        </p:spPr>
        <p:txBody>
          <a:bodyPr wrap="square" lIns="0" tIns="0" rIns="0" bIns="0" rtlCol="0" anchor="ctr"/>
          <a:lstStyle/>
          <a:p>
            <a:pPr marL="0" indent="0">
              <a:lnSpc>
                <a:spcPct val="114000"/>
              </a:lnSpc>
              <a:buNone/>
            </a:pPr>
            <a:r>
              <a:rPr lang="en-US" sz="1020" b="1" dirty="0">
                <a:solidFill>
                  <a:srgbClr val="EEF2F8"/>
                </a:solidFill>
                <a:latin typeface="Calibri" pitchFamily="34" charset="0"/>
                <a:ea typeface="Calibri" pitchFamily="34" charset="-122"/>
                <a:cs typeface="Calibri" pitchFamily="34" charset="-120"/>
              </a:rPr>
              <a:t>4B to 8B bought nothing.</a:t>
            </a:r>
            <a:r>
              <a:rPr lang="en-US" sz="1020" dirty="0">
                <a:solidFill>
                  <a:srgbClr val="9DAFC7"/>
                </a:solidFill>
                <a:latin typeface="Calibri" pitchFamily="34" charset="0"/>
                <a:ea typeface="Calibri" pitchFamily="34" charset="-122"/>
                <a:cs typeface="Calibri" pitchFamily="34" charset="-120"/>
              </a:rPr>
              <a:t> Size does not buy guard accuracy smoothly.</a:t>
            </a:r>
            <a:endParaRPr lang="en-US" sz="1020" dirty="0"/>
          </a:p>
        </p:txBody>
      </p:sp>
      <p:sp>
        <p:nvSpPr>
          <p:cNvPr id="43" name="Shape 40"/>
          <p:cNvSpPr/>
          <p:nvPr/>
        </p:nvSpPr>
        <p:spPr>
          <a:xfrm>
            <a:off x="777240" y="5340096"/>
            <a:ext cx="7360920" cy="877824"/>
          </a:xfrm>
          <a:prstGeom prst="roundRect">
            <a:avLst>
              <a:gd name="adj" fmla="val 5729"/>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44" name="Text 41"/>
          <p:cNvSpPr/>
          <p:nvPr/>
        </p:nvSpPr>
        <p:spPr>
          <a:xfrm>
            <a:off x="1014984" y="5486400"/>
            <a:ext cx="6885432" cy="58521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WHAT THIS IMPLIES FOR A BUILD PLAN</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Closing the remaining gap by size alone would take at least another order of magnitude — and 32B is already past the point where a guard is cheap to run on every request, which was the reason to self-host in the first place.</a:t>
            </a:r>
            <a:endParaRPr lang="en-US" sz="980" dirty="0"/>
          </a:p>
        </p:txBody>
      </p:sp>
      <p:sp>
        <p:nvSpPr>
          <p:cNvPr id="45" name="Text 42"/>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46" name="Text 43"/>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WHY THE RULE WORKS</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You do not have to choose. Escalating the uncertain fifth buys half the difference</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Recall against the share of requests sent out, at a fixed 5% false-alarm budget</a:t>
            </a:r>
            <a:endParaRPr lang="en-US" sz="1250" dirty="0"/>
          </a:p>
        </p:txBody>
      </p:sp>
      <p:graphicFrame>
        <p:nvGraphicFramePr>
          <p:cNvPr id="6" name="Chart 0"/>
          <p:cNvGraphicFramePr/>
          <p:nvPr/>
        </p:nvGraphicFramePr>
        <p:xfrm>
          <a:off x="777240" y="2157984"/>
          <a:ext cx="736092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p:nvPr/>
        </p:nvSpPr>
        <p:spPr>
          <a:xfrm>
            <a:off x="1338316" y="2148054"/>
            <a:ext cx="3840480" cy="228600"/>
          </a:xfrm>
          <a:prstGeom prst="rect">
            <a:avLst/>
          </a:prstGeom>
          <a:noFill/>
          <a:ln/>
        </p:spPr>
        <p:txBody>
          <a:bodyPr wrap="square" lIns="0" tIns="0" rIns="0" bIns="0" rtlCol="0" anchor="ctr"/>
          <a:lstStyle/>
          <a:p>
            <a:pPr marL="0" indent="0">
              <a:buNone/>
            </a:pPr>
            <a:r>
              <a:rPr lang="en-US" sz="950" b="1" dirty="0">
                <a:solidFill>
                  <a:srgbClr val="F08A7F"/>
                </a:solidFill>
                <a:latin typeface="Calibri" pitchFamily="34" charset="0"/>
                <a:ea typeface="Calibri" pitchFamily="34" charset="-122"/>
                <a:cs typeface="Calibri" pitchFamily="34" charset="-120"/>
              </a:rPr>
              <a:t>send every request to the hosted model — 90%</a:t>
            </a:r>
            <a:endParaRPr lang="en-US" sz="950" dirty="0"/>
          </a:p>
        </p:txBody>
      </p:sp>
      <p:sp>
        <p:nvSpPr>
          <p:cNvPr id="8" name="Text 4"/>
          <p:cNvSpPr/>
          <p:nvPr/>
        </p:nvSpPr>
        <p:spPr>
          <a:xfrm>
            <a:off x="4738238" y="4113172"/>
            <a:ext cx="3108960" cy="228600"/>
          </a:xfrm>
          <a:prstGeom prst="rect">
            <a:avLst/>
          </a:prstGeom>
          <a:noFill/>
          <a:ln/>
        </p:spPr>
        <p:txBody>
          <a:bodyPr wrap="square" lIns="0" tIns="0" rIns="0" bIns="0" rtlCol="0" anchor="ctr"/>
          <a:lstStyle/>
          <a:p>
            <a:pPr marL="0" indent="0" algn="r">
              <a:buNone/>
            </a:pPr>
            <a:r>
              <a:rPr lang="en-US" sz="950" b="1" dirty="0">
                <a:solidFill>
                  <a:srgbClr val="7C9BC8"/>
                </a:solidFill>
                <a:latin typeface="Calibri" pitchFamily="34" charset="0"/>
                <a:ea typeface="Calibri" pitchFamily="34" charset="-122"/>
                <a:cs typeface="Calibri" pitchFamily="34" charset="-120"/>
              </a:rPr>
              <a:t>keep every request in-house — 79%</a:t>
            </a:r>
            <a:endParaRPr lang="en-US" sz="950" dirty="0"/>
          </a:p>
        </p:txBody>
      </p:sp>
      <p:sp>
        <p:nvSpPr>
          <p:cNvPr id="9" name="Shape 5"/>
          <p:cNvSpPr/>
          <p:nvPr/>
        </p:nvSpPr>
        <p:spPr>
          <a:xfrm>
            <a:off x="2571512" y="3702791"/>
            <a:ext cx="137160" cy="137160"/>
          </a:xfrm>
          <a:prstGeom prst="ellipse">
            <a:avLst/>
          </a:prstGeom>
          <a:solidFill>
            <a:srgbClr val="BFD8F5"/>
          </a:solidFill>
          <a:ln w="12700">
            <a:solidFill>
              <a:srgbClr val="8FB3DE"/>
            </a:solidFill>
            <a:prstDash val="solid"/>
          </a:ln>
        </p:spPr>
        <p:txBody>
          <a:bodyPr/>
          <a:lstStyle/>
          <a:p>
            <a:endParaRPr lang="en-US"/>
          </a:p>
        </p:txBody>
      </p:sp>
      <p:sp>
        <p:nvSpPr>
          <p:cNvPr id="10" name="Text 6"/>
          <p:cNvSpPr/>
          <p:nvPr/>
        </p:nvSpPr>
        <p:spPr>
          <a:xfrm>
            <a:off x="2411492" y="3954251"/>
            <a:ext cx="457200" cy="228600"/>
          </a:xfrm>
          <a:prstGeom prst="rect">
            <a:avLst/>
          </a:prstGeom>
          <a:noFill/>
          <a:ln/>
        </p:spPr>
        <p:txBody>
          <a:bodyPr wrap="square" lIns="0" tIns="0" rIns="0" bIns="0" rtlCol="0" anchor="ctr"/>
          <a:lstStyle/>
          <a:p>
            <a:pPr marL="0" indent="0" algn="ctr">
              <a:buNone/>
            </a:pPr>
            <a:r>
              <a:rPr lang="en-US" sz="950" b="1" dirty="0">
                <a:solidFill>
                  <a:srgbClr val="BFD8F5"/>
                </a:solidFill>
                <a:latin typeface="Calibri" pitchFamily="34" charset="0"/>
                <a:ea typeface="Calibri" pitchFamily="34" charset="-122"/>
                <a:cs typeface="Calibri" pitchFamily="34" charset="-120"/>
              </a:rPr>
              <a:t>82%</a:t>
            </a:r>
            <a:endParaRPr lang="en-US" sz="950" dirty="0"/>
          </a:p>
        </p:txBody>
      </p:sp>
      <p:sp>
        <p:nvSpPr>
          <p:cNvPr id="11" name="Shape 7"/>
          <p:cNvSpPr/>
          <p:nvPr/>
        </p:nvSpPr>
        <p:spPr>
          <a:xfrm>
            <a:off x="3873289" y="3282812"/>
            <a:ext cx="137160" cy="137160"/>
          </a:xfrm>
          <a:prstGeom prst="ellipse">
            <a:avLst/>
          </a:prstGeom>
          <a:solidFill>
            <a:srgbClr val="BFD8F5"/>
          </a:solidFill>
          <a:ln w="12700">
            <a:solidFill>
              <a:srgbClr val="8FB3DE"/>
            </a:solidFill>
            <a:prstDash val="solid"/>
          </a:ln>
        </p:spPr>
        <p:txBody>
          <a:bodyPr/>
          <a:lstStyle/>
          <a:p>
            <a:endParaRPr lang="en-US"/>
          </a:p>
        </p:txBody>
      </p:sp>
      <p:sp>
        <p:nvSpPr>
          <p:cNvPr id="12" name="Text 8"/>
          <p:cNvSpPr/>
          <p:nvPr/>
        </p:nvSpPr>
        <p:spPr>
          <a:xfrm>
            <a:off x="3713269" y="3534272"/>
            <a:ext cx="457200" cy="228600"/>
          </a:xfrm>
          <a:prstGeom prst="rect">
            <a:avLst/>
          </a:prstGeom>
          <a:noFill/>
          <a:ln/>
        </p:spPr>
        <p:txBody>
          <a:bodyPr wrap="square" lIns="0" tIns="0" rIns="0" bIns="0" rtlCol="0" anchor="ctr"/>
          <a:lstStyle/>
          <a:p>
            <a:pPr marL="0" indent="0" algn="ctr">
              <a:buNone/>
            </a:pPr>
            <a:r>
              <a:rPr lang="en-US" sz="950" b="1" dirty="0">
                <a:solidFill>
                  <a:srgbClr val="BFD8F5"/>
                </a:solidFill>
                <a:latin typeface="Calibri" pitchFamily="34" charset="0"/>
                <a:ea typeface="Calibri" pitchFamily="34" charset="-122"/>
                <a:cs typeface="Calibri" pitchFamily="34" charset="-120"/>
              </a:rPr>
              <a:t>84%</a:t>
            </a:r>
            <a:endParaRPr lang="en-US" sz="950" dirty="0"/>
          </a:p>
        </p:txBody>
      </p:sp>
      <p:sp>
        <p:nvSpPr>
          <p:cNvPr id="13" name="Shape 9"/>
          <p:cNvSpPr/>
          <p:nvPr/>
        </p:nvSpPr>
        <p:spPr>
          <a:xfrm>
            <a:off x="5175065" y="3036926"/>
            <a:ext cx="137160" cy="137160"/>
          </a:xfrm>
          <a:prstGeom prst="ellipse">
            <a:avLst/>
          </a:prstGeom>
          <a:solidFill>
            <a:srgbClr val="BFD8F5"/>
          </a:solidFill>
          <a:ln w="12700">
            <a:solidFill>
              <a:srgbClr val="8FB3DE"/>
            </a:solidFill>
            <a:prstDash val="solid"/>
          </a:ln>
        </p:spPr>
        <p:txBody>
          <a:bodyPr/>
          <a:lstStyle/>
          <a:p>
            <a:endParaRPr lang="en-US"/>
          </a:p>
        </p:txBody>
      </p:sp>
      <p:sp>
        <p:nvSpPr>
          <p:cNvPr id="14" name="Text 10"/>
          <p:cNvSpPr/>
          <p:nvPr/>
        </p:nvSpPr>
        <p:spPr>
          <a:xfrm>
            <a:off x="5015045" y="3288386"/>
            <a:ext cx="457200" cy="228600"/>
          </a:xfrm>
          <a:prstGeom prst="rect">
            <a:avLst/>
          </a:prstGeom>
          <a:noFill/>
          <a:ln/>
        </p:spPr>
        <p:txBody>
          <a:bodyPr wrap="square" lIns="0" tIns="0" rIns="0" bIns="0" rtlCol="0" anchor="ctr"/>
          <a:lstStyle/>
          <a:p>
            <a:pPr marL="0" indent="0" algn="ctr">
              <a:buNone/>
            </a:pPr>
            <a:r>
              <a:rPr lang="en-US" sz="950" b="1" dirty="0">
                <a:solidFill>
                  <a:srgbClr val="BFD8F5"/>
                </a:solidFill>
                <a:latin typeface="Calibri" pitchFamily="34" charset="0"/>
                <a:ea typeface="Calibri" pitchFamily="34" charset="-122"/>
                <a:cs typeface="Calibri" pitchFamily="34" charset="-120"/>
              </a:rPr>
              <a:t>86%</a:t>
            </a:r>
            <a:endParaRPr lang="en-US" sz="950" dirty="0"/>
          </a:p>
        </p:txBody>
      </p:sp>
      <p:sp>
        <p:nvSpPr>
          <p:cNvPr id="15" name="Text 11"/>
          <p:cNvSpPr/>
          <p:nvPr/>
        </p:nvSpPr>
        <p:spPr>
          <a:xfrm>
            <a:off x="777240" y="4828032"/>
            <a:ext cx="7360920" cy="329184"/>
          </a:xfrm>
          <a:prstGeom prst="rect">
            <a:avLst/>
          </a:prstGeom>
          <a:noFill/>
          <a:ln/>
        </p:spPr>
        <p:txBody>
          <a:bodyPr wrap="square" lIns="0" tIns="0" rIns="0" bIns="0" rtlCol="0" anchor="ctr"/>
          <a:lstStyle/>
          <a:p>
            <a:pPr marL="0" indent="0" algn="ctr">
              <a:lnSpc>
                <a:spcPct val="110000"/>
              </a:lnSpc>
              <a:buNone/>
            </a:pPr>
            <a:r>
              <a:rPr lang="en-US" sz="860" dirty="0">
                <a:solidFill>
                  <a:srgbClr val="6B7F9F"/>
                </a:solidFill>
                <a:latin typeface="Calibri" pitchFamily="34" charset="0"/>
                <a:ea typeface="Calibri" pitchFamily="34" charset="-122"/>
                <a:cs typeface="Calibri" pitchFamily="34" charset="-120"/>
              </a:rPr>
              <a:t>Share of requests escalated to the hosted model · inline guard SmolLM3-3B (~20 ms, self-hosted), recall held at a fixed 5% false-alarm budget throughout · 30% / 51% / 64% of the gap to hosted is closed at 10 / 20 / 30% escalated</a:t>
            </a:r>
            <a:endParaRPr lang="en-US" sz="860" dirty="0"/>
          </a:p>
        </p:txBody>
      </p:sp>
      <p:sp>
        <p:nvSpPr>
          <p:cNvPr id="16" name="Shape 12"/>
          <p:cNvSpPr/>
          <p:nvPr/>
        </p:nvSpPr>
        <p:spPr>
          <a:xfrm>
            <a:off x="8366760" y="2194560"/>
            <a:ext cx="3044952" cy="1847088"/>
          </a:xfrm>
          <a:prstGeom prst="roundRect">
            <a:avLst>
              <a:gd name="adj" fmla="val 272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7" name="Text 13"/>
          <p:cNvSpPr/>
          <p:nvPr/>
        </p:nvSpPr>
        <p:spPr>
          <a:xfrm>
            <a:off x="8604504" y="2340864"/>
            <a:ext cx="2569464" cy="155448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CURVE IS STEEP EARLY</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The first requests escalated are the ones the in-house guard is least sure about, so they carry the most information. Value per escalated request falls as the share rises — which is why a fifth buys half.</a:t>
            </a:r>
            <a:endParaRPr lang="en-US" sz="980" dirty="0"/>
          </a:p>
        </p:txBody>
      </p:sp>
      <p:sp>
        <p:nvSpPr>
          <p:cNvPr id="18" name="Shape 14"/>
          <p:cNvSpPr/>
          <p:nvPr/>
        </p:nvSpPr>
        <p:spPr>
          <a:xfrm>
            <a:off x="8366760" y="4315968"/>
            <a:ext cx="3044952" cy="1938528"/>
          </a:xfrm>
          <a:prstGeom prst="roundRect">
            <a:avLst>
              <a:gd name="adj" fmla="val 2594"/>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9" name="Text 15"/>
          <p:cNvSpPr/>
          <p:nvPr/>
        </p:nvSpPr>
        <p:spPr>
          <a:xfrm>
            <a:off x="8604504" y="4462272"/>
            <a:ext cx="2569464" cy="1645920"/>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IT IS A DIAL, NOT A SWITCH</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Legal sets the ceiling on what may leave; budget sets the rest. Pick a point on the curve — the architecture does not change.</a:t>
            </a:r>
            <a:endParaRPr lang="en-US" sz="980" dirty="0"/>
          </a:p>
        </p:txBody>
      </p:sp>
      <p:sp>
        <p:nvSpPr>
          <p:cNvPr id="20" name="Shape 16"/>
          <p:cNvSpPr/>
          <p:nvPr/>
        </p:nvSpPr>
        <p:spPr>
          <a:xfrm>
            <a:off x="777240" y="5376672"/>
            <a:ext cx="7360920" cy="877824"/>
          </a:xfrm>
          <a:prstGeom prst="roundRect">
            <a:avLst>
              <a:gd name="adj" fmla="val 5729"/>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1" name="Text 17"/>
          <p:cNvSpPr/>
          <p:nvPr/>
        </p:nvSpPr>
        <p:spPr>
          <a:xfrm>
            <a:off x="1014984" y="5522976"/>
            <a:ext cx="6885432" cy="585216"/>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WHAT THIS COSTS</a:t>
            </a:r>
            <a:endParaRPr lang="en-US" sz="980" dirty="0"/>
          </a:p>
          <a:p>
            <a:pPr marL="0" indent="0">
              <a:lnSpc>
                <a:spcPct val="114000"/>
              </a:lnSpc>
              <a:buNone/>
            </a:pPr>
            <a:r>
              <a:rPr lang="en-US" sz="1020" dirty="0">
                <a:solidFill>
                  <a:srgbClr val="9DAFC7"/>
                </a:solidFill>
                <a:latin typeface="Calibri" pitchFamily="34" charset="0"/>
                <a:ea typeface="Calibri" pitchFamily="34" charset="-122"/>
                <a:cs typeface="Calibri" pitchFamily="34" charset="-120"/>
              </a:rPr>
              <a:t>At a 20% escalated share: about $0.16 per thousand requests instead of $0.80, and the 1,553 ms hosted round-trip lands on one request in five rather than on all of them.</a:t>
            </a:r>
            <a:endParaRPr lang="en-US" sz="980" dirty="0"/>
          </a:p>
        </p:txBody>
      </p:sp>
      <p:sp>
        <p:nvSpPr>
          <p:cNvPr id="22" name="Text 18"/>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3" name="Text 19"/>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IF NOTHING MAY LEAVE</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Combining our own guards helps a little. It does not reach the hosted model</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Every option below priced against our strongest single in-house guard (83%), with what each costs per request</a:t>
            </a:r>
            <a:endParaRPr lang="en-US" sz="1250" dirty="0"/>
          </a:p>
        </p:txBody>
      </p:sp>
      <p:sp>
        <p:nvSpPr>
          <p:cNvPr id="6" name="Shape 3"/>
          <p:cNvSpPr/>
          <p:nvPr/>
        </p:nvSpPr>
        <p:spPr>
          <a:xfrm>
            <a:off x="777240" y="2194560"/>
            <a:ext cx="10634472" cy="420624"/>
          </a:xfrm>
          <a:prstGeom prst="roundRect">
            <a:avLst>
              <a:gd name="adj" fmla="val 10870"/>
            </a:avLst>
          </a:prstGeom>
          <a:solidFill>
            <a:srgbClr val="1E3050"/>
          </a:solidFill>
          <a:ln w="9525">
            <a:solidFill>
              <a:srgbClr val="1E3050"/>
            </a:solidFill>
            <a:prstDash val="solid"/>
          </a:ln>
        </p:spPr>
        <p:txBody>
          <a:bodyPr/>
          <a:lstStyle/>
          <a:p>
            <a:endParaRPr lang="en-US"/>
          </a:p>
        </p:txBody>
      </p:sp>
      <p:sp>
        <p:nvSpPr>
          <p:cNvPr id="7" name="Text 4"/>
          <p:cNvSpPr/>
          <p:nvPr/>
        </p:nvSpPr>
        <p:spPr>
          <a:xfrm>
            <a:off x="923544" y="2194560"/>
            <a:ext cx="3364992" cy="420624"/>
          </a:xfrm>
          <a:prstGeom prst="rect">
            <a:avLst/>
          </a:prstGeom>
          <a:noFill/>
          <a:ln/>
        </p:spPr>
        <p:txBody>
          <a:bodyPr wrap="square" lIns="0" tIns="0" rIns="0" bIns="0" rtlCol="0" anchor="ctr"/>
          <a:lstStyle/>
          <a:p>
            <a:pPr marL="0" indent="0" algn="l">
              <a:buNone/>
            </a:pPr>
            <a:r>
              <a:rPr lang="en-US" sz="980" b="1" kern="0" spc="110" dirty="0">
                <a:solidFill>
                  <a:srgbClr val="BFD8F5"/>
                </a:solidFill>
                <a:latin typeface="Calibri" pitchFamily="34" charset="0"/>
                <a:ea typeface="Calibri" pitchFamily="34" charset="-122"/>
                <a:cs typeface="Calibri" pitchFamily="34" charset="-120"/>
              </a:rPr>
              <a:t>OPTION</a:t>
            </a:r>
            <a:endParaRPr lang="en-US" sz="980" dirty="0"/>
          </a:p>
        </p:txBody>
      </p:sp>
      <p:sp>
        <p:nvSpPr>
          <p:cNvPr id="8" name="Text 5"/>
          <p:cNvSpPr/>
          <p:nvPr/>
        </p:nvSpPr>
        <p:spPr>
          <a:xfrm>
            <a:off x="4672584" y="2194560"/>
            <a:ext cx="1490472" cy="420624"/>
          </a:xfrm>
          <a:prstGeom prst="rect">
            <a:avLst/>
          </a:prstGeom>
          <a:noFill/>
          <a:ln/>
        </p:spPr>
        <p:txBody>
          <a:bodyPr wrap="square" lIns="0" tIns="0" rIns="0" bIns="0" rtlCol="0" anchor="ctr"/>
          <a:lstStyle/>
          <a:p>
            <a:pPr marL="0" indent="0" algn="ctr">
              <a:buNone/>
            </a:pPr>
            <a:r>
              <a:rPr lang="en-US" sz="980" b="1" kern="0" spc="110" dirty="0">
                <a:solidFill>
                  <a:srgbClr val="BFD8F5"/>
                </a:solidFill>
                <a:latin typeface="Calibri" pitchFamily="34" charset="0"/>
                <a:ea typeface="Calibri" pitchFamily="34" charset="-122"/>
                <a:cs typeface="Calibri" pitchFamily="34" charset="-120"/>
              </a:rPr>
              <a:t>CATCH RATE</a:t>
            </a:r>
            <a:endParaRPr lang="en-US" sz="980" dirty="0"/>
          </a:p>
        </p:txBody>
      </p:sp>
      <p:sp>
        <p:nvSpPr>
          <p:cNvPr id="9" name="Text 6"/>
          <p:cNvSpPr/>
          <p:nvPr/>
        </p:nvSpPr>
        <p:spPr>
          <a:xfrm>
            <a:off x="6501384" y="2194560"/>
            <a:ext cx="2404872" cy="420624"/>
          </a:xfrm>
          <a:prstGeom prst="rect">
            <a:avLst/>
          </a:prstGeom>
          <a:noFill/>
          <a:ln/>
        </p:spPr>
        <p:txBody>
          <a:bodyPr wrap="square" lIns="0" tIns="0" rIns="0" bIns="0" rtlCol="0" anchor="ctr"/>
          <a:lstStyle/>
          <a:p>
            <a:pPr marL="0" indent="0" algn="ctr">
              <a:buNone/>
            </a:pPr>
            <a:r>
              <a:rPr lang="en-US" sz="980" b="1" kern="0" spc="110" dirty="0">
                <a:solidFill>
                  <a:srgbClr val="BFD8F5"/>
                </a:solidFill>
                <a:latin typeface="Calibri" pitchFamily="34" charset="0"/>
                <a:ea typeface="Calibri" pitchFamily="34" charset="-122"/>
                <a:cs typeface="Calibri" pitchFamily="34" charset="-120"/>
              </a:rPr>
              <a:t>COST PER REQUEST</a:t>
            </a:r>
            <a:endParaRPr lang="en-US" sz="980" dirty="0"/>
          </a:p>
        </p:txBody>
      </p:sp>
      <p:sp>
        <p:nvSpPr>
          <p:cNvPr id="10" name="Text 7"/>
          <p:cNvSpPr/>
          <p:nvPr/>
        </p:nvSpPr>
        <p:spPr>
          <a:xfrm>
            <a:off x="9244584" y="2194560"/>
            <a:ext cx="2020824" cy="420624"/>
          </a:xfrm>
          <a:prstGeom prst="rect">
            <a:avLst/>
          </a:prstGeom>
          <a:noFill/>
          <a:ln/>
        </p:spPr>
        <p:txBody>
          <a:bodyPr wrap="square" lIns="0" tIns="0" rIns="0" bIns="0" rtlCol="0" anchor="ctr"/>
          <a:lstStyle/>
          <a:p>
            <a:pPr marL="0" indent="0" algn="r">
              <a:buNone/>
            </a:pPr>
            <a:r>
              <a:rPr lang="en-US" sz="980" b="1" kern="0" spc="110" dirty="0">
                <a:solidFill>
                  <a:srgbClr val="BFD8F5"/>
                </a:solidFill>
                <a:latin typeface="Calibri" pitchFamily="34" charset="0"/>
                <a:ea typeface="Calibri" pitchFamily="34" charset="-122"/>
                <a:cs typeface="Calibri" pitchFamily="34" charset="-120"/>
              </a:rPr>
              <a:t>VERDICT</a:t>
            </a:r>
            <a:endParaRPr lang="en-US" sz="980" dirty="0"/>
          </a:p>
        </p:txBody>
      </p:sp>
      <p:sp>
        <p:nvSpPr>
          <p:cNvPr id="11" name="Shape 8"/>
          <p:cNvSpPr/>
          <p:nvPr/>
        </p:nvSpPr>
        <p:spPr>
          <a:xfrm>
            <a:off x="777240" y="3136392"/>
            <a:ext cx="10634472" cy="0"/>
          </a:xfrm>
          <a:prstGeom prst="line">
            <a:avLst/>
          </a:prstGeom>
          <a:noFill/>
          <a:ln w="9525">
            <a:solidFill>
              <a:srgbClr val="26374F"/>
            </a:solidFill>
            <a:prstDash val="solid"/>
          </a:ln>
        </p:spPr>
        <p:txBody>
          <a:bodyPr/>
          <a:lstStyle/>
          <a:p>
            <a:endParaRPr lang="en-US"/>
          </a:p>
        </p:txBody>
      </p:sp>
      <p:sp>
        <p:nvSpPr>
          <p:cNvPr id="12" name="Text 9"/>
          <p:cNvSpPr/>
          <p:nvPr/>
        </p:nvSpPr>
        <p:spPr>
          <a:xfrm>
            <a:off x="923544" y="2651760"/>
            <a:ext cx="3364992" cy="484632"/>
          </a:xfrm>
          <a:prstGeom prst="rect">
            <a:avLst/>
          </a:prstGeom>
          <a:noFill/>
          <a:ln/>
        </p:spPr>
        <p:txBody>
          <a:bodyPr wrap="square" lIns="0" tIns="0" rIns="0" bIns="0" rtlCol="0" anchor="ctr"/>
          <a:lstStyle/>
          <a:p>
            <a:pPr marL="0" indent="0" algn="l">
              <a:buNone/>
            </a:pPr>
            <a:r>
              <a:rPr lang="en-US" sz="1080" b="1" dirty="0">
                <a:solidFill>
                  <a:srgbClr val="EEF2F8"/>
                </a:solidFill>
                <a:latin typeface="Calibri" pitchFamily="34" charset="0"/>
                <a:ea typeface="Calibri" pitchFamily="34" charset="-122"/>
                <a:cs typeface="Calibri" pitchFamily="34" charset="-120"/>
              </a:rPr>
              <a:t>Best single in-house guard</a:t>
            </a:r>
            <a:endParaRPr lang="en-US" sz="1080" dirty="0"/>
          </a:p>
        </p:txBody>
      </p:sp>
      <p:sp>
        <p:nvSpPr>
          <p:cNvPr id="13" name="Text 10"/>
          <p:cNvSpPr/>
          <p:nvPr/>
        </p:nvSpPr>
        <p:spPr>
          <a:xfrm>
            <a:off x="4672584" y="2651760"/>
            <a:ext cx="1490472" cy="484632"/>
          </a:xfrm>
          <a:prstGeom prst="rect">
            <a:avLst/>
          </a:prstGeom>
          <a:noFill/>
          <a:ln/>
        </p:spPr>
        <p:txBody>
          <a:bodyPr wrap="square" lIns="0" tIns="0" rIns="0" bIns="0" rtlCol="0" anchor="ctr"/>
          <a:lstStyle/>
          <a:p>
            <a:pPr marL="0" indent="0" algn="ctr">
              <a:buNone/>
            </a:pPr>
            <a:r>
              <a:rPr lang="en-US" sz="1080" b="1" dirty="0">
                <a:solidFill>
                  <a:srgbClr val="BFD8F5"/>
                </a:solidFill>
                <a:latin typeface="Calibri" pitchFamily="34" charset="0"/>
                <a:ea typeface="Calibri" pitchFamily="34" charset="-122"/>
                <a:cs typeface="Calibri" pitchFamily="34" charset="-120"/>
              </a:rPr>
              <a:t>83%</a:t>
            </a:r>
            <a:endParaRPr lang="en-US" sz="1080" dirty="0"/>
          </a:p>
        </p:txBody>
      </p:sp>
      <p:sp>
        <p:nvSpPr>
          <p:cNvPr id="14" name="Text 11"/>
          <p:cNvSpPr/>
          <p:nvPr/>
        </p:nvSpPr>
        <p:spPr>
          <a:xfrm>
            <a:off x="6501384" y="2651760"/>
            <a:ext cx="2404872" cy="484632"/>
          </a:xfrm>
          <a:prstGeom prst="rect">
            <a:avLst/>
          </a:prstGeom>
          <a:noFill/>
          <a:ln/>
        </p:spPr>
        <p:txBody>
          <a:bodyPr wrap="square" lIns="0" tIns="0" rIns="0" bIns="0" rtlCol="0" anchor="ctr"/>
          <a:lstStyle/>
          <a:p>
            <a:pPr marL="0" indent="0" algn="ctr">
              <a:buNone/>
            </a:pPr>
            <a:r>
              <a:rPr lang="en-US" sz="1080" dirty="0">
                <a:solidFill>
                  <a:srgbClr val="9DAFC7"/>
                </a:solidFill>
                <a:latin typeface="Calibri" pitchFamily="34" charset="0"/>
                <a:ea typeface="Calibri" pitchFamily="34" charset="-122"/>
                <a:cs typeface="Calibri" pitchFamily="34" charset="-120"/>
              </a:rPr>
              <a:t>1 model call</a:t>
            </a:r>
            <a:endParaRPr lang="en-US" sz="1080" dirty="0"/>
          </a:p>
        </p:txBody>
      </p:sp>
      <p:sp>
        <p:nvSpPr>
          <p:cNvPr id="15" name="Text 12"/>
          <p:cNvSpPr/>
          <p:nvPr/>
        </p:nvSpPr>
        <p:spPr>
          <a:xfrm>
            <a:off x="9244584" y="2651760"/>
            <a:ext cx="2020824" cy="484632"/>
          </a:xfrm>
          <a:prstGeom prst="rect">
            <a:avLst/>
          </a:prstGeom>
          <a:noFill/>
          <a:ln/>
        </p:spPr>
        <p:txBody>
          <a:bodyPr wrap="square" lIns="0" tIns="0" rIns="0" bIns="0" rtlCol="0" anchor="ctr"/>
          <a:lstStyle/>
          <a:p>
            <a:pPr marL="0" indent="0" algn="r">
              <a:buNone/>
            </a:pPr>
            <a:r>
              <a:rPr lang="en-US" sz="1080" dirty="0">
                <a:solidFill>
                  <a:srgbClr val="6B7F9F"/>
                </a:solidFill>
                <a:latin typeface="Calibri" pitchFamily="34" charset="0"/>
                <a:ea typeface="Calibri" pitchFamily="34" charset="-122"/>
                <a:cs typeface="Calibri" pitchFamily="34" charset="-120"/>
              </a:rPr>
              <a:t>the baseline</a:t>
            </a:r>
            <a:endParaRPr lang="en-US" sz="1080" dirty="0"/>
          </a:p>
        </p:txBody>
      </p:sp>
      <p:sp>
        <p:nvSpPr>
          <p:cNvPr id="16" name="Shape 13"/>
          <p:cNvSpPr/>
          <p:nvPr/>
        </p:nvSpPr>
        <p:spPr>
          <a:xfrm>
            <a:off x="777240" y="3621024"/>
            <a:ext cx="10634472" cy="0"/>
          </a:xfrm>
          <a:prstGeom prst="line">
            <a:avLst/>
          </a:prstGeom>
          <a:noFill/>
          <a:ln w="9525">
            <a:solidFill>
              <a:srgbClr val="26374F"/>
            </a:solidFill>
            <a:prstDash val="solid"/>
          </a:ln>
        </p:spPr>
        <p:txBody>
          <a:bodyPr/>
          <a:lstStyle/>
          <a:p>
            <a:endParaRPr lang="en-US"/>
          </a:p>
        </p:txBody>
      </p:sp>
      <p:sp>
        <p:nvSpPr>
          <p:cNvPr id="17" name="Text 14"/>
          <p:cNvSpPr/>
          <p:nvPr/>
        </p:nvSpPr>
        <p:spPr>
          <a:xfrm>
            <a:off x="923544" y="3136392"/>
            <a:ext cx="3364992" cy="484632"/>
          </a:xfrm>
          <a:prstGeom prst="rect">
            <a:avLst/>
          </a:prstGeom>
          <a:noFill/>
          <a:ln/>
        </p:spPr>
        <p:txBody>
          <a:bodyPr wrap="square" lIns="0" tIns="0" rIns="0" bIns="0" rtlCol="0" anchor="ctr"/>
          <a:lstStyle/>
          <a:p>
            <a:pPr marL="0" indent="0" algn="l">
              <a:buNone/>
            </a:pPr>
            <a:r>
              <a:rPr lang="en-US" sz="1080" b="1" dirty="0">
                <a:solidFill>
                  <a:srgbClr val="EEF2F8"/>
                </a:solidFill>
                <a:latin typeface="Calibri" pitchFamily="34" charset="0"/>
                <a:ea typeface="Calibri" pitchFamily="34" charset="-122"/>
                <a:cs typeface="Calibri" pitchFamily="34" charset="-120"/>
              </a:rPr>
              <a:t>Average the 5 tuning runs of one guard</a:t>
            </a:r>
            <a:endParaRPr lang="en-US" sz="1080" dirty="0"/>
          </a:p>
        </p:txBody>
      </p:sp>
      <p:sp>
        <p:nvSpPr>
          <p:cNvPr id="18" name="Text 15"/>
          <p:cNvSpPr/>
          <p:nvPr/>
        </p:nvSpPr>
        <p:spPr>
          <a:xfrm>
            <a:off x="4672584" y="3136392"/>
            <a:ext cx="1490472" cy="484632"/>
          </a:xfrm>
          <a:prstGeom prst="rect">
            <a:avLst/>
          </a:prstGeom>
          <a:noFill/>
          <a:ln/>
        </p:spPr>
        <p:txBody>
          <a:bodyPr wrap="square" lIns="0" tIns="0" rIns="0" bIns="0" rtlCol="0" anchor="ctr"/>
          <a:lstStyle/>
          <a:p>
            <a:pPr marL="0" indent="0" algn="ctr">
              <a:buNone/>
            </a:pPr>
            <a:r>
              <a:rPr lang="en-US" sz="1080" b="1" dirty="0">
                <a:solidFill>
                  <a:srgbClr val="BFD8F5"/>
                </a:solidFill>
                <a:latin typeface="Calibri" pitchFamily="34" charset="0"/>
                <a:ea typeface="Calibri" pitchFamily="34" charset="-122"/>
                <a:cs typeface="Calibri" pitchFamily="34" charset="-120"/>
              </a:rPr>
              <a:t>+0.026 on top</a:t>
            </a:r>
            <a:endParaRPr lang="en-US" sz="1080" dirty="0"/>
          </a:p>
        </p:txBody>
      </p:sp>
      <p:sp>
        <p:nvSpPr>
          <p:cNvPr id="19" name="Text 16"/>
          <p:cNvSpPr/>
          <p:nvPr/>
        </p:nvSpPr>
        <p:spPr>
          <a:xfrm>
            <a:off x="6501384" y="3136392"/>
            <a:ext cx="2404872" cy="484632"/>
          </a:xfrm>
          <a:prstGeom prst="rect">
            <a:avLst/>
          </a:prstGeom>
          <a:noFill/>
          <a:ln/>
        </p:spPr>
        <p:txBody>
          <a:bodyPr wrap="square" lIns="0" tIns="0" rIns="0" bIns="0" rtlCol="0" anchor="ctr"/>
          <a:lstStyle/>
          <a:p>
            <a:pPr marL="0" indent="0" algn="ctr">
              <a:buNone/>
            </a:pPr>
            <a:r>
              <a:rPr lang="en-US" sz="1080" dirty="0">
                <a:solidFill>
                  <a:srgbClr val="9DAFC7"/>
                </a:solidFill>
                <a:latin typeface="Calibri" pitchFamily="34" charset="0"/>
                <a:ea typeface="Calibri" pitchFamily="34" charset="-122"/>
                <a:cs typeface="Calibri" pitchFamily="34" charset="-120"/>
              </a:rPr>
              <a:t>already paid for</a:t>
            </a:r>
            <a:endParaRPr lang="en-US" sz="1080" dirty="0"/>
          </a:p>
        </p:txBody>
      </p:sp>
      <p:sp>
        <p:nvSpPr>
          <p:cNvPr id="20" name="Text 17"/>
          <p:cNvSpPr/>
          <p:nvPr/>
        </p:nvSpPr>
        <p:spPr>
          <a:xfrm>
            <a:off x="9244584" y="3136392"/>
            <a:ext cx="2020824" cy="484632"/>
          </a:xfrm>
          <a:prstGeom prst="rect">
            <a:avLst/>
          </a:prstGeom>
          <a:noFill/>
          <a:ln/>
        </p:spPr>
        <p:txBody>
          <a:bodyPr wrap="square" lIns="0" tIns="0" rIns="0" bIns="0" rtlCol="0" anchor="ctr"/>
          <a:lstStyle/>
          <a:p>
            <a:pPr marL="0" indent="0" algn="r">
              <a:buNone/>
            </a:pPr>
            <a:r>
              <a:rPr lang="en-US" sz="1080" dirty="0">
                <a:solidFill>
                  <a:srgbClr val="6B7F9F"/>
                </a:solidFill>
                <a:latin typeface="Calibri" pitchFamily="34" charset="0"/>
                <a:ea typeface="Calibri" pitchFamily="34" charset="-122"/>
                <a:cs typeface="Calibri" pitchFamily="34" charset="-120"/>
              </a:rPr>
              <a:t>worth doing</a:t>
            </a:r>
            <a:endParaRPr lang="en-US" sz="1080" dirty="0"/>
          </a:p>
        </p:txBody>
      </p:sp>
      <p:sp>
        <p:nvSpPr>
          <p:cNvPr id="21" name="Shape 18"/>
          <p:cNvSpPr/>
          <p:nvPr/>
        </p:nvSpPr>
        <p:spPr>
          <a:xfrm>
            <a:off x="777240" y="4105656"/>
            <a:ext cx="10634472" cy="0"/>
          </a:xfrm>
          <a:prstGeom prst="line">
            <a:avLst/>
          </a:prstGeom>
          <a:noFill/>
          <a:ln w="9525">
            <a:solidFill>
              <a:srgbClr val="26374F"/>
            </a:solidFill>
            <a:prstDash val="solid"/>
          </a:ln>
        </p:spPr>
        <p:txBody>
          <a:bodyPr/>
          <a:lstStyle/>
          <a:p>
            <a:endParaRPr lang="en-US"/>
          </a:p>
        </p:txBody>
      </p:sp>
      <p:sp>
        <p:nvSpPr>
          <p:cNvPr id="22" name="Text 19"/>
          <p:cNvSpPr/>
          <p:nvPr/>
        </p:nvSpPr>
        <p:spPr>
          <a:xfrm>
            <a:off x="923544" y="3621024"/>
            <a:ext cx="3364992" cy="484632"/>
          </a:xfrm>
          <a:prstGeom prst="rect">
            <a:avLst/>
          </a:prstGeom>
          <a:noFill/>
          <a:ln/>
        </p:spPr>
        <p:txBody>
          <a:bodyPr wrap="square" lIns="0" tIns="0" rIns="0" bIns="0" rtlCol="0" anchor="ctr"/>
          <a:lstStyle/>
          <a:p>
            <a:pPr marL="0" indent="0" algn="l">
              <a:buNone/>
            </a:pPr>
            <a:r>
              <a:rPr lang="en-US" sz="1080" b="1" dirty="0">
                <a:solidFill>
                  <a:srgbClr val="EEF2F8"/>
                </a:solidFill>
                <a:latin typeface="Calibri" pitchFamily="34" charset="0"/>
                <a:ea typeface="Calibri" pitchFamily="34" charset="-122"/>
                <a:cs typeface="Calibri" pitchFamily="34" charset="-120"/>
              </a:rPr>
              <a:t>Average all 18 guards equally</a:t>
            </a:r>
            <a:endParaRPr lang="en-US" sz="1080" dirty="0"/>
          </a:p>
        </p:txBody>
      </p:sp>
      <p:sp>
        <p:nvSpPr>
          <p:cNvPr id="23" name="Text 20"/>
          <p:cNvSpPr/>
          <p:nvPr/>
        </p:nvSpPr>
        <p:spPr>
          <a:xfrm>
            <a:off x="4672584" y="3621024"/>
            <a:ext cx="1490472" cy="484632"/>
          </a:xfrm>
          <a:prstGeom prst="rect">
            <a:avLst/>
          </a:prstGeom>
          <a:noFill/>
          <a:ln/>
        </p:spPr>
        <p:txBody>
          <a:bodyPr wrap="square" lIns="0" tIns="0" rIns="0" bIns="0" rtlCol="0" anchor="ctr"/>
          <a:lstStyle/>
          <a:p>
            <a:pPr marL="0" indent="0" algn="ctr">
              <a:buNone/>
            </a:pPr>
            <a:r>
              <a:rPr lang="en-US" sz="1080" b="1" dirty="0">
                <a:solidFill>
                  <a:srgbClr val="BFD8F5"/>
                </a:solidFill>
                <a:latin typeface="Calibri" pitchFamily="34" charset="0"/>
                <a:ea typeface="Calibri" pitchFamily="34" charset="-122"/>
                <a:cs typeface="Calibri" pitchFamily="34" charset="-120"/>
              </a:rPr>
              <a:t>79%</a:t>
            </a:r>
            <a:endParaRPr lang="en-US" sz="1080" dirty="0"/>
          </a:p>
        </p:txBody>
      </p:sp>
      <p:sp>
        <p:nvSpPr>
          <p:cNvPr id="24" name="Text 21"/>
          <p:cNvSpPr/>
          <p:nvPr/>
        </p:nvSpPr>
        <p:spPr>
          <a:xfrm>
            <a:off x="6501384" y="3621024"/>
            <a:ext cx="2404872" cy="484632"/>
          </a:xfrm>
          <a:prstGeom prst="rect">
            <a:avLst/>
          </a:prstGeom>
          <a:noFill/>
          <a:ln/>
        </p:spPr>
        <p:txBody>
          <a:bodyPr wrap="square" lIns="0" tIns="0" rIns="0" bIns="0" rtlCol="0" anchor="ctr"/>
          <a:lstStyle/>
          <a:p>
            <a:pPr marL="0" indent="0" algn="ctr">
              <a:buNone/>
            </a:pPr>
            <a:r>
              <a:rPr lang="en-US" sz="1080" dirty="0">
                <a:solidFill>
                  <a:srgbClr val="9DAFC7"/>
                </a:solidFill>
                <a:latin typeface="Calibri" pitchFamily="34" charset="0"/>
                <a:ea typeface="Calibri" pitchFamily="34" charset="-122"/>
                <a:cs typeface="Calibri" pitchFamily="34" charset="-120"/>
              </a:rPr>
              <a:t>18 model calls</a:t>
            </a:r>
            <a:endParaRPr lang="en-US" sz="1080" dirty="0"/>
          </a:p>
        </p:txBody>
      </p:sp>
      <p:sp>
        <p:nvSpPr>
          <p:cNvPr id="25" name="Text 22"/>
          <p:cNvSpPr/>
          <p:nvPr/>
        </p:nvSpPr>
        <p:spPr>
          <a:xfrm>
            <a:off x="9244584" y="3621024"/>
            <a:ext cx="2020824" cy="484632"/>
          </a:xfrm>
          <a:prstGeom prst="rect">
            <a:avLst/>
          </a:prstGeom>
          <a:noFill/>
          <a:ln/>
        </p:spPr>
        <p:txBody>
          <a:bodyPr wrap="square" lIns="0" tIns="0" rIns="0" bIns="0" rtlCol="0" anchor="ctr"/>
          <a:lstStyle/>
          <a:p>
            <a:pPr marL="0" indent="0" algn="r">
              <a:buNone/>
            </a:pPr>
            <a:r>
              <a:rPr lang="en-US" sz="1080" dirty="0">
                <a:solidFill>
                  <a:srgbClr val="6B7F9F"/>
                </a:solidFill>
                <a:latin typeface="Calibri" pitchFamily="34" charset="0"/>
                <a:ea typeface="Calibri" pitchFamily="34" charset="-122"/>
                <a:cs typeface="Calibri" pitchFamily="34" charset="-120"/>
              </a:rPr>
              <a:t>worse than one</a:t>
            </a:r>
            <a:endParaRPr lang="en-US" sz="1080" dirty="0"/>
          </a:p>
        </p:txBody>
      </p:sp>
      <p:sp>
        <p:nvSpPr>
          <p:cNvPr id="26" name="Shape 23"/>
          <p:cNvSpPr/>
          <p:nvPr/>
        </p:nvSpPr>
        <p:spPr>
          <a:xfrm>
            <a:off x="777240" y="4590288"/>
            <a:ext cx="10634472" cy="0"/>
          </a:xfrm>
          <a:prstGeom prst="line">
            <a:avLst/>
          </a:prstGeom>
          <a:noFill/>
          <a:ln w="9525">
            <a:solidFill>
              <a:srgbClr val="26374F"/>
            </a:solidFill>
            <a:prstDash val="solid"/>
          </a:ln>
        </p:spPr>
        <p:txBody>
          <a:bodyPr/>
          <a:lstStyle/>
          <a:p>
            <a:endParaRPr lang="en-US"/>
          </a:p>
        </p:txBody>
      </p:sp>
      <p:sp>
        <p:nvSpPr>
          <p:cNvPr id="27" name="Text 24"/>
          <p:cNvSpPr/>
          <p:nvPr/>
        </p:nvSpPr>
        <p:spPr>
          <a:xfrm>
            <a:off x="923544" y="4105656"/>
            <a:ext cx="3364992" cy="484632"/>
          </a:xfrm>
          <a:prstGeom prst="rect">
            <a:avLst/>
          </a:prstGeom>
          <a:noFill/>
          <a:ln/>
        </p:spPr>
        <p:txBody>
          <a:bodyPr wrap="square" lIns="0" tIns="0" rIns="0" bIns="0" rtlCol="0" anchor="ctr"/>
          <a:lstStyle/>
          <a:p>
            <a:pPr marL="0" indent="0" algn="l">
              <a:buNone/>
            </a:pPr>
            <a:r>
              <a:rPr lang="en-US" sz="1080" b="1" dirty="0">
                <a:solidFill>
                  <a:srgbClr val="EEF2F8"/>
                </a:solidFill>
                <a:latin typeface="Calibri" pitchFamily="34" charset="0"/>
                <a:ea typeface="Calibri" pitchFamily="34" charset="-122"/>
                <a:cs typeface="Calibri" pitchFamily="34" charset="-120"/>
              </a:rPr>
              <a:t>Weighted blend of all 18</a:t>
            </a:r>
            <a:endParaRPr lang="en-US" sz="1080" dirty="0"/>
          </a:p>
        </p:txBody>
      </p:sp>
      <p:sp>
        <p:nvSpPr>
          <p:cNvPr id="28" name="Text 25"/>
          <p:cNvSpPr/>
          <p:nvPr/>
        </p:nvSpPr>
        <p:spPr>
          <a:xfrm>
            <a:off x="4672584" y="4105656"/>
            <a:ext cx="1490472" cy="484632"/>
          </a:xfrm>
          <a:prstGeom prst="rect">
            <a:avLst/>
          </a:prstGeom>
          <a:noFill/>
          <a:ln/>
        </p:spPr>
        <p:txBody>
          <a:bodyPr wrap="square" lIns="0" tIns="0" rIns="0" bIns="0" rtlCol="0" anchor="ctr"/>
          <a:lstStyle/>
          <a:p>
            <a:pPr marL="0" indent="0" algn="ctr">
              <a:buNone/>
            </a:pPr>
            <a:r>
              <a:rPr lang="en-US" sz="1080" b="1" dirty="0">
                <a:solidFill>
                  <a:srgbClr val="BFD8F5"/>
                </a:solidFill>
                <a:latin typeface="Calibri" pitchFamily="34" charset="0"/>
                <a:ea typeface="Calibri" pitchFamily="34" charset="-122"/>
                <a:cs typeface="Calibri" pitchFamily="34" charset="-120"/>
              </a:rPr>
              <a:t>85%</a:t>
            </a:r>
            <a:endParaRPr lang="en-US" sz="1080" dirty="0"/>
          </a:p>
        </p:txBody>
      </p:sp>
      <p:sp>
        <p:nvSpPr>
          <p:cNvPr id="29" name="Text 26"/>
          <p:cNvSpPr/>
          <p:nvPr/>
        </p:nvSpPr>
        <p:spPr>
          <a:xfrm>
            <a:off x="6501384" y="4105656"/>
            <a:ext cx="2404872" cy="484632"/>
          </a:xfrm>
          <a:prstGeom prst="rect">
            <a:avLst/>
          </a:prstGeom>
          <a:noFill/>
          <a:ln/>
        </p:spPr>
        <p:txBody>
          <a:bodyPr wrap="square" lIns="0" tIns="0" rIns="0" bIns="0" rtlCol="0" anchor="ctr"/>
          <a:lstStyle/>
          <a:p>
            <a:pPr marL="0" indent="0" algn="ctr">
              <a:buNone/>
            </a:pPr>
            <a:r>
              <a:rPr lang="en-US" sz="1080" dirty="0">
                <a:solidFill>
                  <a:srgbClr val="9DAFC7"/>
                </a:solidFill>
                <a:latin typeface="Calibri" pitchFamily="34" charset="0"/>
                <a:ea typeface="Calibri" pitchFamily="34" charset="-122"/>
                <a:cs typeface="Calibri" pitchFamily="34" charset="-120"/>
              </a:rPr>
              <a:t>18 calls + labelled data</a:t>
            </a:r>
            <a:endParaRPr lang="en-US" sz="1080" dirty="0"/>
          </a:p>
        </p:txBody>
      </p:sp>
      <p:sp>
        <p:nvSpPr>
          <p:cNvPr id="30" name="Text 27"/>
          <p:cNvSpPr/>
          <p:nvPr/>
        </p:nvSpPr>
        <p:spPr>
          <a:xfrm>
            <a:off x="9244584" y="4105656"/>
            <a:ext cx="2020824" cy="484632"/>
          </a:xfrm>
          <a:prstGeom prst="rect">
            <a:avLst/>
          </a:prstGeom>
          <a:noFill/>
          <a:ln/>
        </p:spPr>
        <p:txBody>
          <a:bodyPr wrap="square" lIns="0" tIns="0" rIns="0" bIns="0" rtlCol="0" anchor="ctr"/>
          <a:lstStyle/>
          <a:p>
            <a:pPr marL="0" indent="0" algn="r">
              <a:buNone/>
            </a:pPr>
            <a:r>
              <a:rPr lang="en-US" sz="1080" dirty="0">
                <a:solidFill>
                  <a:srgbClr val="6B7F9F"/>
                </a:solidFill>
                <a:latin typeface="Calibri" pitchFamily="34" charset="0"/>
                <a:ea typeface="Calibri" pitchFamily="34" charset="-122"/>
                <a:cs typeface="Calibri" pitchFamily="34" charset="-120"/>
              </a:rPr>
              <a:t>best in-house</a:t>
            </a:r>
            <a:endParaRPr lang="en-US" sz="1080" dirty="0"/>
          </a:p>
        </p:txBody>
      </p:sp>
      <p:sp>
        <p:nvSpPr>
          <p:cNvPr id="31" name="Shape 28"/>
          <p:cNvSpPr/>
          <p:nvPr/>
        </p:nvSpPr>
        <p:spPr>
          <a:xfrm>
            <a:off x="777240" y="4590288"/>
            <a:ext cx="10634472" cy="484632"/>
          </a:xfrm>
          <a:prstGeom prst="roundRect">
            <a:avLst>
              <a:gd name="adj" fmla="val 9434"/>
            </a:avLst>
          </a:prstGeom>
          <a:solidFill>
            <a:srgbClr val="331A1C"/>
          </a:solidFill>
          <a:ln w="9525">
            <a:solidFill>
              <a:srgbClr val="4A2427"/>
            </a:solidFill>
            <a:prstDash val="solid"/>
          </a:ln>
        </p:spPr>
        <p:txBody>
          <a:bodyPr/>
          <a:lstStyle/>
          <a:p>
            <a:endParaRPr lang="en-US"/>
          </a:p>
        </p:txBody>
      </p:sp>
      <p:sp>
        <p:nvSpPr>
          <p:cNvPr id="32" name="Text 29"/>
          <p:cNvSpPr/>
          <p:nvPr/>
        </p:nvSpPr>
        <p:spPr>
          <a:xfrm>
            <a:off x="923544" y="4590288"/>
            <a:ext cx="3364992" cy="484632"/>
          </a:xfrm>
          <a:prstGeom prst="rect">
            <a:avLst/>
          </a:prstGeom>
          <a:noFill/>
          <a:ln/>
        </p:spPr>
        <p:txBody>
          <a:bodyPr wrap="square" lIns="0" tIns="0" rIns="0" bIns="0" rtlCol="0" anchor="ctr"/>
          <a:lstStyle/>
          <a:p>
            <a:pPr marL="0" indent="0" algn="l">
              <a:buNone/>
            </a:pPr>
            <a:r>
              <a:rPr lang="en-US" sz="1080" b="1" dirty="0">
                <a:solidFill>
                  <a:srgbClr val="EEF2F8"/>
                </a:solidFill>
                <a:latin typeface="Calibri" pitchFamily="34" charset="0"/>
                <a:ea typeface="Calibri" pitchFamily="34" charset="-122"/>
                <a:cs typeface="Calibri" pitchFamily="34" charset="-120"/>
              </a:rPr>
              <a:t>Escalate the uncertain 20% instead</a:t>
            </a:r>
            <a:endParaRPr lang="en-US" sz="1080" dirty="0"/>
          </a:p>
        </p:txBody>
      </p:sp>
      <p:sp>
        <p:nvSpPr>
          <p:cNvPr id="33" name="Text 30"/>
          <p:cNvSpPr/>
          <p:nvPr/>
        </p:nvSpPr>
        <p:spPr>
          <a:xfrm>
            <a:off x="4672584" y="4590288"/>
            <a:ext cx="1490472" cy="484632"/>
          </a:xfrm>
          <a:prstGeom prst="rect">
            <a:avLst/>
          </a:prstGeom>
          <a:noFill/>
          <a:ln/>
        </p:spPr>
        <p:txBody>
          <a:bodyPr wrap="square" lIns="0" tIns="0" rIns="0" bIns="0" rtlCol="0" anchor="ctr"/>
          <a:lstStyle/>
          <a:p>
            <a:pPr marL="0" indent="0" algn="ctr">
              <a:buNone/>
            </a:pPr>
            <a:r>
              <a:rPr lang="en-US" sz="1080" b="1" dirty="0">
                <a:solidFill>
                  <a:srgbClr val="F08A7F"/>
                </a:solidFill>
                <a:latin typeface="Calibri" pitchFamily="34" charset="0"/>
                <a:ea typeface="Calibri" pitchFamily="34" charset="-122"/>
                <a:cs typeface="Calibri" pitchFamily="34" charset="-120"/>
              </a:rPr>
              <a:t>87%</a:t>
            </a:r>
            <a:endParaRPr lang="en-US" sz="1080" dirty="0"/>
          </a:p>
        </p:txBody>
      </p:sp>
      <p:sp>
        <p:nvSpPr>
          <p:cNvPr id="34" name="Text 31"/>
          <p:cNvSpPr/>
          <p:nvPr/>
        </p:nvSpPr>
        <p:spPr>
          <a:xfrm>
            <a:off x="6501384" y="4590288"/>
            <a:ext cx="2404872" cy="484632"/>
          </a:xfrm>
          <a:prstGeom prst="rect">
            <a:avLst/>
          </a:prstGeom>
          <a:noFill/>
          <a:ln/>
        </p:spPr>
        <p:txBody>
          <a:bodyPr wrap="square" lIns="0" tIns="0" rIns="0" bIns="0" rtlCol="0" anchor="ctr"/>
          <a:lstStyle/>
          <a:p>
            <a:pPr marL="0" indent="0" algn="ctr">
              <a:buNone/>
            </a:pPr>
            <a:r>
              <a:rPr lang="en-US" sz="1080" dirty="0">
                <a:solidFill>
                  <a:srgbClr val="9DAFC7"/>
                </a:solidFill>
                <a:latin typeface="Calibri" pitchFamily="34" charset="0"/>
                <a:ea typeface="Calibri" pitchFamily="34" charset="-122"/>
                <a:cs typeface="Calibri" pitchFamily="34" charset="-120"/>
              </a:rPr>
              <a:t>1.2 model calls</a:t>
            </a:r>
            <a:endParaRPr lang="en-US" sz="1080" dirty="0"/>
          </a:p>
        </p:txBody>
      </p:sp>
      <p:sp>
        <p:nvSpPr>
          <p:cNvPr id="35" name="Text 32"/>
          <p:cNvSpPr/>
          <p:nvPr/>
        </p:nvSpPr>
        <p:spPr>
          <a:xfrm>
            <a:off x="9244584" y="4590288"/>
            <a:ext cx="2020824" cy="484632"/>
          </a:xfrm>
          <a:prstGeom prst="rect">
            <a:avLst/>
          </a:prstGeom>
          <a:noFill/>
          <a:ln/>
        </p:spPr>
        <p:txBody>
          <a:bodyPr wrap="square" lIns="0" tIns="0" rIns="0" bIns="0" rtlCol="0" anchor="ctr"/>
          <a:lstStyle/>
          <a:p>
            <a:pPr marL="0" indent="0" algn="r">
              <a:buNone/>
            </a:pPr>
            <a:r>
              <a:rPr lang="en-US" sz="1080" b="1" dirty="0">
                <a:solidFill>
                  <a:srgbClr val="F08A7F"/>
                </a:solidFill>
                <a:latin typeface="Calibri" pitchFamily="34" charset="0"/>
                <a:ea typeface="Calibri" pitchFamily="34" charset="-122"/>
                <a:cs typeface="Calibri" pitchFamily="34" charset="-120"/>
              </a:rPr>
              <a:t>beats all of it</a:t>
            </a:r>
            <a:endParaRPr lang="en-US" sz="1080" dirty="0"/>
          </a:p>
        </p:txBody>
      </p:sp>
      <p:sp>
        <p:nvSpPr>
          <p:cNvPr id="36" name="Shape 33"/>
          <p:cNvSpPr/>
          <p:nvPr/>
        </p:nvSpPr>
        <p:spPr>
          <a:xfrm>
            <a:off x="777240" y="5358384"/>
            <a:ext cx="10637215" cy="877824"/>
          </a:xfrm>
          <a:prstGeom prst="roundRect">
            <a:avLst>
              <a:gd name="adj" fmla="val 5729"/>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37" name="Text 34"/>
          <p:cNvSpPr/>
          <p:nvPr/>
        </p:nvSpPr>
        <p:spPr>
          <a:xfrm>
            <a:off x="1014984" y="5504688"/>
            <a:ext cx="10161727" cy="58521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FINDING THAT MATTERS FOR PLANNING</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Escalating one request in five beats a 18-model blend — at a sixteenth of the compute and with no labelled data to collect. Ensembling is the right answer only when nothing may leave at all; then it is worth about a quarter of the gap.</a:t>
            </a:r>
            <a:endParaRPr lang="en-US" sz="980" dirty="0"/>
          </a:p>
        </p:txBody>
      </p:sp>
      <p:sp>
        <p:nvSpPr>
          <p:cNvPr id="38" name="Text 35"/>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39" name="Text 36"/>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WHAT HOSTED COSTS</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The accuracy is real. So is the bill, the latency, and the loss of control</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Four costs, three of which do not appear on an invoice</a:t>
            </a:r>
            <a:endParaRPr lang="en-US" sz="1250" dirty="0"/>
          </a:p>
        </p:txBody>
      </p:sp>
      <p:sp>
        <p:nvSpPr>
          <p:cNvPr id="6" name="Shape 3"/>
          <p:cNvSpPr/>
          <p:nvPr/>
        </p:nvSpPr>
        <p:spPr>
          <a:xfrm>
            <a:off x="777240" y="2212848"/>
            <a:ext cx="5669280" cy="457200"/>
          </a:xfrm>
          <a:prstGeom prst="roundRect">
            <a:avLst>
              <a:gd name="adj" fmla="val 10000"/>
            </a:avLst>
          </a:prstGeom>
          <a:solidFill>
            <a:srgbClr val="1E3050"/>
          </a:solidFill>
          <a:ln w="9525">
            <a:solidFill>
              <a:srgbClr val="1E3050"/>
            </a:solidFill>
            <a:prstDash val="solid"/>
          </a:ln>
        </p:spPr>
        <p:txBody>
          <a:bodyPr/>
          <a:lstStyle/>
          <a:p>
            <a:endParaRPr lang="en-US"/>
          </a:p>
        </p:txBody>
      </p:sp>
      <p:sp>
        <p:nvSpPr>
          <p:cNvPr id="7" name="Text 4"/>
          <p:cNvSpPr/>
          <p:nvPr/>
        </p:nvSpPr>
        <p:spPr>
          <a:xfrm>
            <a:off x="923544" y="2212848"/>
            <a:ext cx="1993392" cy="457200"/>
          </a:xfrm>
          <a:prstGeom prst="rect">
            <a:avLst/>
          </a:prstGeom>
          <a:noFill/>
          <a:ln/>
        </p:spPr>
        <p:txBody>
          <a:bodyPr wrap="square" lIns="0" tIns="0" rIns="0" bIns="0" rtlCol="0" anchor="ctr"/>
          <a:lstStyle/>
          <a:p>
            <a:pPr marL="0" indent="0" algn="l">
              <a:buNone/>
            </a:pPr>
            <a:endParaRPr lang="en-US" sz="920" dirty="0"/>
          </a:p>
        </p:txBody>
      </p:sp>
      <p:sp>
        <p:nvSpPr>
          <p:cNvPr id="8" name="Text 5"/>
          <p:cNvSpPr/>
          <p:nvPr/>
        </p:nvSpPr>
        <p:spPr>
          <a:xfrm>
            <a:off x="3209544" y="2212848"/>
            <a:ext cx="1399032" cy="457200"/>
          </a:xfrm>
          <a:prstGeom prst="rect">
            <a:avLst/>
          </a:prstGeom>
          <a:noFill/>
          <a:ln/>
        </p:spPr>
        <p:txBody>
          <a:bodyPr wrap="square" lIns="0" tIns="0" rIns="0" bIns="0" rtlCol="0" anchor="ctr"/>
          <a:lstStyle/>
          <a:p>
            <a:pPr marL="0" indent="0" algn="ctr">
              <a:buNone/>
            </a:pPr>
            <a:r>
              <a:rPr lang="en-US" sz="920" b="1" kern="0" spc="60" dirty="0">
                <a:solidFill>
                  <a:srgbClr val="BFD8F5"/>
                </a:solidFill>
                <a:latin typeface="Calibri" pitchFamily="34" charset="0"/>
                <a:ea typeface="Calibri" pitchFamily="34" charset="-122"/>
                <a:cs typeface="Calibri" pitchFamily="34" charset="-120"/>
              </a:rPr>
              <a:t>SELF-HOSTED SMALL</a:t>
            </a:r>
            <a:endParaRPr lang="en-US" sz="920" dirty="0"/>
          </a:p>
        </p:txBody>
      </p:sp>
      <p:sp>
        <p:nvSpPr>
          <p:cNvPr id="9" name="Text 6"/>
          <p:cNvSpPr/>
          <p:nvPr/>
        </p:nvSpPr>
        <p:spPr>
          <a:xfrm>
            <a:off x="4901184" y="2212848"/>
            <a:ext cx="1399032" cy="457200"/>
          </a:xfrm>
          <a:prstGeom prst="rect">
            <a:avLst/>
          </a:prstGeom>
          <a:noFill/>
          <a:ln/>
        </p:spPr>
        <p:txBody>
          <a:bodyPr wrap="square" lIns="0" tIns="0" rIns="0" bIns="0" rtlCol="0" anchor="ctr"/>
          <a:lstStyle/>
          <a:p>
            <a:pPr marL="0" indent="0" algn="ctr">
              <a:buNone/>
            </a:pPr>
            <a:r>
              <a:rPr lang="en-US" sz="920" b="1" kern="0" spc="60" dirty="0">
                <a:solidFill>
                  <a:srgbClr val="BFD8F5"/>
                </a:solidFill>
                <a:latin typeface="Calibri" pitchFamily="34" charset="0"/>
                <a:ea typeface="Calibri" pitchFamily="34" charset="-122"/>
                <a:cs typeface="Calibri" pitchFamily="34" charset="-120"/>
              </a:rPr>
              <a:t>HOSTED FRONTIER</a:t>
            </a:r>
            <a:endParaRPr lang="en-US" sz="920" dirty="0"/>
          </a:p>
        </p:txBody>
      </p:sp>
      <p:sp>
        <p:nvSpPr>
          <p:cNvPr id="10" name="Shape 7"/>
          <p:cNvSpPr/>
          <p:nvPr/>
        </p:nvSpPr>
        <p:spPr>
          <a:xfrm>
            <a:off x="777240" y="3255264"/>
            <a:ext cx="5669280" cy="0"/>
          </a:xfrm>
          <a:prstGeom prst="line">
            <a:avLst/>
          </a:prstGeom>
          <a:noFill/>
          <a:ln w="9525">
            <a:solidFill>
              <a:srgbClr val="26374F"/>
            </a:solidFill>
            <a:prstDash val="solid"/>
          </a:ln>
        </p:spPr>
        <p:txBody>
          <a:bodyPr/>
          <a:lstStyle/>
          <a:p>
            <a:endParaRPr lang="en-US"/>
          </a:p>
        </p:txBody>
      </p:sp>
      <p:sp>
        <p:nvSpPr>
          <p:cNvPr id="11" name="Text 8"/>
          <p:cNvSpPr/>
          <p:nvPr/>
        </p:nvSpPr>
        <p:spPr>
          <a:xfrm>
            <a:off x="923544" y="2724912"/>
            <a:ext cx="1993392" cy="530352"/>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Median latency</a:t>
            </a:r>
            <a:endParaRPr lang="en-US" sz="1040" dirty="0"/>
          </a:p>
        </p:txBody>
      </p:sp>
      <p:sp>
        <p:nvSpPr>
          <p:cNvPr id="12" name="Text 9"/>
          <p:cNvSpPr/>
          <p:nvPr/>
        </p:nvSpPr>
        <p:spPr>
          <a:xfrm>
            <a:off x="3209544" y="2724912"/>
            <a:ext cx="1399032" cy="530352"/>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10–25 ms</a:t>
            </a:r>
            <a:endParaRPr lang="en-US" sz="1040" dirty="0"/>
          </a:p>
        </p:txBody>
      </p:sp>
      <p:sp>
        <p:nvSpPr>
          <p:cNvPr id="13" name="Text 10"/>
          <p:cNvSpPr/>
          <p:nvPr/>
        </p:nvSpPr>
        <p:spPr>
          <a:xfrm>
            <a:off x="4901184" y="2724912"/>
            <a:ext cx="1399032" cy="530352"/>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~1,553 ms</a:t>
            </a:r>
            <a:endParaRPr lang="en-US" sz="1040" dirty="0"/>
          </a:p>
        </p:txBody>
      </p:sp>
      <p:sp>
        <p:nvSpPr>
          <p:cNvPr id="14" name="Shape 11"/>
          <p:cNvSpPr/>
          <p:nvPr/>
        </p:nvSpPr>
        <p:spPr>
          <a:xfrm>
            <a:off x="777240" y="3785616"/>
            <a:ext cx="5669280" cy="0"/>
          </a:xfrm>
          <a:prstGeom prst="line">
            <a:avLst/>
          </a:prstGeom>
          <a:noFill/>
          <a:ln w="9525">
            <a:solidFill>
              <a:srgbClr val="26374F"/>
            </a:solidFill>
            <a:prstDash val="solid"/>
          </a:ln>
        </p:spPr>
        <p:txBody>
          <a:bodyPr/>
          <a:lstStyle/>
          <a:p>
            <a:endParaRPr lang="en-US"/>
          </a:p>
        </p:txBody>
      </p:sp>
      <p:sp>
        <p:nvSpPr>
          <p:cNvPr id="15" name="Text 12"/>
          <p:cNvSpPr/>
          <p:nvPr/>
        </p:nvSpPr>
        <p:spPr>
          <a:xfrm>
            <a:off x="923544" y="3255264"/>
            <a:ext cx="1993392" cy="530352"/>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Cost per 1k prompts</a:t>
            </a:r>
            <a:endParaRPr lang="en-US" sz="1040" dirty="0"/>
          </a:p>
        </p:txBody>
      </p:sp>
      <p:sp>
        <p:nvSpPr>
          <p:cNvPr id="16" name="Text 13"/>
          <p:cNvSpPr/>
          <p:nvPr/>
        </p:nvSpPr>
        <p:spPr>
          <a:xfrm>
            <a:off x="3209544" y="3255264"/>
            <a:ext cx="1399032" cy="530352"/>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GPU you own</a:t>
            </a:r>
            <a:endParaRPr lang="en-US" sz="1040" dirty="0"/>
          </a:p>
        </p:txBody>
      </p:sp>
      <p:sp>
        <p:nvSpPr>
          <p:cNvPr id="17" name="Text 14"/>
          <p:cNvSpPr/>
          <p:nvPr/>
        </p:nvSpPr>
        <p:spPr>
          <a:xfrm>
            <a:off x="4901184" y="3255264"/>
            <a:ext cx="1399032" cy="530352"/>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$0.80</a:t>
            </a:r>
            <a:endParaRPr lang="en-US" sz="1040" dirty="0"/>
          </a:p>
        </p:txBody>
      </p:sp>
      <p:sp>
        <p:nvSpPr>
          <p:cNvPr id="18" name="Shape 15"/>
          <p:cNvSpPr/>
          <p:nvPr/>
        </p:nvSpPr>
        <p:spPr>
          <a:xfrm>
            <a:off x="777240" y="4315968"/>
            <a:ext cx="5669280" cy="0"/>
          </a:xfrm>
          <a:prstGeom prst="line">
            <a:avLst/>
          </a:prstGeom>
          <a:noFill/>
          <a:ln w="9525">
            <a:solidFill>
              <a:srgbClr val="26374F"/>
            </a:solidFill>
            <a:prstDash val="solid"/>
          </a:ln>
        </p:spPr>
        <p:txBody>
          <a:bodyPr/>
          <a:lstStyle/>
          <a:p>
            <a:endParaRPr lang="en-US"/>
          </a:p>
        </p:txBody>
      </p:sp>
      <p:sp>
        <p:nvSpPr>
          <p:cNvPr id="19" name="Text 16"/>
          <p:cNvSpPr/>
          <p:nvPr/>
        </p:nvSpPr>
        <p:spPr>
          <a:xfrm>
            <a:off x="923544" y="3785616"/>
            <a:ext cx="1993392" cy="530352"/>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Prompt leaves our network</a:t>
            </a:r>
            <a:endParaRPr lang="en-US" sz="1040" dirty="0"/>
          </a:p>
        </p:txBody>
      </p:sp>
      <p:sp>
        <p:nvSpPr>
          <p:cNvPr id="20" name="Text 17"/>
          <p:cNvSpPr/>
          <p:nvPr/>
        </p:nvSpPr>
        <p:spPr>
          <a:xfrm>
            <a:off x="3209544" y="3785616"/>
            <a:ext cx="1399032" cy="530352"/>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no</a:t>
            </a:r>
            <a:endParaRPr lang="en-US" sz="1040" dirty="0"/>
          </a:p>
        </p:txBody>
      </p:sp>
      <p:sp>
        <p:nvSpPr>
          <p:cNvPr id="21" name="Text 18"/>
          <p:cNvSpPr/>
          <p:nvPr/>
        </p:nvSpPr>
        <p:spPr>
          <a:xfrm>
            <a:off x="4901184" y="3785616"/>
            <a:ext cx="1399032" cy="530352"/>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yes</a:t>
            </a:r>
            <a:endParaRPr lang="en-US" sz="1040" dirty="0"/>
          </a:p>
        </p:txBody>
      </p:sp>
      <p:sp>
        <p:nvSpPr>
          <p:cNvPr id="22" name="Shape 19"/>
          <p:cNvSpPr/>
          <p:nvPr/>
        </p:nvSpPr>
        <p:spPr>
          <a:xfrm>
            <a:off x="777240" y="4846320"/>
            <a:ext cx="5669280" cy="0"/>
          </a:xfrm>
          <a:prstGeom prst="line">
            <a:avLst/>
          </a:prstGeom>
          <a:noFill/>
          <a:ln w="9525">
            <a:solidFill>
              <a:srgbClr val="26374F"/>
            </a:solidFill>
            <a:prstDash val="solid"/>
          </a:ln>
        </p:spPr>
        <p:txBody>
          <a:bodyPr/>
          <a:lstStyle/>
          <a:p>
            <a:endParaRPr lang="en-US"/>
          </a:p>
        </p:txBody>
      </p:sp>
      <p:sp>
        <p:nvSpPr>
          <p:cNvPr id="23" name="Text 20"/>
          <p:cNvSpPr/>
          <p:nvPr/>
        </p:nvSpPr>
        <p:spPr>
          <a:xfrm>
            <a:off x="923544" y="4315968"/>
            <a:ext cx="1993392" cy="530352"/>
          </a:xfrm>
          <a:prstGeom prst="rect">
            <a:avLst/>
          </a:prstGeom>
          <a:noFill/>
          <a:ln/>
        </p:spPr>
        <p:txBody>
          <a:bodyPr wrap="square" lIns="0" tIns="0" rIns="0" bIns="0" rtlCol="0" anchor="ctr"/>
          <a:lstStyle/>
          <a:p>
            <a:pPr marL="0" indent="0" algn="l">
              <a:buNone/>
            </a:pPr>
            <a:r>
              <a:rPr lang="en-US" sz="1040" b="1" dirty="0">
                <a:solidFill>
                  <a:srgbClr val="EEF2F8"/>
                </a:solidFill>
                <a:latin typeface="Calibri" pitchFamily="34" charset="0"/>
                <a:ea typeface="Calibri" pitchFamily="34" charset="-122"/>
                <a:cs typeface="Calibri" pitchFamily="34" charset="-120"/>
              </a:rPr>
              <a:t>We choose the alarm rate</a:t>
            </a:r>
            <a:endParaRPr lang="en-US" sz="1040" dirty="0"/>
          </a:p>
        </p:txBody>
      </p:sp>
      <p:sp>
        <p:nvSpPr>
          <p:cNvPr id="24" name="Text 21"/>
          <p:cNvSpPr/>
          <p:nvPr/>
        </p:nvSpPr>
        <p:spPr>
          <a:xfrm>
            <a:off x="3209544" y="4315968"/>
            <a:ext cx="1399032" cy="530352"/>
          </a:xfrm>
          <a:prstGeom prst="rect">
            <a:avLst/>
          </a:prstGeom>
          <a:noFill/>
          <a:ln/>
        </p:spPr>
        <p:txBody>
          <a:bodyPr wrap="square" lIns="0" tIns="0" rIns="0" bIns="0" rtlCol="0" anchor="ctr"/>
          <a:lstStyle/>
          <a:p>
            <a:pPr marL="0" indent="0" algn="ctr">
              <a:buNone/>
            </a:pPr>
            <a:r>
              <a:rPr lang="en-US" sz="1040" b="1" dirty="0">
                <a:solidFill>
                  <a:srgbClr val="BFD8F5"/>
                </a:solidFill>
                <a:latin typeface="Calibri" pitchFamily="34" charset="0"/>
                <a:ea typeface="Calibri" pitchFamily="34" charset="-122"/>
                <a:cs typeface="Calibri" pitchFamily="34" charset="-120"/>
              </a:rPr>
              <a:t>exactly</a:t>
            </a:r>
            <a:endParaRPr lang="en-US" sz="1040" dirty="0"/>
          </a:p>
        </p:txBody>
      </p:sp>
      <p:sp>
        <p:nvSpPr>
          <p:cNvPr id="25" name="Text 22"/>
          <p:cNvSpPr/>
          <p:nvPr/>
        </p:nvSpPr>
        <p:spPr>
          <a:xfrm>
            <a:off x="4901184" y="4315968"/>
            <a:ext cx="1399032" cy="530352"/>
          </a:xfrm>
          <a:prstGeom prst="rect">
            <a:avLst/>
          </a:prstGeom>
          <a:noFill/>
          <a:ln/>
        </p:spPr>
        <p:txBody>
          <a:bodyPr wrap="square" lIns="0" tIns="0" rIns="0" bIns="0" rtlCol="0" anchor="ctr"/>
          <a:lstStyle/>
          <a:p>
            <a:pPr marL="0" indent="0" algn="ctr">
              <a:buNone/>
            </a:pPr>
            <a:r>
              <a:rPr lang="en-US" sz="1040" b="1" dirty="0">
                <a:solidFill>
                  <a:srgbClr val="F08A7F"/>
                </a:solidFill>
                <a:latin typeface="Calibri" pitchFamily="34" charset="0"/>
                <a:ea typeface="Calibri" pitchFamily="34" charset="-122"/>
                <a:cs typeface="Calibri" pitchFamily="34" charset="-120"/>
              </a:rPr>
              <a:t>approximately</a:t>
            </a:r>
            <a:endParaRPr lang="en-US" sz="1040" dirty="0"/>
          </a:p>
        </p:txBody>
      </p:sp>
      <p:sp>
        <p:nvSpPr>
          <p:cNvPr id="26" name="Shape 23"/>
          <p:cNvSpPr/>
          <p:nvPr/>
        </p:nvSpPr>
        <p:spPr>
          <a:xfrm>
            <a:off x="6720840" y="2212848"/>
            <a:ext cx="4690872" cy="1517904"/>
          </a:xfrm>
          <a:prstGeom prst="roundRect">
            <a:avLst>
              <a:gd name="adj" fmla="val 3313"/>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7" name="Text 24"/>
          <p:cNvSpPr/>
          <p:nvPr/>
        </p:nvSpPr>
        <p:spPr>
          <a:xfrm>
            <a:off x="6958584" y="2359152"/>
            <a:ext cx="4215384" cy="1225296"/>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ONE WE DID NOT EXPECT</a:t>
            </a:r>
            <a:endParaRPr lang="en-US" sz="980" dirty="0"/>
          </a:p>
          <a:p>
            <a:pPr marL="0" indent="0">
              <a:lnSpc>
                <a:spcPct val="114000"/>
              </a:lnSpc>
              <a:buNone/>
            </a:pPr>
            <a:r>
              <a:rPr lang="en-US" sz="1060" dirty="0">
                <a:solidFill>
                  <a:srgbClr val="9DAFC7"/>
                </a:solidFill>
                <a:latin typeface="Calibri" pitchFamily="34" charset="0"/>
                <a:ea typeface="Calibri" pitchFamily="34" charset="-122"/>
                <a:cs typeface="Calibri" pitchFamily="34" charset="-120"/>
              </a:rPr>
              <a:t>The provider refused to evaluate a subset of prompts outright, and did so inconsistently — the same prompt was refused on some runs and not others. A guardrail that intermittently declines to answer is itself an audit finding.</a:t>
            </a:r>
            <a:endParaRPr lang="en-US" sz="980" dirty="0"/>
          </a:p>
        </p:txBody>
      </p:sp>
      <p:sp>
        <p:nvSpPr>
          <p:cNvPr id="28" name="Shape 25"/>
          <p:cNvSpPr/>
          <p:nvPr/>
        </p:nvSpPr>
        <p:spPr>
          <a:xfrm>
            <a:off x="6720840" y="3986784"/>
            <a:ext cx="4690872" cy="1207008"/>
          </a:xfrm>
          <a:prstGeom prst="roundRect">
            <a:avLst>
              <a:gd name="adj" fmla="val 4167"/>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9" name="Text 26"/>
          <p:cNvSpPr/>
          <p:nvPr/>
        </p:nvSpPr>
        <p:spPr>
          <a:xfrm>
            <a:off x="6958584" y="4133088"/>
            <a:ext cx="4215384" cy="914400"/>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CONTROL OVER THE ALARM RATE</a:t>
            </a:r>
            <a:endParaRPr lang="en-US" sz="980" dirty="0"/>
          </a:p>
          <a:p>
            <a:pPr marL="0" indent="0">
              <a:lnSpc>
                <a:spcPct val="114000"/>
              </a:lnSpc>
              <a:buNone/>
            </a:pPr>
            <a:r>
              <a:rPr lang="en-US" sz="1060" dirty="0">
                <a:solidFill>
                  <a:srgbClr val="9DAFC7"/>
                </a:solidFill>
                <a:latin typeface="Calibri" pitchFamily="34" charset="0"/>
                <a:ea typeface="Calibri" pitchFamily="34" charset="-122"/>
                <a:cs typeface="Calibri" pitchFamily="34" charset="-120"/>
              </a:rPr>
              <a:t>Our own model exposes a continuous score, so we can set the false-alarm budget precisely. The hosted model reports a coarse 0–100 value, so we can only land near a target.</a:t>
            </a:r>
            <a:endParaRPr lang="en-US" sz="980" dirty="0"/>
          </a:p>
        </p:txBody>
      </p:sp>
      <p:sp>
        <p:nvSpPr>
          <p:cNvPr id="30" name="Shape 27"/>
          <p:cNvSpPr/>
          <p:nvPr/>
        </p:nvSpPr>
        <p:spPr>
          <a:xfrm>
            <a:off x="777240" y="5486400"/>
            <a:ext cx="10637215" cy="768096"/>
          </a:xfrm>
          <a:prstGeom prst="roundRect">
            <a:avLst>
              <a:gd name="adj" fmla="val 6548"/>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31" name="Text 28"/>
          <p:cNvSpPr/>
          <p:nvPr/>
        </p:nvSpPr>
        <p:spPr>
          <a:xfrm>
            <a:off x="1014984" y="5632704"/>
            <a:ext cx="10161727" cy="475488"/>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NOT A REASON TO REFUSE HOSTED</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It is a reason to scope it: hosted on traffic where the prompt may leave and latency is not critical; self-hosted on the regulated, latency-sensitive path.</a:t>
            </a:r>
            <a:endParaRPr lang="en-US" sz="980" dirty="0"/>
          </a:p>
        </p:txBody>
      </p:sp>
      <p:sp>
        <p:nvSpPr>
          <p:cNvPr id="32" name="Text 29"/>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33" name="Text 30"/>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THE USEFUL FINDING</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If we must self-host, a bigger untuned model beats a tuned small one</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Because tuning's cost lands on exactly the traffic a guardrail exists to catch</a:t>
            </a:r>
            <a:endParaRPr lang="en-US" sz="1250" dirty="0"/>
          </a:p>
        </p:txBody>
      </p:sp>
      <p:sp>
        <p:nvSpPr>
          <p:cNvPr id="6" name="Shape 3"/>
          <p:cNvSpPr/>
          <p:nvPr/>
        </p:nvSpPr>
        <p:spPr>
          <a:xfrm>
            <a:off x="777240" y="2240280"/>
            <a:ext cx="5120640" cy="932688"/>
          </a:xfrm>
          <a:prstGeom prst="roundRect">
            <a:avLst>
              <a:gd name="adj" fmla="val 5392"/>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Shape 4"/>
          <p:cNvSpPr/>
          <p:nvPr/>
        </p:nvSpPr>
        <p:spPr>
          <a:xfrm>
            <a:off x="996696" y="2551176"/>
            <a:ext cx="310896" cy="310896"/>
          </a:xfrm>
          <a:prstGeom prst="ellipse">
            <a:avLst/>
          </a:prstGeom>
          <a:solidFill>
            <a:srgbClr val="0C1424"/>
          </a:solidFill>
          <a:ln w="12700">
            <a:solidFill>
              <a:srgbClr val="E0564F"/>
            </a:solidFill>
            <a:prstDash val="solid"/>
          </a:ln>
        </p:spPr>
        <p:txBody>
          <a:bodyPr/>
          <a:lstStyle/>
          <a:p>
            <a:endParaRPr lang="en-US"/>
          </a:p>
        </p:txBody>
      </p:sp>
      <p:sp>
        <p:nvSpPr>
          <p:cNvPr id="8" name="Text 5"/>
          <p:cNvSpPr/>
          <p:nvPr/>
        </p:nvSpPr>
        <p:spPr>
          <a:xfrm>
            <a:off x="996696" y="255117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9" name="Text 6"/>
          <p:cNvSpPr/>
          <p:nvPr/>
        </p:nvSpPr>
        <p:spPr>
          <a:xfrm>
            <a:off x="1508760" y="2386584"/>
            <a:ext cx="4169664" cy="640080"/>
          </a:xfrm>
          <a:prstGeom prst="rect">
            <a:avLst/>
          </a:prstGeom>
          <a:noFill/>
          <a:ln/>
        </p:spPr>
        <p:txBody>
          <a:bodyPr wrap="square" lIns="0" tIns="0" rIns="0" bIns="0" rtlCol="0" anchor="ctr"/>
          <a:lstStyle/>
          <a:p>
            <a:pPr marL="0" indent="0">
              <a:lnSpc>
                <a:spcPct val="114000"/>
              </a:lnSpc>
              <a:buNone/>
            </a:pPr>
            <a:r>
              <a:rPr lang="en-US" sz="1080" b="1" dirty="0">
                <a:solidFill>
                  <a:srgbClr val="EEF2F8"/>
                </a:solidFill>
                <a:latin typeface="Calibri" pitchFamily="34" charset="0"/>
                <a:ea typeface="Calibri" pitchFamily="34" charset="-122"/>
                <a:cs typeface="Calibri" pitchFamily="34" charset="-120"/>
              </a:rPr>
              <a:t>Tuning a small model.</a:t>
            </a:r>
            <a:r>
              <a:rPr lang="en-US" sz="1080" dirty="0">
                <a:solidFill>
                  <a:srgbClr val="9DAFC7"/>
                </a:solidFill>
                <a:latin typeface="Calibri" pitchFamily="34" charset="0"/>
                <a:ea typeface="Calibri" pitchFamily="34" charset="-122"/>
                <a:cs typeface="Calibri" pitchFamily="34" charset="-120"/>
              </a:rPr>
              <a:t> Large gain on familiar traffic, and it gives back accuracy on unfamiliar traffic — which is where novel attacks arrive.</a:t>
            </a:r>
            <a:endParaRPr lang="en-US" sz="1080" dirty="0"/>
          </a:p>
        </p:txBody>
      </p:sp>
      <p:sp>
        <p:nvSpPr>
          <p:cNvPr id="10" name="Shape 7"/>
          <p:cNvSpPr/>
          <p:nvPr/>
        </p:nvSpPr>
        <p:spPr>
          <a:xfrm>
            <a:off x="777240" y="3447288"/>
            <a:ext cx="5120640" cy="932688"/>
          </a:xfrm>
          <a:prstGeom prst="roundRect">
            <a:avLst>
              <a:gd name="adj" fmla="val 5392"/>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Shape 8"/>
          <p:cNvSpPr/>
          <p:nvPr/>
        </p:nvSpPr>
        <p:spPr>
          <a:xfrm>
            <a:off x="996696" y="3758184"/>
            <a:ext cx="310896" cy="310896"/>
          </a:xfrm>
          <a:prstGeom prst="ellipse">
            <a:avLst/>
          </a:prstGeom>
          <a:solidFill>
            <a:srgbClr val="0C1424"/>
          </a:solidFill>
          <a:ln w="12700">
            <a:solidFill>
              <a:srgbClr val="E0564F"/>
            </a:solidFill>
            <a:prstDash val="solid"/>
          </a:ln>
        </p:spPr>
        <p:txBody>
          <a:bodyPr/>
          <a:lstStyle/>
          <a:p>
            <a:endParaRPr lang="en-US"/>
          </a:p>
        </p:txBody>
      </p:sp>
      <p:sp>
        <p:nvSpPr>
          <p:cNvPr id="12" name="Text 9"/>
          <p:cNvSpPr/>
          <p:nvPr/>
        </p:nvSpPr>
        <p:spPr>
          <a:xfrm>
            <a:off x="996696" y="3758184"/>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13" name="Text 10"/>
          <p:cNvSpPr/>
          <p:nvPr/>
        </p:nvSpPr>
        <p:spPr>
          <a:xfrm>
            <a:off x="1508760" y="3593592"/>
            <a:ext cx="4169664" cy="640080"/>
          </a:xfrm>
          <a:prstGeom prst="rect">
            <a:avLst/>
          </a:prstGeom>
          <a:noFill/>
          <a:ln/>
        </p:spPr>
        <p:txBody>
          <a:bodyPr wrap="square" lIns="0" tIns="0" rIns="0" bIns="0" rtlCol="0" anchor="ctr"/>
          <a:lstStyle/>
          <a:p>
            <a:pPr marL="0" indent="0">
              <a:lnSpc>
                <a:spcPct val="114000"/>
              </a:lnSpc>
              <a:buNone/>
            </a:pPr>
            <a:r>
              <a:rPr lang="en-US" sz="1080" b="1" dirty="0">
                <a:solidFill>
                  <a:srgbClr val="EEF2F8"/>
                </a:solidFill>
                <a:latin typeface="Calibri" pitchFamily="34" charset="0"/>
                <a:ea typeface="Calibri" pitchFamily="34" charset="-122"/>
                <a:cs typeface="Calibri" pitchFamily="34" charset="-120"/>
              </a:rPr>
              <a:t>A bigger untuned model.</a:t>
            </a:r>
            <a:r>
              <a:rPr lang="en-US" sz="1080" dirty="0">
                <a:solidFill>
                  <a:srgbClr val="9DAFC7"/>
                </a:solidFill>
                <a:latin typeface="Calibri" pitchFamily="34" charset="0"/>
                <a:ea typeface="Calibri" pitchFamily="34" charset="-122"/>
                <a:cs typeface="Calibri" pitchFamily="34" charset="-120"/>
              </a:rPr>
              <a:t> Recovers most of that same gain on familiar traffic, and holds its accuracy on unfamiliar traffic.</a:t>
            </a:r>
            <a:endParaRPr lang="en-US" sz="1080" dirty="0"/>
          </a:p>
        </p:txBody>
      </p:sp>
      <p:sp>
        <p:nvSpPr>
          <p:cNvPr id="14" name="Shape 11"/>
          <p:cNvSpPr/>
          <p:nvPr/>
        </p:nvSpPr>
        <p:spPr>
          <a:xfrm>
            <a:off x="777240" y="4654296"/>
            <a:ext cx="5120640" cy="932688"/>
          </a:xfrm>
          <a:prstGeom prst="roundRect">
            <a:avLst>
              <a:gd name="adj" fmla="val 5392"/>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5" name="Shape 12"/>
          <p:cNvSpPr/>
          <p:nvPr/>
        </p:nvSpPr>
        <p:spPr>
          <a:xfrm>
            <a:off x="996696" y="4965192"/>
            <a:ext cx="310896" cy="310896"/>
          </a:xfrm>
          <a:prstGeom prst="ellipse">
            <a:avLst/>
          </a:prstGeom>
          <a:solidFill>
            <a:srgbClr val="0C1424"/>
          </a:solidFill>
          <a:ln w="12700">
            <a:solidFill>
              <a:srgbClr val="E0564F"/>
            </a:solidFill>
            <a:prstDash val="solid"/>
          </a:ln>
        </p:spPr>
        <p:txBody>
          <a:bodyPr/>
          <a:lstStyle/>
          <a:p>
            <a:endParaRPr lang="en-US"/>
          </a:p>
        </p:txBody>
      </p:sp>
      <p:sp>
        <p:nvSpPr>
          <p:cNvPr id="16" name="Text 13"/>
          <p:cNvSpPr/>
          <p:nvPr/>
        </p:nvSpPr>
        <p:spPr>
          <a:xfrm>
            <a:off x="996696" y="4965192"/>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17" name="Text 14"/>
          <p:cNvSpPr/>
          <p:nvPr/>
        </p:nvSpPr>
        <p:spPr>
          <a:xfrm>
            <a:off x="1508760" y="4800600"/>
            <a:ext cx="4169664" cy="640080"/>
          </a:xfrm>
          <a:prstGeom prst="rect">
            <a:avLst/>
          </a:prstGeom>
          <a:noFill/>
          <a:ln/>
        </p:spPr>
        <p:txBody>
          <a:bodyPr wrap="square" lIns="0" tIns="0" rIns="0" bIns="0" rtlCol="0" anchor="ctr"/>
          <a:lstStyle/>
          <a:p>
            <a:pPr marL="0" indent="0">
              <a:lnSpc>
                <a:spcPct val="114000"/>
              </a:lnSpc>
              <a:buNone/>
            </a:pPr>
            <a:r>
              <a:rPr lang="en-US" sz="1080" b="1" dirty="0">
                <a:solidFill>
                  <a:srgbClr val="EEF2F8"/>
                </a:solidFill>
                <a:latin typeface="Calibri" pitchFamily="34" charset="0"/>
                <a:ea typeface="Calibri" pitchFamily="34" charset="-122"/>
                <a:cs typeface="Calibri" pitchFamily="34" charset="-120"/>
              </a:rPr>
              <a:t>So for a guardrail specifically.</a:t>
            </a:r>
            <a:r>
              <a:rPr lang="en-US" sz="1080" dirty="0">
                <a:solidFill>
                  <a:srgbClr val="9DAFC7"/>
                </a:solidFill>
                <a:latin typeface="Calibri" pitchFamily="34" charset="0"/>
                <a:ea typeface="Calibri" pitchFamily="34" charset="-122"/>
                <a:cs typeface="Calibri" pitchFamily="34" charset="-120"/>
              </a:rPr>
              <a:t> Prefer spending on a stronger base model over spending on a tuning programme.</a:t>
            </a:r>
            <a:endParaRPr lang="en-US" sz="1080" dirty="0"/>
          </a:p>
        </p:txBody>
      </p:sp>
      <p:sp>
        <p:nvSpPr>
          <p:cNvPr id="18" name="Shape 15"/>
          <p:cNvSpPr/>
          <p:nvPr/>
        </p:nvSpPr>
        <p:spPr>
          <a:xfrm>
            <a:off x="6263640" y="2240280"/>
            <a:ext cx="5148072" cy="1645920"/>
          </a:xfrm>
          <a:prstGeom prst="roundRect">
            <a:avLst>
              <a:gd name="adj" fmla="val 3056"/>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19" name="Text 16"/>
          <p:cNvSpPr/>
          <p:nvPr/>
        </p:nvSpPr>
        <p:spPr>
          <a:xfrm>
            <a:off x="6501384" y="2386584"/>
            <a:ext cx="4672584" cy="1353312"/>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WHY THIS IS WORTH MONEY</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It reverses the intuitive plan. Tuning looks like the cheap, targeted option; measured on held-out traffic it is the one that quietly costs you coverage.</a:t>
            </a:r>
            <a:endParaRPr lang="en-US" sz="980" dirty="0"/>
          </a:p>
        </p:txBody>
      </p:sp>
      <p:sp>
        <p:nvSpPr>
          <p:cNvPr id="20" name="Shape 17"/>
          <p:cNvSpPr/>
          <p:nvPr/>
        </p:nvSpPr>
        <p:spPr>
          <a:xfrm>
            <a:off x="6263640" y="4178808"/>
            <a:ext cx="5148072" cy="1645920"/>
          </a:xfrm>
          <a:prstGeom prst="roundRect">
            <a:avLst>
              <a:gd name="adj" fmla="val 3056"/>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1" name="Text 18"/>
          <p:cNvSpPr/>
          <p:nvPr/>
        </p:nvSpPr>
        <p:spPr>
          <a:xfrm>
            <a:off x="6501384" y="4325112"/>
            <a:ext cx="4672584" cy="1353312"/>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CONFIDENCE LEVEL</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This is a comparison between different model sizes, not a controlled experiment at fixed size. Treat it as a strong steer on where to spend, not a proven law.</a:t>
            </a:r>
            <a:endParaRPr lang="en-US" sz="980" dirty="0"/>
          </a:p>
        </p:txBody>
      </p:sp>
      <p:sp>
        <p:nvSpPr>
          <p:cNvPr id="22" name="Text 19"/>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3" name="Text 20"/>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424"/>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CONFIDENCE AND LIMITS</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What this does not tell you</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Stated plainly, so the recommendation can be trusted where it does apply</a:t>
            </a:r>
            <a:endParaRPr lang="en-US" sz="1250" dirty="0"/>
          </a:p>
        </p:txBody>
      </p:sp>
      <p:sp>
        <p:nvSpPr>
          <p:cNvPr id="6" name="Shape 3"/>
          <p:cNvSpPr/>
          <p:nvPr/>
        </p:nvSpPr>
        <p:spPr>
          <a:xfrm>
            <a:off x="777240" y="2231136"/>
            <a:ext cx="5148072"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7" name="Shape 4"/>
          <p:cNvSpPr/>
          <p:nvPr/>
        </p:nvSpPr>
        <p:spPr>
          <a:xfrm>
            <a:off x="996696" y="2670048"/>
            <a:ext cx="310896" cy="310896"/>
          </a:xfrm>
          <a:prstGeom prst="ellipse">
            <a:avLst/>
          </a:prstGeom>
          <a:solidFill>
            <a:srgbClr val="0C1424"/>
          </a:solidFill>
          <a:ln w="12700">
            <a:solidFill>
              <a:srgbClr val="E0564F"/>
            </a:solidFill>
            <a:prstDash val="solid"/>
          </a:ln>
        </p:spPr>
        <p:txBody>
          <a:bodyPr/>
          <a:lstStyle/>
          <a:p>
            <a:endParaRPr lang="en-US"/>
          </a:p>
        </p:txBody>
      </p:sp>
      <p:sp>
        <p:nvSpPr>
          <p:cNvPr id="8" name="Text 5"/>
          <p:cNvSpPr/>
          <p:nvPr/>
        </p:nvSpPr>
        <p:spPr>
          <a:xfrm>
            <a:off x="996696" y="267004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9" name="Text 6"/>
          <p:cNvSpPr/>
          <p:nvPr/>
        </p:nvSpPr>
        <p:spPr>
          <a:xfrm>
            <a:off x="1508760" y="2377440"/>
            <a:ext cx="4197096" cy="896112"/>
          </a:xfrm>
          <a:prstGeom prst="rect">
            <a:avLst/>
          </a:prstGeom>
          <a:noFill/>
          <a:ln/>
        </p:spPr>
        <p:txBody>
          <a:bodyPr wrap="square" lIns="0" tIns="0" rIns="0" bIns="0" rtlCol="0" anchor="ctr"/>
          <a:lstStyle/>
          <a:p>
            <a:pPr marL="0" indent="0">
              <a:lnSpc>
                <a:spcPct val="114000"/>
              </a:lnSpc>
              <a:buNone/>
            </a:pPr>
            <a:r>
              <a:rPr lang="en-US" sz="1050" b="1" dirty="0">
                <a:solidFill>
                  <a:srgbClr val="EEF2F8"/>
                </a:solidFill>
                <a:latin typeface="Calibri" pitchFamily="34" charset="0"/>
                <a:ea typeface="Calibri" pitchFamily="34" charset="-122"/>
                <a:cs typeface="Calibri" pitchFamily="34" charset="-120"/>
              </a:rPr>
              <a:t>It is one benchmark.</a:t>
            </a:r>
            <a:r>
              <a:rPr lang="en-US" sz="1050" dirty="0">
                <a:solidFill>
                  <a:srgbClr val="9DAFC7"/>
                </a:solidFill>
                <a:latin typeface="Calibri" pitchFamily="34" charset="0"/>
                <a:ea typeface="Calibri" pitchFamily="34" charset="-122"/>
                <a:cs typeface="Calibri" pitchFamily="34" charset="-120"/>
              </a:rPr>
              <a:t> Expert-annotated finance, healthcare and law prompt safety. It is the strongest external evidence we have, and it is still a single instrument — and our own research shows guard rankings reorder when the benchmark changes.</a:t>
            </a:r>
            <a:endParaRPr lang="en-US" sz="1050" dirty="0"/>
          </a:p>
        </p:txBody>
      </p:sp>
      <p:sp>
        <p:nvSpPr>
          <p:cNvPr id="10" name="Shape 7"/>
          <p:cNvSpPr/>
          <p:nvPr/>
        </p:nvSpPr>
        <p:spPr>
          <a:xfrm>
            <a:off x="6263640" y="2231136"/>
            <a:ext cx="5148072"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1" name="Shape 8"/>
          <p:cNvSpPr/>
          <p:nvPr/>
        </p:nvSpPr>
        <p:spPr>
          <a:xfrm>
            <a:off x="6483096" y="2670048"/>
            <a:ext cx="310896" cy="310896"/>
          </a:xfrm>
          <a:prstGeom prst="ellipse">
            <a:avLst/>
          </a:prstGeom>
          <a:solidFill>
            <a:srgbClr val="0C1424"/>
          </a:solidFill>
          <a:ln w="12700">
            <a:solidFill>
              <a:srgbClr val="E0564F"/>
            </a:solidFill>
            <a:prstDash val="solid"/>
          </a:ln>
        </p:spPr>
        <p:txBody>
          <a:bodyPr/>
          <a:lstStyle/>
          <a:p>
            <a:endParaRPr lang="en-US"/>
          </a:p>
        </p:txBody>
      </p:sp>
      <p:sp>
        <p:nvSpPr>
          <p:cNvPr id="12" name="Text 9"/>
          <p:cNvSpPr/>
          <p:nvPr/>
        </p:nvSpPr>
        <p:spPr>
          <a:xfrm>
            <a:off x="6483096" y="267004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13" name="Text 10"/>
          <p:cNvSpPr/>
          <p:nvPr/>
        </p:nvSpPr>
        <p:spPr>
          <a:xfrm>
            <a:off x="6995160" y="2377440"/>
            <a:ext cx="4197096" cy="896112"/>
          </a:xfrm>
          <a:prstGeom prst="rect">
            <a:avLst/>
          </a:prstGeom>
          <a:noFill/>
          <a:ln/>
        </p:spPr>
        <p:txBody>
          <a:bodyPr wrap="square" lIns="0" tIns="0" rIns="0" bIns="0" rtlCol="0" anchor="ctr"/>
          <a:lstStyle/>
          <a:p>
            <a:pPr marL="0" indent="0">
              <a:lnSpc>
                <a:spcPct val="114000"/>
              </a:lnSpc>
              <a:buNone/>
            </a:pPr>
            <a:r>
              <a:rPr lang="en-US" sz="1050" b="1" dirty="0">
                <a:solidFill>
                  <a:srgbClr val="EEF2F8"/>
                </a:solidFill>
                <a:latin typeface="Calibri" pitchFamily="34" charset="0"/>
                <a:ea typeface="Calibri" pitchFamily="34" charset="-122"/>
                <a:cs typeface="Calibri" pitchFamily="34" charset="-120"/>
              </a:rPr>
              <a:t>It is prompt-only.</a:t>
            </a:r>
            <a:r>
              <a:rPr lang="en-US" sz="1050" dirty="0">
                <a:solidFill>
                  <a:srgbClr val="9DAFC7"/>
                </a:solidFill>
                <a:latin typeface="Calibri" pitchFamily="34" charset="0"/>
                <a:ea typeface="Calibri" pitchFamily="34" charset="-122"/>
                <a:cs typeface="Calibri" pitchFamily="34" charset="-120"/>
              </a:rPr>
              <a:t> We judged incoming prompts, not the assistant's replies, and not the harder mortgage-compliance question of whether a specific answer breaks a specific rule.</a:t>
            </a:r>
            <a:endParaRPr lang="en-US" sz="1050" dirty="0"/>
          </a:p>
        </p:txBody>
      </p:sp>
      <p:sp>
        <p:nvSpPr>
          <p:cNvPr id="14" name="Shape 11"/>
          <p:cNvSpPr/>
          <p:nvPr/>
        </p:nvSpPr>
        <p:spPr>
          <a:xfrm>
            <a:off x="777240" y="3712464"/>
            <a:ext cx="5148072"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5" name="Shape 12"/>
          <p:cNvSpPr/>
          <p:nvPr/>
        </p:nvSpPr>
        <p:spPr>
          <a:xfrm>
            <a:off x="996696" y="4151376"/>
            <a:ext cx="310896" cy="310896"/>
          </a:xfrm>
          <a:prstGeom prst="ellipse">
            <a:avLst/>
          </a:prstGeom>
          <a:solidFill>
            <a:srgbClr val="0C1424"/>
          </a:solidFill>
          <a:ln w="12700">
            <a:solidFill>
              <a:srgbClr val="E0564F"/>
            </a:solidFill>
            <a:prstDash val="solid"/>
          </a:ln>
        </p:spPr>
        <p:txBody>
          <a:bodyPr/>
          <a:lstStyle/>
          <a:p>
            <a:endParaRPr lang="en-US"/>
          </a:p>
        </p:txBody>
      </p:sp>
      <p:sp>
        <p:nvSpPr>
          <p:cNvPr id="16" name="Text 13"/>
          <p:cNvSpPr/>
          <p:nvPr/>
        </p:nvSpPr>
        <p:spPr>
          <a:xfrm>
            <a:off x="996696" y="415137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17" name="Text 14"/>
          <p:cNvSpPr/>
          <p:nvPr/>
        </p:nvSpPr>
        <p:spPr>
          <a:xfrm>
            <a:off x="1508760" y="3858768"/>
            <a:ext cx="4197096" cy="896112"/>
          </a:xfrm>
          <a:prstGeom prst="rect">
            <a:avLst/>
          </a:prstGeom>
          <a:noFill/>
          <a:ln/>
        </p:spPr>
        <p:txBody>
          <a:bodyPr wrap="square" lIns="0" tIns="0" rIns="0" bIns="0" rtlCol="0" anchor="ctr"/>
          <a:lstStyle/>
          <a:p>
            <a:pPr marL="0" indent="0">
              <a:lnSpc>
                <a:spcPct val="114000"/>
              </a:lnSpc>
              <a:buNone/>
            </a:pPr>
            <a:r>
              <a:rPr lang="en-US" sz="1050" b="1" dirty="0">
                <a:solidFill>
                  <a:srgbClr val="EEF2F8"/>
                </a:solidFill>
                <a:latin typeface="Calibri" pitchFamily="34" charset="0"/>
                <a:ea typeface="Calibri" pitchFamily="34" charset="-122"/>
                <a:cs typeface="Calibri" pitchFamily="34" charset="-120"/>
              </a:rPr>
              <a:t>Vendor behaviour is a moving target.</a:t>
            </a:r>
            <a:r>
              <a:rPr lang="en-US" sz="1050" dirty="0">
                <a:solidFill>
                  <a:srgbClr val="9DAFC7"/>
                </a:solidFill>
                <a:latin typeface="Calibri" pitchFamily="34" charset="0"/>
                <a:ea typeface="Calibri" pitchFamily="34" charset="-122"/>
                <a:cs typeface="Calibri" pitchFamily="34" charset="-120"/>
              </a:rPr>
              <a:t> Model versions change under you. The self-hosted side is pinned to an exact revision and reproduces indefinitely; the hosted side does not.</a:t>
            </a:r>
            <a:endParaRPr lang="en-US" sz="1050" dirty="0"/>
          </a:p>
        </p:txBody>
      </p:sp>
      <p:sp>
        <p:nvSpPr>
          <p:cNvPr id="18" name="Shape 15"/>
          <p:cNvSpPr/>
          <p:nvPr/>
        </p:nvSpPr>
        <p:spPr>
          <a:xfrm>
            <a:off x="6263640" y="3712464"/>
            <a:ext cx="5148072" cy="1188720"/>
          </a:xfrm>
          <a:prstGeom prst="roundRect">
            <a:avLst>
              <a:gd name="adj" fmla="val 4231"/>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19" name="Shape 16"/>
          <p:cNvSpPr/>
          <p:nvPr/>
        </p:nvSpPr>
        <p:spPr>
          <a:xfrm>
            <a:off x="6483096" y="4151376"/>
            <a:ext cx="310896" cy="310896"/>
          </a:xfrm>
          <a:prstGeom prst="ellipse">
            <a:avLst/>
          </a:prstGeom>
          <a:solidFill>
            <a:srgbClr val="0C1424"/>
          </a:solidFill>
          <a:ln w="12700">
            <a:solidFill>
              <a:srgbClr val="E0564F"/>
            </a:solidFill>
            <a:prstDash val="solid"/>
          </a:ln>
        </p:spPr>
        <p:txBody>
          <a:bodyPr/>
          <a:lstStyle/>
          <a:p>
            <a:endParaRPr lang="en-US"/>
          </a:p>
        </p:txBody>
      </p:sp>
      <p:sp>
        <p:nvSpPr>
          <p:cNvPr id="20" name="Text 17"/>
          <p:cNvSpPr/>
          <p:nvPr/>
        </p:nvSpPr>
        <p:spPr>
          <a:xfrm>
            <a:off x="6483096" y="4151376"/>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04</a:t>
            </a:r>
            <a:endParaRPr lang="en-US" sz="1000" dirty="0"/>
          </a:p>
        </p:txBody>
      </p:sp>
      <p:sp>
        <p:nvSpPr>
          <p:cNvPr id="21" name="Text 18"/>
          <p:cNvSpPr/>
          <p:nvPr/>
        </p:nvSpPr>
        <p:spPr>
          <a:xfrm>
            <a:off x="6995160" y="3858768"/>
            <a:ext cx="4197096" cy="896112"/>
          </a:xfrm>
          <a:prstGeom prst="rect">
            <a:avLst/>
          </a:prstGeom>
          <a:noFill/>
          <a:ln/>
        </p:spPr>
        <p:txBody>
          <a:bodyPr wrap="square" lIns="0" tIns="0" rIns="0" bIns="0" rtlCol="0" anchor="ctr"/>
          <a:lstStyle/>
          <a:p>
            <a:pPr marL="0" indent="0">
              <a:lnSpc>
                <a:spcPct val="114000"/>
              </a:lnSpc>
              <a:buNone/>
            </a:pPr>
            <a:r>
              <a:rPr lang="en-US" sz="1050" b="1" dirty="0">
                <a:solidFill>
                  <a:srgbClr val="EEF2F8"/>
                </a:solidFill>
                <a:latin typeface="Calibri" pitchFamily="34" charset="0"/>
                <a:ea typeface="Calibri" pitchFamily="34" charset="-122"/>
                <a:cs typeface="Calibri" pitchFamily="34" charset="-120"/>
              </a:rPr>
              <a:t>Prices are list, not invoices.</a:t>
            </a:r>
            <a:r>
              <a:rPr lang="en-US" sz="1050" dirty="0">
                <a:solidFill>
                  <a:srgbClr val="9DAFC7"/>
                </a:solidFill>
                <a:latin typeface="Calibri" pitchFamily="34" charset="0"/>
                <a:ea typeface="Calibri" pitchFamily="34" charset="-122"/>
                <a:cs typeface="Calibri" pitchFamily="34" charset="-120"/>
              </a:rPr>
              <a:t> Cost figures are billed tokens at public rates and exclude the GPU cost on our own side.</a:t>
            </a:r>
            <a:endParaRPr lang="en-US" sz="1050" dirty="0"/>
          </a:p>
        </p:txBody>
      </p:sp>
      <p:sp>
        <p:nvSpPr>
          <p:cNvPr id="22" name="Shape 19"/>
          <p:cNvSpPr/>
          <p:nvPr/>
        </p:nvSpPr>
        <p:spPr>
          <a:xfrm>
            <a:off x="777240" y="5285232"/>
            <a:ext cx="10637215" cy="896112"/>
          </a:xfrm>
          <a:prstGeom prst="roundRect">
            <a:avLst>
              <a:gd name="adj" fmla="val 5612"/>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3" name="Text 20"/>
          <p:cNvSpPr/>
          <p:nvPr/>
        </p:nvSpPr>
        <p:spPr>
          <a:xfrm>
            <a:off x="1014984" y="5431536"/>
            <a:ext cx="10161727" cy="603504"/>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WHAT WOULD CHANGE THE RECOMMENDATION</a:t>
            </a:r>
            <a:endParaRPr lang="en-US" sz="980" dirty="0"/>
          </a:p>
          <a:p>
            <a:pPr marL="0" indent="0">
              <a:lnSpc>
                <a:spcPct val="114000"/>
              </a:lnSpc>
              <a:buNone/>
            </a:pPr>
            <a:r>
              <a:rPr lang="en-US" sz="1050" dirty="0">
                <a:solidFill>
                  <a:srgbClr val="9DAFC7"/>
                </a:solidFill>
                <a:latin typeface="Calibri" pitchFamily="34" charset="0"/>
                <a:ea typeface="Calibri" pitchFamily="34" charset="-122"/>
                <a:cs typeface="Calibri" pitchFamily="34" charset="-120"/>
              </a:rPr>
              <a:t>A regulated-domain benchmark that scores whole answers against specific rules, with expert adjudication. That is the instrument we do not have, and building it is the highest-value next step.</a:t>
            </a:r>
            <a:endParaRPr lang="en-US" sz="980" dirty="0"/>
          </a:p>
        </p:txBody>
      </p:sp>
      <p:sp>
        <p:nvSpPr>
          <p:cNvPr id="24" name="Text 21"/>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5" name="Text 22"/>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E1A"/>
        </a:solidFill>
        <a:effectLst/>
      </p:bgPr>
    </p:bg>
    <p:spTree>
      <p:nvGrpSpPr>
        <p:cNvPr id="1" name=""/>
        <p:cNvGrpSpPr/>
        <p:nvPr/>
      </p:nvGrpSpPr>
      <p:grpSpPr>
        <a:xfrm>
          <a:off x="0" y="0"/>
          <a:ext cx="0" cy="0"/>
          <a:chOff x="0" y="0"/>
          <a:chExt cx="0" cy="0"/>
        </a:xfrm>
      </p:grpSpPr>
      <p:sp>
        <p:nvSpPr>
          <p:cNvPr id="3" name="Text 0"/>
          <p:cNvSpPr/>
          <p:nvPr/>
        </p:nvSpPr>
        <p:spPr>
          <a:xfrm>
            <a:off x="777240" y="365760"/>
            <a:ext cx="10637215" cy="256032"/>
          </a:xfrm>
          <a:prstGeom prst="rect">
            <a:avLst/>
          </a:prstGeom>
          <a:noFill/>
          <a:ln/>
        </p:spPr>
        <p:txBody>
          <a:bodyPr wrap="square" lIns="0" tIns="0" rIns="0" bIns="0" rtlCol="0" anchor="ctr"/>
          <a:lstStyle/>
          <a:p>
            <a:pPr marL="0" indent="0">
              <a:buNone/>
            </a:pPr>
            <a:r>
              <a:rPr lang="en-US" sz="1050" b="1" kern="0" spc="240" dirty="0">
                <a:solidFill>
                  <a:srgbClr val="E0564F"/>
                </a:solidFill>
                <a:latin typeface="Calibri" pitchFamily="34" charset="0"/>
                <a:ea typeface="Calibri" pitchFamily="34" charset="-122"/>
                <a:cs typeface="Calibri" pitchFamily="34" charset="-120"/>
              </a:rPr>
              <a:t>PROPOSAL</a:t>
            </a:r>
            <a:endParaRPr lang="en-US" sz="1050" dirty="0"/>
          </a:p>
        </p:txBody>
      </p:sp>
      <p:sp>
        <p:nvSpPr>
          <p:cNvPr id="4" name="Text 1"/>
          <p:cNvSpPr/>
          <p:nvPr/>
        </p:nvSpPr>
        <p:spPr>
          <a:xfrm>
            <a:off x="777240" y="658368"/>
            <a:ext cx="10637215" cy="932688"/>
          </a:xfrm>
          <a:prstGeom prst="rect">
            <a:avLst/>
          </a:prstGeom>
          <a:noFill/>
          <a:ln/>
        </p:spPr>
        <p:txBody>
          <a:bodyPr wrap="square" lIns="0" tIns="0" rIns="0" bIns="0" rtlCol="0" anchor="t"/>
          <a:lstStyle/>
          <a:p>
            <a:pPr marL="0" indent="0">
              <a:lnSpc>
                <a:spcPct val="102000"/>
              </a:lnSpc>
              <a:buNone/>
            </a:pPr>
            <a:r>
              <a:rPr lang="en-US" sz="2500" b="1" dirty="0">
                <a:solidFill>
                  <a:srgbClr val="EEF2F8"/>
                </a:solidFill>
                <a:latin typeface="Cambria" pitchFamily="34" charset="0"/>
                <a:ea typeface="Cambria" pitchFamily="34" charset="-122"/>
                <a:cs typeface="Cambria" pitchFamily="34" charset="-120"/>
              </a:rPr>
              <a:t>What we would do next</a:t>
            </a:r>
            <a:endParaRPr lang="en-US" sz="2500" dirty="0"/>
          </a:p>
        </p:txBody>
      </p:sp>
      <p:sp>
        <p:nvSpPr>
          <p:cNvPr id="5" name="Text 2"/>
          <p:cNvSpPr/>
          <p:nvPr/>
        </p:nvSpPr>
        <p:spPr>
          <a:xfrm>
            <a:off x="777240" y="1700784"/>
            <a:ext cx="10637215" cy="310896"/>
          </a:xfrm>
          <a:prstGeom prst="rect">
            <a:avLst/>
          </a:prstGeom>
          <a:noFill/>
          <a:ln/>
        </p:spPr>
        <p:txBody>
          <a:bodyPr wrap="square" lIns="0" tIns="0" rIns="0" bIns="0" rtlCol="0" anchor="ctr"/>
          <a:lstStyle/>
          <a:p>
            <a:pPr marL="0" indent="0">
              <a:buNone/>
            </a:pPr>
            <a:r>
              <a:rPr lang="en-US" sz="1250" dirty="0">
                <a:solidFill>
                  <a:srgbClr val="6B7F9F"/>
                </a:solidFill>
                <a:latin typeface="Calibri" pitchFamily="34" charset="0"/>
                <a:ea typeface="Calibri" pitchFamily="34" charset="-122"/>
                <a:cs typeface="Calibri" pitchFamily="34" charset="-120"/>
              </a:rPr>
              <a:t>Sequenced so each step is cheap and the expensive one is last</a:t>
            </a:r>
            <a:endParaRPr lang="en-US" sz="1250" dirty="0"/>
          </a:p>
        </p:txBody>
      </p:sp>
      <p:sp>
        <p:nvSpPr>
          <p:cNvPr id="6" name="Shape 3"/>
          <p:cNvSpPr/>
          <p:nvPr/>
        </p:nvSpPr>
        <p:spPr>
          <a:xfrm>
            <a:off x="795528" y="2286000"/>
            <a:ext cx="310896" cy="310896"/>
          </a:xfrm>
          <a:prstGeom prst="ellipse">
            <a:avLst/>
          </a:prstGeom>
          <a:solidFill>
            <a:srgbClr val="0C1424"/>
          </a:solidFill>
          <a:ln w="12700">
            <a:solidFill>
              <a:srgbClr val="E0564F"/>
            </a:solidFill>
            <a:prstDash val="solid"/>
          </a:ln>
        </p:spPr>
        <p:txBody>
          <a:bodyPr/>
          <a:lstStyle/>
          <a:p>
            <a:endParaRPr lang="en-US"/>
          </a:p>
        </p:txBody>
      </p:sp>
      <p:sp>
        <p:nvSpPr>
          <p:cNvPr id="7" name="Text 4"/>
          <p:cNvSpPr/>
          <p:nvPr/>
        </p:nvSpPr>
        <p:spPr>
          <a:xfrm>
            <a:off x="795528" y="2286000"/>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01</a:t>
            </a:r>
            <a:endParaRPr lang="en-US" sz="1000" dirty="0"/>
          </a:p>
        </p:txBody>
      </p:sp>
      <p:sp>
        <p:nvSpPr>
          <p:cNvPr id="8" name="Text 5"/>
          <p:cNvSpPr/>
          <p:nvPr/>
        </p:nvSpPr>
        <p:spPr>
          <a:xfrm>
            <a:off x="1307592" y="2258568"/>
            <a:ext cx="4590288" cy="621792"/>
          </a:xfrm>
          <a:prstGeom prst="rect">
            <a:avLst/>
          </a:prstGeom>
          <a:noFill/>
          <a:ln/>
        </p:spPr>
        <p:txBody>
          <a:bodyPr wrap="square" lIns="0" tIns="0" rIns="0" bIns="0" rtlCol="0" anchor="t"/>
          <a:lstStyle/>
          <a:p>
            <a:pPr marL="0" indent="0">
              <a:lnSpc>
                <a:spcPct val="114000"/>
              </a:lnSpc>
              <a:buNone/>
            </a:pPr>
            <a:r>
              <a:rPr lang="en-US" sz="1060" b="1" dirty="0">
                <a:solidFill>
                  <a:srgbClr val="EEF2F8"/>
                </a:solidFill>
                <a:latin typeface="Calibri" pitchFamily="34" charset="0"/>
                <a:ea typeface="Calibri" pitchFamily="34" charset="-122"/>
                <a:cs typeface="Calibri" pitchFamily="34" charset="-120"/>
              </a:rPr>
              <a:t>Now · keep the in-house guard inline on everything.</a:t>
            </a:r>
            <a:r>
              <a:rPr lang="en-US" sz="1060" dirty="0">
                <a:solidFill>
                  <a:srgbClr val="9DAFC7"/>
                </a:solidFill>
                <a:latin typeface="Calibri" pitchFamily="34" charset="0"/>
                <a:ea typeface="Calibri" pitchFamily="34" charset="-122"/>
                <a:cs typeface="Calibri" pitchFamily="34" charset="-120"/>
              </a:rPr>
              <a:t> It already runs, it answers in ~20 ms, and it is the only lane available for regulated traffic. No new build.</a:t>
            </a:r>
            <a:endParaRPr lang="en-US" sz="1060" dirty="0"/>
          </a:p>
        </p:txBody>
      </p:sp>
      <p:sp>
        <p:nvSpPr>
          <p:cNvPr id="9" name="Shape 6"/>
          <p:cNvSpPr/>
          <p:nvPr/>
        </p:nvSpPr>
        <p:spPr>
          <a:xfrm>
            <a:off x="795528" y="3081528"/>
            <a:ext cx="310896" cy="310896"/>
          </a:xfrm>
          <a:prstGeom prst="ellipse">
            <a:avLst/>
          </a:prstGeom>
          <a:solidFill>
            <a:srgbClr val="0C1424"/>
          </a:solidFill>
          <a:ln w="12700">
            <a:solidFill>
              <a:srgbClr val="E0564F"/>
            </a:solidFill>
            <a:prstDash val="solid"/>
          </a:ln>
        </p:spPr>
        <p:txBody>
          <a:bodyPr/>
          <a:lstStyle/>
          <a:p>
            <a:endParaRPr lang="en-US"/>
          </a:p>
        </p:txBody>
      </p:sp>
      <p:sp>
        <p:nvSpPr>
          <p:cNvPr id="10" name="Text 7"/>
          <p:cNvSpPr/>
          <p:nvPr/>
        </p:nvSpPr>
        <p:spPr>
          <a:xfrm>
            <a:off x="795528" y="308152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02</a:t>
            </a:r>
            <a:endParaRPr lang="en-US" sz="1000" dirty="0"/>
          </a:p>
        </p:txBody>
      </p:sp>
      <p:sp>
        <p:nvSpPr>
          <p:cNvPr id="11" name="Text 8"/>
          <p:cNvSpPr/>
          <p:nvPr/>
        </p:nvSpPr>
        <p:spPr>
          <a:xfrm>
            <a:off x="1307592" y="3054096"/>
            <a:ext cx="4590288" cy="621792"/>
          </a:xfrm>
          <a:prstGeom prst="rect">
            <a:avLst/>
          </a:prstGeom>
          <a:noFill/>
          <a:ln/>
        </p:spPr>
        <p:txBody>
          <a:bodyPr wrap="square" lIns="0" tIns="0" rIns="0" bIns="0" rtlCol="0" anchor="t"/>
          <a:lstStyle/>
          <a:p>
            <a:pPr marL="0" indent="0">
              <a:lnSpc>
                <a:spcPct val="114000"/>
              </a:lnSpc>
              <a:buNone/>
            </a:pPr>
            <a:r>
              <a:rPr lang="en-US" sz="1060" b="1" dirty="0">
                <a:solidFill>
                  <a:srgbClr val="EEF2F8"/>
                </a:solidFill>
                <a:latin typeface="Calibri" pitchFamily="34" charset="0"/>
                <a:ea typeface="Calibri" pitchFamily="34" charset="-122"/>
                <a:cs typeface="Calibri" pitchFamily="34" charset="-120"/>
              </a:rPr>
              <a:t>Now · add the escalation lane.</a:t>
            </a:r>
            <a:r>
              <a:rPr lang="en-US" sz="1060" dirty="0">
                <a:solidFill>
                  <a:srgbClr val="9DAFC7"/>
                </a:solidFill>
                <a:latin typeface="Calibri" pitchFamily="34" charset="0"/>
                <a:ea typeface="Calibri" pitchFamily="34" charset="-122"/>
                <a:cs typeface="Calibri" pitchFamily="34" charset="-120"/>
              </a:rPr>
              <a:t> Route the least-confident band to the hosted model where the data may lawfully leave. Start at 10–20% and read the curve.</a:t>
            </a:r>
            <a:endParaRPr lang="en-US" sz="1060" dirty="0"/>
          </a:p>
        </p:txBody>
      </p:sp>
      <p:sp>
        <p:nvSpPr>
          <p:cNvPr id="12" name="Shape 9"/>
          <p:cNvSpPr/>
          <p:nvPr/>
        </p:nvSpPr>
        <p:spPr>
          <a:xfrm>
            <a:off x="795528" y="3849624"/>
            <a:ext cx="310896" cy="310896"/>
          </a:xfrm>
          <a:prstGeom prst="ellipse">
            <a:avLst/>
          </a:prstGeom>
          <a:solidFill>
            <a:srgbClr val="0C1424"/>
          </a:solidFill>
          <a:ln w="12700">
            <a:solidFill>
              <a:srgbClr val="E0564F"/>
            </a:solidFill>
            <a:prstDash val="solid"/>
          </a:ln>
        </p:spPr>
        <p:txBody>
          <a:bodyPr/>
          <a:lstStyle/>
          <a:p>
            <a:endParaRPr lang="en-US"/>
          </a:p>
        </p:txBody>
      </p:sp>
      <p:sp>
        <p:nvSpPr>
          <p:cNvPr id="13" name="Text 10"/>
          <p:cNvSpPr/>
          <p:nvPr/>
        </p:nvSpPr>
        <p:spPr>
          <a:xfrm>
            <a:off x="795528" y="3849624"/>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03</a:t>
            </a:r>
            <a:endParaRPr lang="en-US" sz="1000" dirty="0"/>
          </a:p>
        </p:txBody>
      </p:sp>
      <p:sp>
        <p:nvSpPr>
          <p:cNvPr id="14" name="Text 11"/>
          <p:cNvSpPr/>
          <p:nvPr/>
        </p:nvSpPr>
        <p:spPr>
          <a:xfrm>
            <a:off x="1307592" y="3822192"/>
            <a:ext cx="4590288" cy="512064"/>
          </a:xfrm>
          <a:prstGeom prst="rect">
            <a:avLst/>
          </a:prstGeom>
          <a:noFill/>
          <a:ln/>
        </p:spPr>
        <p:txBody>
          <a:bodyPr wrap="square" lIns="0" tIns="0" rIns="0" bIns="0" rtlCol="0" anchor="t"/>
          <a:lstStyle/>
          <a:p>
            <a:pPr marL="0" indent="0">
              <a:lnSpc>
                <a:spcPct val="114000"/>
              </a:lnSpc>
              <a:buNone/>
            </a:pPr>
            <a:r>
              <a:rPr lang="en-US" sz="1060" b="1" dirty="0">
                <a:solidFill>
                  <a:srgbClr val="EEF2F8"/>
                </a:solidFill>
                <a:latin typeface="Calibri" pitchFamily="34" charset="0"/>
                <a:ea typeface="Calibri" pitchFamily="34" charset="-122"/>
                <a:cs typeface="Calibri" pitchFamily="34" charset="-120"/>
              </a:rPr>
              <a:t>Now · treat a provider refusal as 'needs review'.</a:t>
            </a:r>
            <a:r>
              <a:rPr lang="en-US" sz="1060" dirty="0">
                <a:solidFill>
                  <a:srgbClr val="9DAFC7"/>
                </a:solidFill>
                <a:latin typeface="Calibri" pitchFamily="34" charset="0"/>
                <a:ea typeface="Calibri" pitchFamily="34" charset="-122"/>
                <a:cs typeface="Calibri" pitchFamily="34" charset="-120"/>
              </a:rPr>
              <a:t> Never as 'safe'. A one-line policy change, and today it is a silent gap.</a:t>
            </a:r>
            <a:endParaRPr lang="en-US" sz="1060" dirty="0"/>
          </a:p>
        </p:txBody>
      </p:sp>
      <p:sp>
        <p:nvSpPr>
          <p:cNvPr id="15" name="Shape 12"/>
          <p:cNvSpPr/>
          <p:nvPr/>
        </p:nvSpPr>
        <p:spPr>
          <a:xfrm>
            <a:off x="795528" y="4526280"/>
            <a:ext cx="310896" cy="310896"/>
          </a:xfrm>
          <a:prstGeom prst="ellipse">
            <a:avLst/>
          </a:prstGeom>
          <a:solidFill>
            <a:srgbClr val="0C1424"/>
          </a:solidFill>
          <a:ln w="12700">
            <a:solidFill>
              <a:srgbClr val="E0564F"/>
            </a:solidFill>
            <a:prstDash val="solid"/>
          </a:ln>
        </p:spPr>
        <p:txBody>
          <a:bodyPr/>
          <a:lstStyle/>
          <a:p>
            <a:endParaRPr lang="en-US"/>
          </a:p>
        </p:txBody>
      </p:sp>
      <p:sp>
        <p:nvSpPr>
          <p:cNvPr id="16" name="Text 13"/>
          <p:cNvSpPr/>
          <p:nvPr/>
        </p:nvSpPr>
        <p:spPr>
          <a:xfrm>
            <a:off x="795528" y="4526280"/>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04</a:t>
            </a:r>
            <a:endParaRPr lang="en-US" sz="1000" dirty="0"/>
          </a:p>
        </p:txBody>
      </p:sp>
      <p:sp>
        <p:nvSpPr>
          <p:cNvPr id="17" name="Text 14"/>
          <p:cNvSpPr/>
          <p:nvPr/>
        </p:nvSpPr>
        <p:spPr>
          <a:xfrm>
            <a:off x="1307592" y="4498848"/>
            <a:ext cx="4590288" cy="512064"/>
          </a:xfrm>
          <a:prstGeom prst="rect">
            <a:avLst/>
          </a:prstGeom>
          <a:noFill/>
          <a:ln/>
        </p:spPr>
        <p:txBody>
          <a:bodyPr wrap="square" lIns="0" tIns="0" rIns="0" bIns="0" rtlCol="0" anchor="t"/>
          <a:lstStyle/>
          <a:p>
            <a:pPr marL="0" indent="0">
              <a:lnSpc>
                <a:spcPct val="114000"/>
              </a:lnSpc>
              <a:buNone/>
            </a:pPr>
            <a:r>
              <a:rPr lang="en-US" sz="1060" b="1" dirty="0">
                <a:solidFill>
                  <a:srgbClr val="EEF2F8"/>
                </a:solidFill>
                <a:latin typeface="Calibri" pitchFamily="34" charset="0"/>
                <a:ea typeface="Calibri" pitchFamily="34" charset="-122"/>
                <a:cs typeface="Calibri" pitchFamily="34" charset="-120"/>
              </a:rPr>
              <a:t>Next · stop the tuning workstream as a gap-closer.</a:t>
            </a:r>
            <a:r>
              <a:rPr lang="en-US" sz="1060" dirty="0">
                <a:solidFill>
                  <a:srgbClr val="9DAFC7"/>
                </a:solidFill>
                <a:latin typeface="Calibri" pitchFamily="34" charset="0"/>
                <a:ea typeface="Calibri" pitchFamily="34" charset="-122"/>
                <a:cs typeface="Calibri" pitchFamily="34" charset="-120"/>
              </a:rPr>
              <a:t> Keep it only for rescuing weak models. Redirect the effort.</a:t>
            </a:r>
            <a:endParaRPr lang="en-US" sz="1060" dirty="0"/>
          </a:p>
        </p:txBody>
      </p:sp>
      <p:sp>
        <p:nvSpPr>
          <p:cNvPr id="18" name="Shape 15"/>
          <p:cNvSpPr/>
          <p:nvPr/>
        </p:nvSpPr>
        <p:spPr>
          <a:xfrm>
            <a:off x="795528" y="5184648"/>
            <a:ext cx="310896" cy="310896"/>
          </a:xfrm>
          <a:prstGeom prst="ellipse">
            <a:avLst/>
          </a:prstGeom>
          <a:solidFill>
            <a:srgbClr val="0C1424"/>
          </a:solidFill>
          <a:ln w="12700">
            <a:solidFill>
              <a:srgbClr val="E0564F"/>
            </a:solidFill>
            <a:prstDash val="solid"/>
          </a:ln>
        </p:spPr>
        <p:txBody>
          <a:bodyPr/>
          <a:lstStyle/>
          <a:p>
            <a:endParaRPr lang="en-US"/>
          </a:p>
        </p:txBody>
      </p:sp>
      <p:sp>
        <p:nvSpPr>
          <p:cNvPr id="19" name="Text 16"/>
          <p:cNvSpPr/>
          <p:nvPr/>
        </p:nvSpPr>
        <p:spPr>
          <a:xfrm>
            <a:off x="795528" y="5184648"/>
            <a:ext cx="310896" cy="310896"/>
          </a:xfrm>
          <a:prstGeom prst="rect">
            <a:avLst/>
          </a:prstGeom>
          <a:noFill/>
          <a:ln/>
        </p:spPr>
        <p:txBody>
          <a:bodyPr wrap="square" lIns="0" tIns="0" rIns="0" bIns="0" rtlCol="0" anchor="ctr"/>
          <a:lstStyle/>
          <a:p>
            <a:pPr marL="0" indent="0" algn="ctr">
              <a:buNone/>
            </a:pPr>
            <a:r>
              <a:rPr lang="en-US" sz="1000" b="1" dirty="0">
                <a:solidFill>
                  <a:srgbClr val="E0564F"/>
                </a:solidFill>
                <a:latin typeface="Calibri" pitchFamily="34" charset="0"/>
                <a:ea typeface="Calibri" pitchFamily="34" charset="-122"/>
                <a:cs typeface="Calibri" pitchFamily="34" charset="-120"/>
              </a:rPr>
              <a:t>05</a:t>
            </a:r>
            <a:endParaRPr lang="en-US" sz="1000" dirty="0"/>
          </a:p>
        </p:txBody>
      </p:sp>
      <p:sp>
        <p:nvSpPr>
          <p:cNvPr id="20" name="Text 17"/>
          <p:cNvSpPr/>
          <p:nvPr/>
        </p:nvSpPr>
        <p:spPr>
          <a:xfrm>
            <a:off x="1307592" y="5157216"/>
            <a:ext cx="4590288" cy="621792"/>
          </a:xfrm>
          <a:prstGeom prst="rect">
            <a:avLst/>
          </a:prstGeom>
          <a:noFill/>
          <a:ln/>
        </p:spPr>
        <p:txBody>
          <a:bodyPr wrap="square" lIns="0" tIns="0" rIns="0" bIns="0" rtlCol="0" anchor="t"/>
          <a:lstStyle/>
          <a:p>
            <a:pPr marL="0" indent="0">
              <a:lnSpc>
                <a:spcPct val="114000"/>
              </a:lnSpc>
              <a:buNone/>
            </a:pPr>
            <a:r>
              <a:rPr lang="en-US" sz="1060" b="1" dirty="0">
                <a:solidFill>
                  <a:srgbClr val="EEF2F8"/>
                </a:solidFill>
                <a:latin typeface="Calibri" pitchFamily="34" charset="0"/>
                <a:ea typeface="Calibri" pitchFamily="34" charset="-122"/>
                <a:cs typeface="Calibri" pitchFamily="34" charset="-120"/>
              </a:rPr>
              <a:t>Then · build the domain instrument.</a:t>
            </a:r>
            <a:r>
              <a:rPr lang="en-US" sz="1060" dirty="0">
                <a:solidFill>
                  <a:srgbClr val="9DAFC7"/>
                </a:solidFill>
                <a:latin typeface="Calibri" pitchFamily="34" charset="0"/>
                <a:ea typeface="Calibri" pitchFamily="34" charset="-122"/>
                <a:cs typeface="Calibri" pitchFamily="34" charset="-120"/>
              </a:rPr>
              <a:t> A mortgage-compliance benchmark that scores whole answers against specific rules, with expert adjudication.</a:t>
            </a:r>
            <a:endParaRPr lang="en-US" sz="1060" dirty="0"/>
          </a:p>
        </p:txBody>
      </p:sp>
      <p:sp>
        <p:nvSpPr>
          <p:cNvPr id="21" name="Shape 18"/>
          <p:cNvSpPr/>
          <p:nvPr/>
        </p:nvSpPr>
        <p:spPr>
          <a:xfrm>
            <a:off x="6263640" y="2240280"/>
            <a:ext cx="5148072" cy="1600200"/>
          </a:xfrm>
          <a:prstGeom prst="roundRect">
            <a:avLst>
              <a:gd name="adj" fmla="val 3143"/>
            </a:avLst>
          </a:prstGeom>
          <a:solidFill>
            <a:srgbClr val="18263D"/>
          </a:solidFill>
          <a:ln w="9525">
            <a:solidFill>
              <a:srgbClr val="1E3050"/>
            </a:solidFill>
            <a:prstDash val="solid"/>
          </a:ln>
          <a:effectLst>
            <a:outerShdw blurRad="177800" dist="38100" dir="5400000" algn="bl" rotWithShape="0">
              <a:srgbClr val="000000">
                <a:alpha val="34000"/>
              </a:srgbClr>
            </a:outerShdw>
          </a:effectLst>
        </p:spPr>
        <p:txBody>
          <a:bodyPr/>
          <a:lstStyle/>
          <a:p>
            <a:endParaRPr lang="en-US"/>
          </a:p>
        </p:txBody>
      </p:sp>
      <p:sp>
        <p:nvSpPr>
          <p:cNvPr id="22" name="Text 19"/>
          <p:cNvSpPr/>
          <p:nvPr/>
        </p:nvSpPr>
        <p:spPr>
          <a:xfrm>
            <a:off x="6501384" y="2386584"/>
            <a:ext cx="4672584" cy="1307592"/>
          </a:xfrm>
          <a:prstGeom prst="rect">
            <a:avLst/>
          </a:prstGeom>
          <a:noFill/>
          <a:ln/>
        </p:spPr>
        <p:txBody>
          <a:bodyPr wrap="square" lIns="0" tIns="0" rIns="0" bIns="0" rtlCol="0" anchor="ctr"/>
          <a:lstStyle/>
          <a:p>
            <a:pPr marL="0" indent="0">
              <a:spcAft>
                <a:spcPts val="700"/>
              </a:spcAft>
              <a:buNone/>
            </a:pPr>
            <a:r>
              <a:rPr lang="en-US" sz="980" b="1" kern="0" spc="130" dirty="0">
                <a:solidFill>
                  <a:srgbClr val="BFD8F5"/>
                </a:solidFill>
                <a:latin typeface="Calibri" pitchFamily="34" charset="0"/>
                <a:ea typeface="Calibri" pitchFamily="34" charset="-122"/>
                <a:cs typeface="Calibri" pitchFamily="34" charset="-120"/>
              </a:rPr>
              <a:t>THE CHEAPEST ITEM IS THE REFUSAL ONE</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It costs a policy change, and it closes a case where an unsafe prompt currently receives no verdict at all.</a:t>
            </a:r>
            <a:endParaRPr lang="en-US" sz="980" dirty="0"/>
          </a:p>
        </p:txBody>
      </p:sp>
      <p:sp>
        <p:nvSpPr>
          <p:cNvPr id="23" name="Shape 20"/>
          <p:cNvSpPr/>
          <p:nvPr/>
        </p:nvSpPr>
        <p:spPr>
          <a:xfrm>
            <a:off x="6263640" y="4133088"/>
            <a:ext cx="5148072" cy="1664208"/>
          </a:xfrm>
          <a:prstGeom prst="roundRect">
            <a:avLst>
              <a:gd name="adj" fmla="val 3022"/>
            </a:avLst>
          </a:prstGeom>
          <a:solidFill>
            <a:srgbClr val="331A1C"/>
          </a:solidFill>
          <a:ln w="9525">
            <a:solidFill>
              <a:srgbClr val="4A2427"/>
            </a:solidFill>
            <a:prstDash val="solid"/>
          </a:ln>
          <a:effectLst>
            <a:outerShdw blurRad="177800" dist="38100" dir="5400000" algn="bl" rotWithShape="0">
              <a:srgbClr val="000000">
                <a:alpha val="34000"/>
              </a:srgbClr>
            </a:outerShdw>
          </a:effectLst>
        </p:spPr>
        <p:txBody>
          <a:bodyPr/>
          <a:lstStyle/>
          <a:p>
            <a:endParaRPr lang="en-US"/>
          </a:p>
        </p:txBody>
      </p:sp>
      <p:sp>
        <p:nvSpPr>
          <p:cNvPr id="24" name="Text 21"/>
          <p:cNvSpPr/>
          <p:nvPr/>
        </p:nvSpPr>
        <p:spPr>
          <a:xfrm>
            <a:off x="6501384" y="4279392"/>
            <a:ext cx="4672584" cy="1371600"/>
          </a:xfrm>
          <a:prstGeom prst="rect">
            <a:avLst/>
          </a:prstGeom>
          <a:noFill/>
          <a:ln/>
        </p:spPr>
        <p:txBody>
          <a:bodyPr wrap="square" lIns="0" tIns="0" rIns="0" bIns="0" rtlCol="0" anchor="ctr"/>
          <a:lstStyle/>
          <a:p>
            <a:pPr marL="0" indent="0">
              <a:spcAft>
                <a:spcPts val="700"/>
              </a:spcAft>
              <a:buNone/>
            </a:pPr>
            <a:r>
              <a:rPr lang="en-US" sz="980" b="1" kern="0" spc="130" dirty="0">
                <a:solidFill>
                  <a:srgbClr val="F08A7F"/>
                </a:solidFill>
                <a:latin typeface="Calibri" pitchFamily="34" charset="0"/>
                <a:ea typeface="Calibri" pitchFamily="34" charset="-122"/>
                <a:cs typeface="Calibri" pitchFamily="34" charset="-120"/>
              </a:rPr>
              <a:t>THE ONE THAT NEEDS A DECISION FROM THIS ROOM</a:t>
            </a:r>
            <a:endParaRPr lang="en-US" sz="980" dirty="0"/>
          </a:p>
          <a:p>
            <a:pPr marL="0" indent="0">
              <a:lnSpc>
                <a:spcPct val="114000"/>
              </a:lnSpc>
              <a:buNone/>
            </a:pPr>
            <a:r>
              <a:rPr lang="en-US" sz="1100" dirty="0">
                <a:solidFill>
                  <a:srgbClr val="9DAFC7"/>
                </a:solidFill>
                <a:latin typeface="Calibri" pitchFamily="34" charset="0"/>
                <a:ea typeface="Calibri" pitchFamily="34" charset="-122"/>
                <a:cs typeface="Calibri" pitchFamily="34" charset="-120"/>
              </a:rPr>
              <a:t>Whether borrower-bearing prompts may leave our network at all. That single answer decides how much of our traffic can use the more accurate option, and it is a legal call rather than a technical one.</a:t>
            </a:r>
            <a:endParaRPr lang="en-US" sz="980" dirty="0"/>
          </a:p>
        </p:txBody>
      </p:sp>
      <p:sp>
        <p:nvSpPr>
          <p:cNvPr id="25" name="Text 22"/>
          <p:cNvSpPr/>
          <p:nvPr/>
        </p:nvSpPr>
        <p:spPr>
          <a:xfrm>
            <a:off x="777240" y="6400800"/>
            <a:ext cx="9144000" cy="237744"/>
          </a:xfrm>
          <a:prstGeom prst="rect">
            <a:avLst/>
          </a:prstGeom>
          <a:noFill/>
          <a:ln/>
        </p:spPr>
        <p:txBody>
          <a:bodyPr wrap="square" lIns="0" tIns="0" rIns="0" bIns="0" rtlCol="0" anchor="ctr"/>
          <a:lstStyle/>
          <a:p>
            <a:pPr marL="0" indent="0">
              <a:buNone/>
            </a:pPr>
            <a:r>
              <a:rPr lang="en-US" sz="860" dirty="0">
                <a:solidFill>
                  <a:srgbClr val="7488A8"/>
                </a:solidFill>
                <a:latin typeface="Calibri" pitchFamily="34" charset="0"/>
                <a:ea typeface="Calibri" pitchFamily="34" charset="-122"/>
                <a:cs typeface="Calibri" pitchFamily="34" charset="-120"/>
              </a:rPr>
              <a:t>Guardrail sourcing · in-house inline, escalate the uncertain slice</a:t>
            </a:r>
            <a:endParaRPr lang="en-US" sz="860" dirty="0"/>
          </a:p>
        </p:txBody>
      </p:sp>
      <p:sp>
        <p:nvSpPr>
          <p:cNvPr id="26" name="Text 23"/>
          <p:cNvSpPr/>
          <p:nvPr/>
        </p:nvSpPr>
        <p:spPr>
          <a:xfrm>
            <a:off x="10317175" y="6400800"/>
            <a:ext cx="1097280" cy="237744"/>
          </a:xfrm>
          <a:prstGeom prst="rect">
            <a:avLst/>
          </a:prstGeom>
          <a:noFill/>
          <a:ln/>
        </p:spPr>
        <p:txBody>
          <a:bodyPr wrap="square" lIns="0" tIns="0" rIns="0" bIns="0" rtlCol="0" anchor="ctr"/>
          <a:lstStyle/>
          <a:p>
            <a:pPr marL="0" indent="0" algn="r">
              <a:buNone/>
            </a:pPr>
            <a:r>
              <a:rPr lang="en-US" sz="950" b="1" dirty="0">
                <a:solidFill>
                  <a:srgbClr val="E0564F"/>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4586</Words>
  <Application>Microsoft Macintosh PowerPoint</Application>
  <PresentationFormat>Widescreen</PresentationFormat>
  <Paragraphs>246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Guardrail sourcing decision</dc:title>
  <dc:subject>PptxGenJS Presentation</dc:subject>
  <dc:creator>Reza Rahimi, PhD</dc:creator>
  <cp:lastModifiedBy>Reza Rahimi</cp:lastModifiedBy>
  <cp:revision>1</cp:revision>
  <dcterms:created xsi:type="dcterms:W3CDTF">2026-07-30T17:00:23Z</dcterms:created>
  <dcterms:modified xsi:type="dcterms:W3CDTF">2026-07-30T17:12:45Z</dcterms:modified>
</cp:coreProperties>
</file>