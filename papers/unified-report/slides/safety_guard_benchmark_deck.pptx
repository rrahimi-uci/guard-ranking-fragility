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preregistered confirmatory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Table 3 and Figure 8 of the</a:t>
            </a:r>
          </a:p>
          <a:p>
            <a:r>
              <a:t>report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If someone objects that transfer recall does rise (51.7% -&gt; 58.1%), that is the right</a:t>
            </a:r>
          </a:p>
          <a:p>
            <a:r>
              <a:t>question and the answer is on slide 7: the rise is bought with alarms. Equalize the</a:t>
            </a:r>
          </a:p>
          <a:p>
            <a:r>
              <a:t>alarm budget and it reverses to 21.7% on all four checkpoints. Do not concede the</a:t>
            </a:r>
          </a:p>
          <a:p>
            <a:r>
              <a:t>point as a caveat — it is measured, and it is Table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image; the rest of the talk says why each panel matters.</a:t>
            </a:r>
          </a:p>
          <a:p/>
          <a:p>
            <a:r>
              <a:t>Panel 2 is the honest one — those are point estimates and five of the six pairwise</a:t>
            </a:r>
          </a:p>
          <a:p>
            <a:r>
              <a:t>mortgage CI comparisons overlap. The claim is NOT "SmolLM3 is the best domain guard."</a:t>
            </a:r>
          </a:p>
          <a:p>
            <a:r>
              <a:t>The claim is that the identity of the winner depends on which benchmark you ask, which</a:t>
            </a:r>
          </a:p>
          <a:p>
            <a:r>
              <a:t>is a statement about the measuring instrument, not about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lower block of the chart is the fair comparison, and it is the one to spend time on.</a:t>
            </a:r>
          </a:p>
          <a:p>
            <a:r>
              <a:t>Recall measured at unequal false-alarm rates is not a comparison of discriminative power,</a:t>
            </a:r>
          </a:p>
          <a:p>
            <a:r>
              <a:t>so we rethreshold each SFT seed to its OWN base's pooled transfer false-alarm rate (the</a:t>
            </a:r>
          </a:p>
          <a:p>
            <a:r>
              <a:t>budget column of report Table 4) and re-read the same rows. The apparent gain does not</a:t>
            </a:r>
          </a:p>
          <a:p>
            <a:r>
              <a:t>merely shrink — it reverses, on all four checkpoints and on both instruments: transfer</a:t>
            </a:r>
          </a:p>
          <a:p>
            <a:r>
              <a:t>recall 0.517 -&gt; 0.217, HarmBench recall 0.780 -&gt; 0.203. At an equal budget the tuned</a:t>
            </a:r>
          </a:p>
          <a:p>
            <a:r>
              <a:t>guard catches LESS THAN HALF of what its own untuned base catches off-source.</a:t>
            </a:r>
          </a:p>
          <a:p/>
          <a:p>
            <a:r>
              <a:t>Two things to have ready. It needs no GPU and no pinned environment — matching false-alarm</a:t>
            </a:r>
          </a:p>
          <a:p>
            <a:r>
              <a:t>rates is ranking arithmetic on the same committed score_raw/gold columns — so it is</a:t>
            </a:r>
          </a:p>
          <a:p>
            <a:r>
              <a:t>regenerated and byte-checked by `make reproduce` like any other covered artifact. And the</a:t>
            </a:r>
          </a:p>
          <a:p>
            <a:r>
              <a:t>direction is stable across the three quantile conventions we tried (panel mean -0.300 to</a:t>
            </a:r>
          </a:p>
          <a:p>
            <a:r>
              <a:t>-0.290), so it is not an artifact of one tie-breaking rule.</a:t>
            </a:r>
          </a:p>
          <a:p/>
          <a:p>
            <a:r>
              <a:t>If asked why the paper reports both rows: Table 3 is what a practitioner who calibrated</a:t>
            </a:r>
          </a:p>
          <a:p>
            <a:r>
              <a:t>each guard separately would actually deploy, and Table 4 is what the comparison means.</a:t>
            </a:r>
          </a:p>
          <a:p>
            <a:r>
              <a:t>Earlier drafts called the matched version a "direction" that needed the pinned</a:t>
            </a:r>
          </a:p>
          <a:p>
            <a:r>
              <a:t>environment. That was wrong on both counts, and the measured result is stronger than the</a:t>
            </a:r>
          </a:p>
          <a:p>
            <a:r>
              <a:t>hedge it replaced.</a:t>
            </a:r>
          </a:p>
          <a:p/>
          <a:p>
            <a:r>
              <a:t>Note also that the HarmBench drop needs no threshold caveat at all: the tuned guard</a:t>
            </a:r>
          </a:p>
          <a:p>
            <a:r>
              <a:t>catches less while alarming more, so it is dominated — worse on both axes at once, not</a:t>
            </a:r>
          </a:p>
          <a:p>
            <a:r>
              <a:t>traded off.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  <a:p/>
          <a:p>
            <a:r>
              <a:t>One more thing this control accidentally bought us, and it bounds several numbers in this</a:t>
            </a:r>
          </a:p>
          <a:p>
            <a:r>
              <a:t>deck. Because β = 0 IS the Act I recipe — same manifest, same seeds, same scorer, only a</a:t>
            </a:r>
          </a:p>
          <a:p>
            <a:r>
              <a:t>different execution environment — this arm is effectively a REPEAT of Act I. It does not</a:t>
            </a:r>
          </a:p>
          <a:p>
            <a:r>
              <a:t>land on the same number: transfer macro-AP differs by 0.014 / 0.009 / 0.009 / 0.029, a</a:t>
            </a:r>
          </a:p>
          <a:p>
            <a:r>
              <a:t>mean of 0.015 and a worst case of 0.029. That is a noise floor the report now states.</a:t>
            </a:r>
          </a:p>
          <a:p>
            <a:r>
              <a:t>Effects at or below it should be read as unresolved — composition's +0.017 edge over the</a:t>
            </a:r>
          </a:p>
          <a:p>
            <a:r>
              <a:t>BASE, and KL β=1.0's +0.004 for SmolLM2. The big effects are safe: +0.32 represented, the</a:t>
            </a:r>
          </a:p>
          <a:p>
            <a:r>
              <a:t>-0.300 matched-budget collapse, composition's +0.076 over SFT. The bootstrap intervals</a:t>
            </a:r>
          </a:p>
          <a:p>
            <a:r>
              <a:t>resample rows and seeds; they do NOT capture this environment term, so they are narrower</a:t>
            </a:r>
          </a:p>
          <a:p>
            <a:r>
              <a:t>than a full reproduction would be. Volunteer this if someone asks how repeatable the</a:t>
            </a:r>
          </a:p>
          <a:p>
            <a:r>
              <a:t>pipeline is — it is a stronger answer than a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it.</a:t>
            </a:r>
          </a:p>
          <a:p/>
          <a:p>
            <a:r>
              <a:t>Two limits to state honestly if pressed. It is preregistered on the ANALYSIS, not blind</a:t>
            </a:r>
          </a:p>
          <a:p>
            <a:r>
              <a:t>on the DATA — it re-scores the same 3,308 rows as Acts I-II. And the registry declares</a:t>
            </a:r>
          </a:p>
          <a:p>
            <a:r>
              <a:t>itself dev_nonfinal, so it is not bound to a release lock. The uninspected-cohort half</a:t>
            </a:r>
          </a:p>
          <a:p>
            <a:r>
              <a:t>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  <a:p/>
          <a:p>
            <a:r>
              <a:t>Three terms on this slide, in plain words, in case the room is not a stats room. LCB is a</a:t>
            </a:r>
          </a:p>
          <a:p>
            <a:r>
              <a:t>one-sided interval end: "+0.174, LCB +0.129" means the estimate is +0.174 and it stayed</a:t>
            </a:r>
          </a:p>
          <a:p>
            <a:r>
              <a:t>above +0.129 in 97.5% of the redraws, so "LCB &gt; 0" demands that even the pessimistic end</a:t>
            </a:r>
          </a:p>
          <a:p>
            <a:r>
              <a:t>still be a gain. A NON-INFERIORITY MARGIN is how much you agreed IN ADVANCE to lose on one</a:t>
            </a:r>
          </a:p>
          <a:p>
            <a:r>
              <a:t>axis to win on another — here −0.02 — which is stricter than "did it get worse?", because</a:t>
            </a:r>
          </a:p>
          <a:p>
            <a:r>
              <a:t>a noisy result fails it rather than passing by default. A BONFERRONI SPLIT means two</a:t>
            </a:r>
          </a:p>
          <a:p>
            <a:r>
              <a:t>questions each get half the error budget (0.025 apiece), so asking two things cannot</a:t>
            </a:r>
          </a:p>
          <a:p>
            <a:r>
              <a:t>double your chance of a lucky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nominally the MOST invariant.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</a:t>
            </a:r>
          </a:p>
          <a:p/>
          <a:p>
            <a:r>
              <a:t>Be careful with the word "resolves" here; an earlier draft of this deck overclaimed it.</a:t>
            </a:r>
          </a:p>
          <a:p>
            <a:r>
              <a:t>The pairing is a real gain — an earlier draft called the top two "unresolved at this</a:t>
            </a:r>
          </a:p>
          <a:p>
            <a:r>
              <a:t>sample size," which was wrong, because that was an unrun analysis rather than a</a:t>
            </a:r>
          </a:p>
          <a:p>
            <a:r>
              <a:t>sample-size limit. But the paired result is thinner than it first looks: FOUR paired</a:t>
            </a:r>
          </a:p>
          <a:p>
            <a:r>
              <a:t>comparisons are reported (overall plus three verticals) with NO multiplicity adjustment,</a:t>
            </a:r>
          </a:p>
          <a:p>
            <a:r>
              <a:t>and the health interval clears zero by only +0.0026 at its lower end. Under a Bonferroni</a:t>
            </a:r>
          </a:p>
          <a:p>
            <a:r>
              <a:t>split across the three verticals it would not clear. So health is the one vertical where</a:t>
            </a:r>
          </a:p>
          <a:p>
            <a:r>
              <a:t>the data LEAN against a tie — worth a targeted replication, not a resolved ranking. If</a:t>
            </a:r>
          </a:p>
          <a:p>
            <a:r>
              <a:t>you are asked to rank SmolLM3 against Qwen3 on this evidence,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 And the frontier-API column</a:t>
            </a:r>
          </a:p>
          <a:p>
            <a:r>
              <a:t>is an order-of-magnitude sketch from public characteristics as of mid-2026; we did not</a:t>
            </a:r>
          </a:p>
          <a:p>
            <a:r>
              <a:t>benchmark a hosted API here.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532120"/>
            <a:ext cx="12191695" cy="132588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80">
                <a:solidFill>
                  <a:srgbClr val="A02128"/>
                </a:solidFill>
                <a:latin typeface="Arial"/>
              </a:rPr>
              <a:t>JAZZX AI   ·   RESEARCH REPORT   ·   JULY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64208"/>
            <a:ext cx="1371600" cy="40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956816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12263A"/>
                </a:solidFill>
                <a:latin typeface="Georgia"/>
              </a:rPr>
              <a:t>The Safety-Guard Benchmark
Chooses the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52958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A6B7C"/>
                </a:solidFill>
                <a:latin typeface="Arial"/>
              </a:rPr>
              <a:t>Measuring, tuning, and composing small safety guards
in high-compliance regulated domains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paired, same-manifest panel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5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19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frozen HMDA-grounded mortgage benchmark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18702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6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expert-annotated external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833872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Reza Rahimi, PhD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8DEE4"/>
                </a:solidFill>
                <a:latin typeface="Arial"/>
              </a:rPr>
              <a:t>JazzX AI, Los Altos, CA   ·   reza.rahimi@jazzx.ai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2767" y="596188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github.com/rrahimi-uci/safety-guard-dynamics</a:t>
            </a:r>
          </a:p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8DEE4"/>
                </a:solidFill>
                <a:latin typeface="Arial"/>
              </a:rPr>
              <a:t>make reproduce (covered tables)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guard's benchmark score is not a property of the 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Three things a rising benchmark number does not show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644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A coded fair-lending violation ranked below every benign mortgage inquiry in the split — zero-shot, before any tuning at 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68496"/>
            <a:ext cx="11057839" cy="93268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968496"/>
            <a:ext cx="50292" cy="93268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2263A"/>
                </a:solidFill>
                <a:latin typeface="Arial"/>
              </a:rPr>
              <a:t>Three questions on one fixed panel:   </a:t>
            </a:r>
            <a:r>
              <a:rPr sz="1150" b="1" i="0">
                <a:solidFill>
                  <a:srgbClr val="2563EB"/>
                </a:solidFill>
                <a:latin typeface="Arial"/>
              </a:rPr>
              <a:t>Does fine-tuning transfer?</a:t>
            </a:r>
            <a:r>
              <a:rPr sz="1150" b="0" i="0">
                <a:solidFill>
                  <a:srgbClr val="D8DEE4"/>
                </a:solidFill>
                <a:latin typeface="Arial"/>
              </a:rPr>
              <a:t>   ·   </a:t>
            </a:r>
            <a:r>
              <a:rPr sz="1150" b="1" i="0">
                <a:solidFill>
                  <a:srgbClr val="15803D"/>
                </a:solidFill>
                <a:latin typeface="Arial"/>
              </a:rPr>
              <a:t>Can we recover it without retraining?</a:t>
            </a:r>
            <a:r>
              <a:rPr sz="1150" b="0" i="0">
                <a:solidFill>
                  <a:srgbClr val="D8DEE4"/>
                </a:solidFill>
                <a:latin typeface="Arial"/>
              </a:rPr>
              <a:t>   ·   </a:t>
            </a:r>
            <a:r>
              <a:rPr sz="1150" b="1" i="0">
                <a:solidFill>
                  <a:srgbClr val="B7791F"/>
                </a:solidFill>
                <a:latin typeface="Arial"/>
              </a:rPr>
              <a:t>Does one score cover a regulated domain?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ONE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Three acts, one thesis: the benchmark co-produces the verdict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00" y="1591056"/>
            <a:ext cx="10027294" cy="321868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4956048"/>
            <a:ext cx="30480" cy="8412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2563EB"/>
                </a:solidFill>
                <a:latin typeface="Arial"/>
              </a:rPr>
              <a:t>Act 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Fine-tuning specializes: +0.32 represented, −0.06 transfer, pooling per-checkpoint effects from +0.04 to −0.15.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4956048"/>
            <a:ext cx="30480" cy="84124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7791F"/>
                </a:solidFill>
                <a:latin typeface="Arial"/>
              </a:rPr>
              <a:t>Act II /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The same four bases rank differently on every arm — the top-ranked mortgage guard is not the top-ranked finance/health/law guard.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4956048"/>
            <a:ext cx="30480" cy="84124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15803D"/>
                </a:solidFill>
                <a:latin typeface="Arial"/>
              </a:rPr>
              <a:t>Act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Coded as a proxy, the fair-lending violation ranks below the benign median for all four; named outright, three of four rank it above nearly all — two different rows, not a controlled pair.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9070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A97A5"/>
                </a:solidFill>
                <a:latin typeface="Arial"/>
              </a:rPr>
              <a:t>Point estimates with overlapping domain-arm CIs: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HOW WE 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Compare each guard to its own base — never to another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1051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Frozen 1,200-row manifest   ·   4 base checkpoints   ·   5 seeds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798064" y="232257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63347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EFF4FE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563EB"/>
                </a:solidFill>
                <a:latin typeface="Arial"/>
              </a:rPr>
              <a:t>LoRA-SFT  (one frozen recipe, identical row order)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798064" y="314553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45643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Identical single-token scorer:  s(x) = z_unsafe − z_safe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798064" y="396849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27939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Score on represented sources  +  held-out transfer sources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798064" y="479145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510235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AF0F0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Δ  =  guard  −  its OWN base,  on the same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0136" y="1773936"/>
            <a:ext cx="596463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Single-token logit-difference head.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Macro average precision.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Two regimes, kept apart.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Paired hierarchical bootstrap.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0136" y="4974336"/>
            <a:ext cx="5964631" cy="1170432"/>
          </a:xfrm>
          <a:prstGeom prst="roundRect">
            <a:avLst>
              <a:gd name="adj" fmla="val 3000"/>
            </a:avLst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2563EB"/>
                </a:solidFill>
                <a:latin typeface="Arial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0136" y="4974336"/>
            <a:ext cx="50292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WHAT FINE-TUNING ACTUALLY BUYS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large represented gain that does not transfer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968"/>
            <a:ext cx="5989320" cy="3803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76288" y="1664208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563EB"/>
                </a:solidFill>
                <a:latin typeface="Georg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5A6B7C"/>
                </a:solidFill>
                <a:latin typeface="Arial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A580C"/>
                </a:solidFill>
                <a:latin typeface="Georg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B7C"/>
                </a:solidFill>
                <a:latin typeface="Arial"/>
              </a:rPr>
              <a:t>held-out transfer macro-AP   [−0.0837, −0.0321]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76288" y="3346704"/>
            <a:ext cx="4748479" cy="1188720"/>
          </a:xfrm>
          <a:prstGeom prst="roundRect">
            <a:avLst>
              <a:gd name="adj" fmla="val 3000"/>
            </a:avLst>
          </a:prstGeom>
          <a:solidFill>
            <a:srgbClr val="FE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EA580C"/>
                </a:solidFill>
                <a:latin typeface="Arial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It pools effects that point in opposite directions: +0.0400 for SmolLM2-1.7B against −0.1499 for Qwen3-4B. Read the per-checkpoint column, not the bottom row.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6288" y="3346704"/>
            <a:ext cx="50292" cy="1188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4700016"/>
            <a:ext cx="47484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Everyone reaches the same ceiling.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Losses are concentrated.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HOW GENERAL IS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15 of 20 guards land in the specialize quadrant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344"/>
            <a:ext cx="5599551" cy="4041648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56832" y="1682496"/>
          <a:ext cx="4967933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80330"/>
                <a:gridCol w="2483967"/>
                <a:gridCol w="803636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580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56832" y="3182112"/>
            <a:ext cx="496793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SFT never simply degrades the guard.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5 uniform gains are the weak bases.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Four SmolLM2 seeds plus one Qwen2.5 seed — the two checkpoints with the least transfer skill to lose.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Stable within checkpoint.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Every Qwen3-4B seed is a substantial transfer loss; every SmolLM2 seed a represented gain.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56832" y="4992624"/>
            <a:ext cx="4967935" cy="786384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Specialization is the dominant outcome on this panel — but it is not universal, and the exceptions are predictable from base strength.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4992624"/>
            <a:ext cx="50292" cy="786384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WHAT IT COSTS IN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Ranking is threshold-free. Deployment is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Upper: each guard at its own 5%-FPR calibrated threshold.  Lower: the same rows re-read at an equal false-alarm budget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9203"/>
            <a:ext cx="7360920" cy="380706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93024" y="1719072"/>
            <a:ext cx="3431743" cy="148132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3024" y="1719072"/>
            <a:ext cx="50292" cy="148132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4" y="3401568"/>
            <a:ext cx="343174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At an equal alarm budget, the gain reverses.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The +6.4 pt rise is realized at 15.5% macro-FPR against the base's 8.1%. Match the budget and transfer recall goes 51.7% → 21.7%, HarmBench 78.0% → 20.3% — worse on all four.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Off-distribution is not the explanation.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threshold did not transfer.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The cutoff that looked safe in calibration is not the cutoff you get in the field.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THE DEPLOYMENT BASE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The prevalence you serve also chooses the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Every AP so far is measured on a balanced pool. Real inbound traffic is overwhelmingly benign.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784"/>
            <a:ext cx="6328889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187184" y="1719072"/>
            <a:ext cx="4437583" cy="78638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263A"/>
                </a:solidFill>
                <a:latin typeface="Georg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8A97A5"/>
                </a:solidFill>
                <a:latin typeface="Arial"/>
              </a:rPr>
              <a:t>exact in the guard's own ROC — no new model runs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187184" y="2688336"/>
          <a:ext cx="4437581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1821"/>
                <a:gridCol w="1267880"/>
                <a:gridCol w="1267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187184" y="4315968"/>
            <a:ext cx="44375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lower two swap.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Qwen2.5 leads SmolLM2 at balance and trails it once positives are rare.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87184" y="4974336"/>
            <a:ext cx="4437583" cy="1005840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B7791F"/>
                </a:solidFill>
                <a:latin typeface="Arial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87184" y="4974336"/>
            <a:ext cx="50292" cy="100584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THE MITIGATION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Anti-forgetting KL is a tradeoff dial, not a free upgrade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One line added to the loss:  L = CE(verdict) + β · KL( π_θ ‖ π_base ),  evaluated on the completion tokens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35" y="1700784"/>
            <a:ext cx="6896425" cy="29626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4791456"/>
            <a:ext cx="5391759" cy="1060704"/>
          </a:xfrm>
          <a:prstGeom prst="roundRect">
            <a:avLst>
              <a:gd name="adj" fmla="val 3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15803D"/>
                </a:solidFill>
                <a:latin typeface="Arial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At β=0.5, transfer macro-AP rises +0.061 on average versus plain SFT — no second model in memory, no base retraining, no extra inference pass.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91456"/>
            <a:ext cx="50292" cy="106070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4791456"/>
            <a:ext cx="5391759" cy="1060704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Represented macro-AP falls −0.035 here. In the preregistered ten-checkpoint study the same trade costs −0.036, whose lower bound (−0.060) fails the −0.02 non-inferiority margin: RQ2 NOT SUPPORTED.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4791456"/>
            <a:ext cx="50292" cy="1060704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PREREGISTERED  ·  10 CHECKPOINTS, 6 MODEL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Released, purpose-built guards specialize too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Estimands, decision rules, non-inferiority margin and interpretation wording were committed to a claim registry before any score existed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784"/>
            <a:ext cx="6362748" cy="37490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82128" y="1737360"/>
            <a:ext cx="3742639" cy="1188720"/>
          </a:xfrm>
          <a:prstGeom prst="roundRect">
            <a:avLst>
              <a:gd name="adj" fmla="val 4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15803D"/>
                </a:solidFill>
                <a:latin typeface="Arial"/>
              </a:rPr>
              <a:t>RQ1  · 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SFT raises represented macro-AP +0.174 (LCB +0.129) and the gain is concentrated relative to held-out (+0.239, LCB +0.189). Both preregistered criteria met.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8" y="1737360"/>
            <a:ext cx="50292" cy="1188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82128" y="3054096"/>
            <a:ext cx="3742639" cy="1188720"/>
          </a:xfrm>
          <a:prstGeom prst="roundRect">
            <a:avLst>
              <a:gd name="adj" fmla="val 4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A02128"/>
                </a:solidFill>
                <a:latin typeface="Arial"/>
              </a:rPr>
              <a:t>RQ2  ·  NOT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KL-SFT does preserve transfer (+0.049, LCB +0.035) — but its represented cost (−0.036, LCB −0.060) misses the −0.02 margin. A genuine trade, not a free lunch.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8" y="3054096"/>
            <a:ext cx="50292" cy="118872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8" y="4407408"/>
            <a:ext cx="374263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Not a general-model artifact.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One null cell, reported as such.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Llama-Guard-3-1B's pruned, embedding-tied head leaves its margins unmoved by LoRA. Uninformative, not robust.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  ·  REPAIR WITHOUT RETRAINING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Put the base back in the room at decision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62822"/>
            <a:ext cx="6172200" cy="36432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40880" y="1627632"/>
            <a:ext cx="4583887" cy="841248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263A"/>
                </a:solidFill>
                <a:latin typeface="Georg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8A97A5"/>
                </a:solidFill>
                <a:latin typeface="Arial"/>
              </a:rPr>
              <a:t>equal weights fixed in advance · per-model calibrators fit on a dev split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651760"/>
            <a:ext cx="458388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+0.076 transfer vs the SFT guard.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−0.019 represented.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Best worst-regime scorer.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min(represented, transfer) = 0.883, beating the base's 0.658 and SFT's 0.807.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46320"/>
            <a:ext cx="4583887" cy="932688"/>
          </a:xfrm>
          <a:prstGeom prst="roundRect">
            <a:avLst>
              <a:gd name="adj" fmla="val 3000"/>
            </a:avLst>
          </a:prstGeom>
          <a:solidFill>
            <a:srgbClr val="FE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EA580C"/>
                </a:solidFill>
                <a:latin typeface="Arial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Against the untuned base the four deltas are heterogeneous: +0.067, +0.036, −0.003, −0.030. For the strongest base you'd have been better off never tuning.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4846320"/>
            <a:ext cx="50292" cy="93268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  ·  THE EQUAL-COST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It is the base that helps — not a second scorer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31631"/>
            <a:ext cx="5806440" cy="35776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93408" y="1609344"/>
            <a:ext cx="49313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00" b="1" i="0">
                <a:solidFill>
                  <a:srgbClr val="12263A"/>
                </a:solidFill>
                <a:latin typeface="Arial"/>
              </a:rPr>
              <a:t>A falsifiable prediction.</a:t>
            </a:r>
            <a:r>
              <a:rPr sz="1200" b="0" i="0">
                <a:solidFill>
                  <a:srgbClr val="5A6B7C"/>
                </a:solidFill>
                <a:latin typeface="Arial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00" b="1" i="0">
                <a:solidFill>
                  <a:srgbClr val="12263A"/>
                </a:solidFill>
                <a:latin typeface="Arial"/>
              </a:rPr>
              <a:t>It does not.</a:t>
            </a:r>
            <a:r>
              <a:rPr sz="1200" b="0" i="0">
                <a:solidFill>
                  <a:srgbClr val="5A6B7C"/>
                </a:solidFill>
                <a:latin typeface="Arial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93408" y="3218688"/>
            <a:ext cx="4931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AND RANKING IS NOT CALIBRATION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93408" y="3529584"/>
          <a:ext cx="493135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3786"/>
                <a:gridCol w="1095857"/>
                <a:gridCol w="1095857"/>
                <a:gridCol w="109585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5803D"/>
                          </a:solidFill>
                          <a:latin typeface="Arial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693408" y="4956048"/>
            <a:ext cx="4931359" cy="859536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B7791F"/>
                </a:solidFill>
                <a:latin typeface="Arial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93408" y="4956048"/>
            <a:ext cx="50292" cy="859536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REGULATED DOMAINS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General safety  ≠  domain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A frozen, HMDA-grounded mortgage benchmark: 994 rows, each carrying two separately assigned labels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08176" y="1847088"/>
            <a:ext cx="1435608" cy="1435608"/>
          </a:xfrm>
          <a:prstGeom prst="rect">
            <a:avLst/>
          </a:prstGeom>
          <a:solidFill>
            <a:srgbClr val="EEF6F0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15803D"/>
                </a:solidFill>
                <a:latin typeface="Arial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benign — must not flag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9504" y="1847088"/>
            <a:ext cx="1435608" cy="143560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A97A5"/>
                </a:solidFill>
                <a:latin typeface="Arial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general harm only — empty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8176" y="3328416"/>
            <a:ext cx="1435608" cy="1435608"/>
          </a:xfrm>
          <a:prstGeom prst="rect">
            <a:avLst/>
          </a:prstGeom>
          <a:solidFill>
            <a:srgbClr val="FAECEC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A02128"/>
                </a:solidFill>
                <a:latin typeface="Arial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reads safe, is a violation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04" y="3328416"/>
            <a:ext cx="1435608" cy="1435608"/>
          </a:xfrm>
          <a:prstGeom prst="rect">
            <a:avLst/>
          </a:prstGeom>
          <a:solidFill>
            <a:srgbClr val="FEF3EC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EA580C"/>
                </a:solidFill>
                <a:latin typeface="Arial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bad on both 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470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B7C"/>
                </a:solidFill>
                <a:latin typeface="Arial"/>
              </a:rPr>
              <a:t>D = 0
allow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328416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B7C"/>
                </a:solidFill>
                <a:latin typeface="Arial"/>
              </a:rPr>
              <a:t>D = 1
intervene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4828032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6B7C"/>
                </a:solidFill>
                <a:latin typeface="Arial"/>
              </a:rPr>
              <a:t>G = 0   looks safe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4828032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6B7C"/>
                </a:solidFill>
                <a:latin typeface="Arial"/>
              </a:rPr>
              <a:t>G = 1   generally unsafe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792224"/>
            <a:ext cx="6869887" cy="1188720"/>
          </a:xfrm>
          <a:prstGeom prst="roundRect">
            <a:avLst>
              <a:gd name="adj" fmla="val 4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12263A"/>
                </a:solidFill>
                <a:latin typeface="Arial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792224"/>
            <a:ext cx="50292" cy="118872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182112"/>
            <a:ext cx="68698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G0/D1 is the payload.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Two labels, not one merged verdict.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Nested, not crossed, in v1.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G1/D0 came out empty — a stated limitation, so orthogonality is shown on three quadrants, not four.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5065776"/>
            <a:ext cx="6869887" cy="804672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5065776"/>
            <a:ext cx="50292" cy="804672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ONE ROW,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polite request that no general-safety guard has a label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Row MGB-UD-00020 of the frozen public-test split  ·  gold G = safe,  D = intervene,  difficulty hard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737360"/>
            <a:ext cx="11057839" cy="1335024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12263A"/>
                </a:solidFill>
                <a:latin typeface="Arial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737360"/>
            <a:ext cx="50292" cy="133502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21868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The violation is entirely in the framing: </a:t>
            </a:r>
            <a:r>
              <a:rPr sz="1200" b="0" i="0">
                <a:solidFill>
                  <a:srgbClr val="5A6B7C"/>
                </a:solidFill>
                <a:latin typeface="Arial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66928" y="3639312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229600" y="3639312"/>
            <a:ext cx="3395167" cy="129844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639312"/>
            <a:ext cx="50292" cy="129844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5065776"/>
            <a:ext cx="33951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Ranks carry the claim, not values.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TWO RESULTS WE DID NOT WANT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We built a fairness gate. It does not survive its own audit.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09344"/>
            <a:ext cx="53643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PROTECTED-PAIR GATE</a:t>
            </a:r>
          </a:p>
        </p:txBody>
      </p:sp>
      <p:pic>
        <p:nvPicPr>
          <p:cNvPr id="9" name="Picture 8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119" y="1920240"/>
            <a:ext cx="4515944" cy="26151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4645152"/>
            <a:ext cx="5364327" cy="1316736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645152"/>
            <a:ext cx="50292" cy="1316736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0439" y="1609344"/>
            <a:ext cx="53643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EXTERNAL VALIDATION  ·  EXPGUARD</a:t>
            </a:r>
          </a:p>
        </p:txBody>
      </p:sp>
      <p:pic>
        <p:nvPicPr>
          <p:cNvPr id="13" name="Picture 12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0387" y="1920240"/>
            <a:ext cx="4164432" cy="261518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0439" y="4645152"/>
            <a:ext cx="5364327" cy="1316736"/>
          </a:xfrm>
          <a:prstGeom prst="roundRect">
            <a:avLst>
              <a:gd name="adj" fmla="val 3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15803D"/>
                </a:solidFill>
                <a:latin typeface="Arial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2,275 expert-annotated rows across finance / health / law. Ranking is not monotone in model size. The paired test leans against a tie on health (+0.017) — but four unadjusted comparisons, clearing zero by +0.0026: a direction, not a resolved ranking. Finance and law: 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0439" y="4645152"/>
            <a:ext cx="50292" cy="131673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WHY SELF-HOST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One forward pass, inside your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An inline guard runs on every request, so its own latency and cost sit on the critical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94779"/>
            <a:ext cx="6035040" cy="359762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94576" y="1737360"/>
          <a:ext cx="473019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10475"/>
                <a:gridCol w="1647454"/>
                <a:gridCol w="177226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network round-trip, 10²–10³ ms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per-token fee on every request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94576" y="4517136"/>
            <a:ext cx="473019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Latency tracks model size, not decode budget.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94576" y="5285232"/>
            <a:ext cx="4730191" cy="731520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2263A"/>
                </a:solidFill>
                <a:latin typeface="Arial"/>
              </a:rPr>
              <a:t>Batched per-row times at batch 16 on one A100 — throughput-latency, not a batch-1 SLA. The right-hand column is an illustrative sketch, not our measurement.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94576" y="5285232"/>
            <a:ext cx="50292" cy="731520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Gate candidates, not leaderboards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base · SFT · KL-SFT · composition — with checkpoint, prompt, calibrator, threshold rule, owner</a:t>
            </a:r>
          </a:p>
        </p:txBody>
      </p:sp>
      <p:sp>
        <p:nvSpPr>
          <p:cNvPr id="9" name="Down Arrow 8"/>
          <p:cNvSpPr/>
          <p:nvPr/>
        </p:nvSpPr>
        <p:spPr>
          <a:xfrm>
            <a:off x="2729484" y="2286000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separately, on target-regime calibration data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729484" y="3163824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paired rows, one shot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729484" y="4041648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EFF4FE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EEF6F0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803D"/>
                </a:solidFill>
                <a:latin typeface="Arial"/>
              </a:rPr>
              <a:t>all pass  →  shadow, canary,
monitor, rollback-ready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864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FAF0F0"/>
          </a:solidFill>
          <a:ln w="12700">
            <a:solidFill>
              <a:srgbClr val="A021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2128"/>
                </a:solidFill>
                <a:latin typeface="Arial"/>
              </a:rPr>
              <a:t>any gate missing  →  NO SHIP
(a missing gate is a failure)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4688" y="1627632"/>
            <a:ext cx="612007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Never rank guards on a single leaderboard.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Always compare a tune to its own base — at a matched false-alarm rate.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A delta against other models hides the transfer cost; a recall compared at unequal alarm rates hides its 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Treat KL-β as a dial, not a default.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It buys transfer at a real represented cost that failed our preregistered margin.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Compose to repair, not to upgrade.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Rank recovery is never threshold reuse.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In a regulated domain, build the instrument.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A dual-labeled domain set plus an invariance check — and audit the gate as hard as the guards.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4688" y="4864608"/>
            <a:ext cx="6120079" cy="1042415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04688" y="4864608"/>
            <a:ext cx="50292" cy="1042415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